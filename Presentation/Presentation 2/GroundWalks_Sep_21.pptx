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69" r:id="rId3"/>
    <p:sldId id="270" r:id="rId4"/>
    <p:sldId id="271" r:id="rId5"/>
    <p:sldId id="257" r:id="rId6"/>
    <p:sldId id="272" r:id="rId7"/>
    <p:sldId id="258" r:id="rId8"/>
    <p:sldId id="259" r:id="rId9"/>
    <p:sldId id="260" r:id="rId10"/>
    <p:sldId id="261" r:id="rId11"/>
    <p:sldId id="262" r:id="rId12"/>
    <p:sldId id="263" r:id="rId13"/>
    <p:sldId id="264" r:id="rId14"/>
    <p:sldId id="273" r:id="rId15"/>
    <p:sldId id="265" r:id="rId16"/>
    <p:sldId id="266" r:id="rId17"/>
    <p:sldId id="267" r:id="rId18"/>
    <p:sldId id="268"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5EFC0BA-22C4-E6F8-A420-0C677F010D4A}" v="26" dt="2026-09-21T14:45:31.83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muel Greeman" userId="S::greeman.s@northeastern.edu::bd71b1c0-0250-45be-8c50-003b1e93a55c" providerId="AD" clId="Web-{85EFC0BA-22C4-E6F8-A420-0C677F010D4A}"/>
    <pc:docChg chg="modSld">
      <pc:chgData name="Samuel Greeman" userId="S::greeman.s@northeastern.edu::bd71b1c0-0250-45be-8c50-003b1e93a55c" providerId="AD" clId="Web-{85EFC0BA-22C4-E6F8-A420-0C677F010D4A}" dt="2026-09-21T14:45:31.830" v="18" actId="20577"/>
      <pc:docMkLst>
        <pc:docMk/>
      </pc:docMkLst>
      <pc:sldChg chg="modSp">
        <pc:chgData name="Samuel Greeman" userId="S::greeman.s@northeastern.edu::bd71b1c0-0250-45be-8c50-003b1e93a55c" providerId="AD" clId="Web-{85EFC0BA-22C4-E6F8-A420-0C677F010D4A}" dt="2026-09-21T14:45:15.736" v="10" actId="20577"/>
        <pc:sldMkLst>
          <pc:docMk/>
          <pc:sldMk cId="0" sldId="264"/>
        </pc:sldMkLst>
        <pc:spChg chg="mod">
          <ac:chgData name="Samuel Greeman" userId="S::greeman.s@northeastern.edu::bd71b1c0-0250-45be-8c50-003b1e93a55c" providerId="AD" clId="Web-{85EFC0BA-22C4-E6F8-A420-0C677F010D4A}" dt="2026-09-21T14:45:15.736" v="10" actId="20577"/>
          <ac:spMkLst>
            <pc:docMk/>
            <pc:sldMk cId="0" sldId="264"/>
            <ac:spMk id="26" creationId="{00000000-0000-0000-0000-000000000000}"/>
          </ac:spMkLst>
        </pc:spChg>
      </pc:sldChg>
      <pc:sldChg chg="modSp">
        <pc:chgData name="Samuel Greeman" userId="S::greeman.s@northeastern.edu::bd71b1c0-0250-45be-8c50-003b1e93a55c" providerId="AD" clId="Web-{85EFC0BA-22C4-E6F8-A420-0C677F010D4A}" dt="2026-09-21T14:45:31.830" v="18" actId="20577"/>
        <pc:sldMkLst>
          <pc:docMk/>
          <pc:sldMk cId="0" sldId="273"/>
        </pc:sldMkLst>
        <pc:spChg chg="mod">
          <ac:chgData name="Samuel Greeman" userId="S::greeman.s@northeastern.edu::bd71b1c0-0250-45be-8c50-003b1e93a55c" providerId="AD" clId="Web-{85EFC0BA-22C4-E6F8-A420-0C677F010D4A}" dt="2026-09-21T14:45:31.830" v="18" actId="20577"/>
          <ac:spMkLst>
            <pc:docMk/>
            <pc:sldMk cId="0" sldId="273"/>
            <ac:spMk id="26"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Grass</c:v>
                </c:pt>
              </c:strCache>
            </c:strRef>
          </c:tx>
          <c:spPr>
            <a:solidFill>
              <a:srgbClr val="4CAF50"/>
            </a:solidFill>
            <a:effectLst/>
          </c:spPr>
          <c:invertIfNegative val="0"/>
          <c:cat>
            <c:strRef>
              <c:f>Sheet1!$A$2:$A$5</c:f>
              <c:strCache>
                <c:ptCount val="4"/>
                <c:pt idx="0">
                  <c:v>Kristian</c:v>
                </c:pt>
                <c:pt idx="1">
                  <c:v>Sam</c:v>
                </c:pt>
                <c:pt idx="2">
                  <c:v>Catherine</c:v>
                </c:pt>
                <c:pt idx="3">
                  <c:v>Samantha</c:v>
                </c:pt>
              </c:strCache>
            </c:strRef>
          </c:cat>
          <c:val>
            <c:numRef>
              <c:f>Sheet1!$B$2:$B$5</c:f>
              <c:numCache>
                <c:formatCode>General</c:formatCode>
                <c:ptCount val="4"/>
                <c:pt idx="0">
                  <c:v>1760</c:v>
                </c:pt>
                <c:pt idx="1">
                  <c:v>1642</c:v>
                </c:pt>
                <c:pt idx="2">
                  <c:v>187</c:v>
                </c:pt>
                <c:pt idx="3">
                  <c:v>32</c:v>
                </c:pt>
              </c:numCache>
            </c:numRef>
          </c:val>
          <c:extLst>
            <c:ext xmlns:c16="http://schemas.microsoft.com/office/drawing/2014/chart" uri="{C3380CC4-5D6E-409C-BE32-E72D297353CC}">
              <c16:uniqueId val="{00000000-76D9-4DBA-B3DC-B55E8B3B3F4E}"/>
            </c:ext>
          </c:extLst>
        </c:ser>
        <c:ser>
          <c:idx val="1"/>
          <c:order val="1"/>
          <c:tx>
            <c:strRef>
              <c:f>Sheet1!$C$1</c:f>
              <c:strCache>
                <c:ptCount val="1"/>
                <c:pt idx="0">
                  <c:v>Loose</c:v>
                </c:pt>
              </c:strCache>
            </c:strRef>
          </c:tx>
          <c:spPr>
            <a:solidFill>
              <a:srgbClr val="8D6E63"/>
            </a:solidFill>
            <a:effectLst/>
          </c:spPr>
          <c:invertIfNegative val="0"/>
          <c:cat>
            <c:strRef>
              <c:f>Sheet1!$A$2:$A$5</c:f>
              <c:strCache>
                <c:ptCount val="4"/>
                <c:pt idx="0">
                  <c:v>Kristian</c:v>
                </c:pt>
                <c:pt idx="1">
                  <c:v>Sam</c:v>
                </c:pt>
                <c:pt idx="2">
                  <c:v>Catherine</c:v>
                </c:pt>
                <c:pt idx="3">
                  <c:v>Samantha</c:v>
                </c:pt>
              </c:strCache>
            </c:strRef>
          </c:cat>
          <c:val>
            <c:numRef>
              <c:f>Sheet1!$C$2:$C$5</c:f>
              <c:numCache>
                <c:formatCode>General</c:formatCode>
                <c:ptCount val="4"/>
                <c:pt idx="0">
                  <c:v>892</c:v>
                </c:pt>
                <c:pt idx="1">
                  <c:v>1053</c:v>
                </c:pt>
                <c:pt idx="2">
                  <c:v>57</c:v>
                </c:pt>
                <c:pt idx="3">
                  <c:v>0</c:v>
                </c:pt>
              </c:numCache>
            </c:numRef>
          </c:val>
          <c:extLst>
            <c:ext xmlns:c16="http://schemas.microsoft.com/office/drawing/2014/chart" uri="{C3380CC4-5D6E-409C-BE32-E72D297353CC}">
              <c16:uniqueId val="{00000001-76D9-4DBA-B3DC-B55E8B3B3F4E}"/>
            </c:ext>
          </c:extLst>
        </c:ser>
        <c:ser>
          <c:idx val="2"/>
          <c:order val="2"/>
          <c:tx>
            <c:strRef>
              <c:f>Sheet1!$D$1</c:f>
              <c:strCache>
                <c:ptCount val="1"/>
                <c:pt idx="0">
                  <c:v>Continuous Paved</c:v>
                </c:pt>
              </c:strCache>
            </c:strRef>
          </c:tx>
          <c:spPr>
            <a:solidFill>
              <a:srgbClr val="607D8B"/>
            </a:solidFill>
            <a:effectLst/>
          </c:spPr>
          <c:invertIfNegative val="0"/>
          <c:cat>
            <c:strRef>
              <c:f>Sheet1!$A$2:$A$5</c:f>
              <c:strCache>
                <c:ptCount val="4"/>
                <c:pt idx="0">
                  <c:v>Kristian</c:v>
                </c:pt>
                <c:pt idx="1">
                  <c:v>Sam</c:v>
                </c:pt>
                <c:pt idx="2">
                  <c:v>Catherine</c:v>
                </c:pt>
                <c:pt idx="3">
                  <c:v>Samantha</c:v>
                </c:pt>
              </c:strCache>
            </c:strRef>
          </c:cat>
          <c:val>
            <c:numRef>
              <c:f>Sheet1!$D$2:$D$5</c:f>
              <c:numCache>
                <c:formatCode>General</c:formatCode>
                <c:ptCount val="4"/>
                <c:pt idx="0">
                  <c:v>3249</c:v>
                </c:pt>
                <c:pt idx="1">
                  <c:v>4390</c:v>
                </c:pt>
                <c:pt idx="2">
                  <c:v>854</c:v>
                </c:pt>
                <c:pt idx="3">
                  <c:v>477</c:v>
                </c:pt>
              </c:numCache>
            </c:numRef>
          </c:val>
          <c:extLst>
            <c:ext xmlns:c16="http://schemas.microsoft.com/office/drawing/2014/chart" uri="{C3380CC4-5D6E-409C-BE32-E72D297353CC}">
              <c16:uniqueId val="{00000002-76D9-4DBA-B3DC-B55E8B3B3F4E}"/>
            </c:ext>
          </c:extLst>
        </c:ser>
        <c:ser>
          <c:idx val="3"/>
          <c:order val="3"/>
          <c:tx>
            <c:strRef>
              <c:f>Sheet1!$E$1</c:f>
              <c:strCache>
                <c:ptCount val="1"/>
                <c:pt idx="0">
                  <c:v>Modular Paved</c:v>
                </c:pt>
              </c:strCache>
            </c:strRef>
          </c:tx>
          <c:spPr>
            <a:solidFill>
              <a:srgbClr val="B0468E"/>
            </a:solidFill>
            <a:effectLst/>
          </c:spPr>
          <c:invertIfNegative val="0"/>
          <c:cat>
            <c:strRef>
              <c:f>Sheet1!$A$2:$A$5</c:f>
              <c:strCache>
                <c:ptCount val="4"/>
                <c:pt idx="0">
                  <c:v>Kristian</c:v>
                </c:pt>
                <c:pt idx="1">
                  <c:v>Sam</c:v>
                </c:pt>
                <c:pt idx="2">
                  <c:v>Catherine</c:v>
                </c:pt>
                <c:pt idx="3">
                  <c:v>Samantha</c:v>
                </c:pt>
              </c:strCache>
            </c:strRef>
          </c:cat>
          <c:val>
            <c:numRef>
              <c:f>Sheet1!$E$2:$E$5</c:f>
              <c:numCache>
                <c:formatCode>General</c:formatCode>
                <c:ptCount val="4"/>
                <c:pt idx="0">
                  <c:v>0</c:v>
                </c:pt>
                <c:pt idx="1">
                  <c:v>362</c:v>
                </c:pt>
                <c:pt idx="2">
                  <c:v>0</c:v>
                </c:pt>
                <c:pt idx="3">
                  <c:v>0</c:v>
                </c:pt>
              </c:numCache>
            </c:numRef>
          </c:val>
          <c:extLst>
            <c:ext xmlns:c16="http://schemas.microsoft.com/office/drawing/2014/chart" uri="{C3380CC4-5D6E-409C-BE32-E72D297353CC}">
              <c16:uniqueId val="{00000003-76D9-4DBA-B3DC-B55E8B3B3F4E}"/>
            </c:ext>
          </c:extLst>
        </c:ser>
        <c:dLbls>
          <c:showLegendKey val="0"/>
          <c:showVal val="0"/>
          <c:showCatName val="0"/>
          <c:showSerName val="0"/>
          <c:showPercent val="0"/>
          <c:showBubbleSize val="0"/>
        </c:dLbls>
        <c:gapWidth val="50"/>
        <c:overlap val="-2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A9B4B1"/>
            </a:solidFill>
            <a:prstDash val="solid"/>
            <a:round/>
          </a:ln>
        </c:spPr>
        <c:txPr>
          <a:bodyPr/>
          <a:lstStyle/>
          <a:p>
            <a:pPr>
              <a:defRPr sz="1200" b="0" i="0" u="none" strike="noStrike">
                <a:solidFill>
                  <a:srgbClr val="FFFFFF"/>
                </a:solidFill>
                <a:latin typeface="Calibri"/>
              </a:defRPr>
            </a:pPr>
            <a:endParaRPr lang="en-US"/>
          </a:p>
        </c:txPr>
        <c:crossAx val="2094734552"/>
        <c:crosses val="autoZero"/>
        <c:auto val="1"/>
        <c:lblAlgn val="ctr"/>
        <c:lblOffset val="100"/>
        <c:noMultiLvlLbl val="1"/>
      </c:catAx>
      <c:valAx>
        <c:axId val="2094734552"/>
        <c:scaling>
          <c:orientation val="minMax"/>
          <c:max val="7000"/>
        </c:scaling>
        <c:delete val="0"/>
        <c:axPos val="l"/>
        <c:majorGridlines>
          <c:spPr>
            <a:ln w="12700" cap="flat">
              <a:solidFill>
                <a:srgbClr val="17457F"/>
              </a:solidFill>
              <a:prstDash val="solid"/>
              <a:round/>
            </a:ln>
          </c:spPr>
        </c:majorGridlines>
        <c:numFmt formatCode="General" sourceLinked="0"/>
        <c:majorTickMark val="out"/>
        <c:minorTickMark val="none"/>
        <c:tickLblPos val="nextTo"/>
        <c:spPr>
          <a:ln w="12700" cap="flat">
            <a:solidFill>
              <a:srgbClr val="A9B4B1"/>
            </a:solidFill>
            <a:prstDash val="solid"/>
            <a:round/>
          </a:ln>
        </c:spPr>
        <c:txPr>
          <a:bodyPr/>
          <a:lstStyle/>
          <a:p>
            <a:pPr>
              <a:defRPr sz="1000" b="0" i="0" u="none" strike="noStrike">
                <a:solidFill>
                  <a:srgbClr val="A9B4B1"/>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A9B4B1"/>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A8207B69-D84C-4383-8EAE-6CEAA2309DE2}" type="datetimeFigureOut">
              <a:t>9/21/2026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2EEA91EF-BDF1-4605-8DE0-D3CC3670CE7B}" type="slidenum">
              <a:t>‹#›</a:t>
            </a:fld>
            <a:endParaRPr lang="en-US"/>
          </a:p>
        </p:txBody>
      </p:sp>
    </p:spTree>
    <p:extLst>
      <p:ext uri="{BB962C8B-B14F-4D97-AF65-F5344CB8AC3E}">
        <p14:creationId xmlns:p14="http://schemas.microsoft.com/office/powerpoint/2010/main" val="23528895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Swatches removed; surface colours still used throughout.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Motivation, from the August deck. Walking as the most accessible physical activity; health outcomes it is associated with; the two framing quotes.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Motivation. Walkability is now a design and policy target, but existing measures (Walk Score, Walk Friendly Communities, Pedestrians First, Boston Walking City Trails) score proximity and infrastructure from map data, not the ground itself. Sets up the GIS-unreliability slide later in the deck.</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Motivation. The foot as the interface between body and urban ground, and the three 'what if' questions that became the project objectives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project objectives. #1 is the modelling focus; #2 and #3 are broader/exploratory.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Background. The gait cycle: stance ~60%, swing ~40%. Maps each gait event onto the features the models use. Add the source citation for the diagram.</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Condensed: dropped the resolution row and footnote. Diagram is the manual pressure-sensor layout (Screenshot 152305).</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recorded signal replaces the abstract flow. Left = per-sensor pressure lines L/R; right = pressure heatmaps. Shows the periodic gait signal the models read.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Taxonomy updated: paved currently includes even + uneven; planned 4th modular-paved class for brick/cobblestone, plus sand/rocks. Footnote removed.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walkers now: Kristian 5,902; Sam 6,153; Catherine 1,098 (grass 187/loose 57/paved 854). Total 13,153. Cadence note removed; growth note explains the 4th class + new surfaces + Samantha.</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models share one step-feature extractor. Evenness = unsupervised scoring model; hardness = supervised P(firm).</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feature_distributions.png (grass/loose/paved). Explains the basis the classifiers learn from. Swap for the hard/soft version if you prefer.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Confusion matrices explain model performance. 2-class 89%; 3-class 79% with loose confused with paved (34% correct). Brick-as-own-class history added. These reinforce that firm-vs-firm is the hard split.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scales_populations.png (grass/loose/paved). Evenness + hardness by surface + scatter. Paved/loose overlap visible.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Reframed: GIS/map data unreliably predicts ground type. 48% agreement from the per-walk map. Bullets: canopy-blind land cover, coarse material codes + unknown gaps, stale data. Motivates measuring.</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flagship per-walk comparison map (Screenshot 145345): route with six coloured lines + linked step timeline. Ties the whole pipeline together.</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Retitled What’s next. Future directions: dataset growth (4th class + new surfaces + walkers), better ground truth than GIS, and the health/walkability aims.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2451"/>
        </a:solidFill>
        <a:effectLst/>
      </p:bgPr>
    </p:bg>
    <p:spTree>
      <p:nvGrpSpPr>
        <p:cNvPr id="1" name=""/>
        <p:cNvGrpSpPr/>
        <p:nvPr/>
      </p:nvGrpSpPr>
      <p:grpSpPr>
        <a:xfrm>
          <a:off x="0" y="0"/>
          <a:ext cx="0" cy="0"/>
          <a:chOff x="0" y="0"/>
          <a:chExt cx="0" cy="0"/>
        </a:xfrm>
      </p:grpSpPr>
      <p:sp>
        <p:nvSpPr>
          <p:cNvPr id="2" name="Text 0"/>
          <p:cNvSpPr txBox="1"/>
          <p:nvPr/>
        </p:nvSpPr>
        <p:spPr>
          <a:xfrm>
            <a:off x="822960" y="1874520"/>
            <a:ext cx="10515600" cy="1005840"/>
          </a:xfrm>
          <a:prstGeom prst="rect">
            <a:avLst/>
          </a:prstGeom>
          <a:noFill/>
          <a:ln/>
        </p:spPr>
        <p:txBody>
          <a:bodyPr wrap="square" lIns="0" tIns="0" rIns="0" bIns="0" rtlCol="0" anchor="ctr"/>
          <a:lstStyle/>
          <a:p>
            <a:pPr marL="0" indent="0" algn="l">
              <a:buNone/>
            </a:pPr>
            <a:r>
              <a:rPr lang="en-US" sz="5400" b="1" dirty="0">
                <a:solidFill>
                  <a:srgbClr val="FFFFFF"/>
                </a:solidFill>
                <a:latin typeface="Cambria" pitchFamily="34" charset="0"/>
                <a:ea typeface="Cambria" pitchFamily="34" charset="-122"/>
                <a:cs typeface="Cambria" pitchFamily="34" charset="-120"/>
              </a:rPr>
              <a:t>GroundWalks</a:t>
            </a:r>
            <a:endParaRPr lang="en-US" sz="5400" dirty="0"/>
          </a:p>
        </p:txBody>
      </p:sp>
      <p:sp>
        <p:nvSpPr>
          <p:cNvPr id="3" name="Text 1"/>
          <p:cNvSpPr txBox="1"/>
          <p:nvPr/>
        </p:nvSpPr>
        <p:spPr>
          <a:xfrm>
            <a:off x="841248" y="2926080"/>
            <a:ext cx="9966960" cy="640080"/>
          </a:xfrm>
          <a:prstGeom prst="rect">
            <a:avLst/>
          </a:prstGeom>
          <a:noFill/>
          <a:ln/>
        </p:spPr>
        <p:txBody>
          <a:bodyPr wrap="square" lIns="0" tIns="0" rIns="0" bIns="0" rtlCol="0" anchor="t"/>
          <a:lstStyle/>
          <a:p>
            <a:pPr marL="0" indent="0" algn="l">
              <a:buNone/>
            </a:pPr>
            <a:r>
              <a:rPr lang="en-US" sz="1900" dirty="0">
                <a:solidFill>
                  <a:srgbClr val="CBD6D2"/>
                </a:solidFill>
                <a:latin typeface="Calibri" pitchFamily="34" charset="0"/>
                <a:ea typeface="Calibri" pitchFamily="34" charset="-122"/>
                <a:cs typeface="Calibri" pitchFamily="34" charset="-120"/>
              </a:rPr>
              <a:t>Understanding the grounds we walk on through next-generation insole pressure sensors</a:t>
            </a:r>
            <a:endParaRPr lang="en-US" sz="1900" dirty="0"/>
          </a:p>
        </p:txBody>
      </p:sp>
      <p:sp>
        <p:nvSpPr>
          <p:cNvPr id="4" name="Text 2"/>
          <p:cNvSpPr txBox="1"/>
          <p:nvPr/>
        </p:nvSpPr>
        <p:spPr>
          <a:xfrm>
            <a:off x="841248" y="3493008"/>
            <a:ext cx="5486400" cy="320040"/>
          </a:xfrm>
          <a:prstGeom prst="rect">
            <a:avLst/>
          </a:prstGeom>
          <a:noFill/>
          <a:ln/>
        </p:spPr>
        <p:txBody>
          <a:bodyPr wrap="square" lIns="0" tIns="0" rIns="0" bIns="0" rtlCol="0" anchor="ctr"/>
          <a:lstStyle/>
          <a:p>
            <a:pPr marL="0" indent="0" algn="l">
              <a:buNone/>
            </a:pPr>
            <a:r>
              <a:rPr lang="en-US" sz="1250" i="1" dirty="0">
                <a:solidFill>
                  <a:srgbClr val="8A9A95"/>
                </a:solidFill>
                <a:latin typeface="Calibri" pitchFamily="34" charset="0"/>
                <a:ea typeface="Calibri" pitchFamily="34" charset="-122"/>
                <a:cs typeface="Calibri" pitchFamily="34" charset="-120"/>
              </a:rPr>
              <a:t>formerly WalkSensePlace</a:t>
            </a:r>
            <a:endParaRPr lang="en-US" sz="1250" dirty="0"/>
          </a:p>
        </p:txBody>
      </p:sp>
      <p:sp>
        <p:nvSpPr>
          <p:cNvPr id="5" name="Text 3"/>
          <p:cNvSpPr txBox="1"/>
          <p:nvPr/>
        </p:nvSpPr>
        <p:spPr>
          <a:xfrm>
            <a:off x="841248" y="4114800"/>
            <a:ext cx="10607040" cy="1828800"/>
          </a:xfrm>
          <a:prstGeom prst="rect">
            <a:avLst/>
          </a:prstGeom>
          <a:noFill/>
          <a:ln/>
        </p:spPr>
        <p:txBody>
          <a:bodyPr wrap="square" lIns="0" tIns="0" rIns="0" bIns="0" rtlCol="0" anchor="t"/>
          <a:lstStyle/>
          <a:p>
            <a:pPr marL="0" indent="0" algn="l">
              <a:lnSpc>
                <a:spcPct val="135000"/>
              </a:lnSpc>
              <a:buNone/>
            </a:pPr>
            <a:r>
              <a:rPr lang="en-US" sz="1250" dirty="0">
                <a:solidFill>
                  <a:srgbClr val="9FB0AB"/>
                </a:solidFill>
                <a:latin typeface="Calibri" pitchFamily="34" charset="0"/>
                <a:ea typeface="Calibri" pitchFamily="34" charset="-122"/>
                <a:cs typeface="Calibri" pitchFamily="34" charset="-120"/>
              </a:rPr>
              <a:t>Kristian </a:t>
            </a:r>
            <a:r>
              <a:rPr lang="en-US" sz="1250" b="1" dirty="0">
                <a:solidFill>
                  <a:srgbClr val="CBD6D2"/>
                </a:solidFill>
                <a:latin typeface="Calibri" pitchFamily="34" charset="0"/>
                <a:ea typeface="Calibri" pitchFamily="34" charset="-122"/>
                <a:cs typeface="Calibri" pitchFamily="34" charset="-120"/>
              </a:rPr>
              <a:t>Kloeckl</a:t>
            </a:r>
            <a:r>
              <a:rPr lang="en-US" sz="1250" dirty="0">
                <a:solidFill>
                  <a:srgbClr val="9FB0AB"/>
                </a:solidFill>
                <a:latin typeface="Calibri" pitchFamily="34" charset="0"/>
                <a:ea typeface="Calibri" pitchFamily="34" charset="-122"/>
                <a:cs typeface="Calibri" pitchFamily="34" charset="-120"/>
              </a:rPr>
              <a:t> (CAMD, urban interaction design)</a:t>
            </a:r>
          </a:p>
          <a:p>
            <a:pPr marL="0" indent="0" algn="l">
              <a:lnSpc>
                <a:spcPct val="135000"/>
              </a:lnSpc>
              <a:buNone/>
            </a:pPr>
            <a:r>
              <a:rPr lang="en-US" sz="1250" dirty="0">
                <a:solidFill>
                  <a:srgbClr val="9FB0AB"/>
                </a:solidFill>
                <a:latin typeface="Calibri" pitchFamily="34" charset="0"/>
                <a:ea typeface="Calibri" pitchFamily="34" charset="-122"/>
                <a:cs typeface="Calibri" pitchFamily="34" charset="-120"/>
              </a:rPr>
              <a:t>Eric </a:t>
            </a:r>
            <a:r>
              <a:rPr lang="en-US" sz="1250" b="1" dirty="0">
                <a:solidFill>
                  <a:srgbClr val="CBD6D2"/>
                </a:solidFill>
                <a:latin typeface="Calibri" pitchFamily="34" charset="0"/>
                <a:ea typeface="Calibri" pitchFamily="34" charset="-122"/>
                <a:cs typeface="Calibri" pitchFamily="34" charset="-120"/>
              </a:rPr>
              <a:t>Folmar</a:t>
            </a:r>
            <a:r>
              <a:rPr lang="en-US" sz="1250" dirty="0">
                <a:solidFill>
                  <a:srgbClr val="9FB0AB"/>
                </a:solidFill>
                <a:latin typeface="Calibri" pitchFamily="34" charset="0"/>
                <a:ea typeface="Calibri" pitchFamily="34" charset="-122"/>
                <a:cs typeface="Calibri" pitchFamily="34" charset="-120"/>
              </a:rPr>
              <a:t> (Bouvé, physiotherapy and biomechanics)</a:t>
            </a:r>
          </a:p>
          <a:p>
            <a:pPr marL="0" indent="0" algn="l">
              <a:lnSpc>
                <a:spcPct val="135000"/>
              </a:lnSpc>
              <a:buNone/>
            </a:pPr>
            <a:r>
              <a:rPr lang="en-US" sz="1250" dirty="0">
                <a:solidFill>
                  <a:srgbClr val="9FB0AB"/>
                </a:solidFill>
                <a:latin typeface="Calibri" pitchFamily="34" charset="0"/>
                <a:ea typeface="Calibri" pitchFamily="34" charset="-122"/>
                <a:cs typeface="Calibri" pitchFamily="34" charset="-120"/>
              </a:rPr>
              <a:t>Amy </a:t>
            </a:r>
            <a:r>
              <a:rPr lang="en-US" sz="1250" b="1" dirty="0">
                <a:solidFill>
                  <a:srgbClr val="CBD6D2"/>
                </a:solidFill>
                <a:latin typeface="Calibri" pitchFamily="34" charset="0"/>
                <a:ea typeface="Calibri" pitchFamily="34" charset="-122"/>
                <a:cs typeface="Calibri" pitchFamily="34" charset="-120"/>
              </a:rPr>
              <a:t>Lu</a:t>
            </a:r>
            <a:r>
              <a:rPr lang="en-US" sz="1250" dirty="0">
                <a:solidFill>
                  <a:srgbClr val="9FB0AB"/>
                </a:solidFill>
                <a:latin typeface="Calibri" pitchFamily="34" charset="0"/>
                <a:ea typeface="Calibri" pitchFamily="34" charset="-122"/>
                <a:cs typeface="Calibri" pitchFamily="34" charset="-120"/>
              </a:rPr>
              <a:t> (CAMD/Bouvé, health tech and communication)</a:t>
            </a:r>
          </a:p>
          <a:p>
            <a:pPr marL="0" indent="0" algn="l">
              <a:lnSpc>
                <a:spcPct val="135000"/>
              </a:lnSpc>
              <a:buNone/>
            </a:pPr>
            <a:r>
              <a:rPr lang="en-US" sz="1250" dirty="0">
                <a:solidFill>
                  <a:srgbClr val="9FB0AB"/>
                </a:solidFill>
                <a:latin typeface="Calibri" pitchFamily="34" charset="0"/>
                <a:ea typeface="Calibri" pitchFamily="34" charset="-122"/>
                <a:cs typeface="Calibri" pitchFamily="34" charset="-120"/>
              </a:rPr>
              <a:t>RAs Samuel </a:t>
            </a:r>
            <a:r>
              <a:rPr lang="en-US" sz="1250" b="1" dirty="0">
                <a:solidFill>
                  <a:srgbClr val="CBD6D2"/>
                </a:solidFill>
                <a:latin typeface="Calibri" pitchFamily="34" charset="0"/>
                <a:ea typeface="Calibri" pitchFamily="34" charset="-122"/>
                <a:cs typeface="Calibri" pitchFamily="34" charset="-120"/>
              </a:rPr>
              <a:t>Greeman</a:t>
            </a:r>
            <a:r>
              <a:rPr lang="en-US" sz="1250" dirty="0">
                <a:solidFill>
                  <a:srgbClr val="9FB0AB"/>
                </a:solidFill>
                <a:latin typeface="Calibri" pitchFamily="34" charset="0"/>
                <a:ea typeface="Calibri" pitchFamily="34" charset="-122"/>
                <a:cs typeface="Calibri" pitchFamily="34" charset="-120"/>
              </a:rPr>
              <a:t>, Samantha </a:t>
            </a:r>
            <a:r>
              <a:rPr lang="en-US" sz="1250" b="1" dirty="0">
                <a:solidFill>
                  <a:srgbClr val="CBD6D2"/>
                </a:solidFill>
                <a:latin typeface="Calibri" pitchFamily="34" charset="0"/>
                <a:ea typeface="Calibri" pitchFamily="34" charset="-122"/>
                <a:cs typeface="Calibri" pitchFamily="34" charset="-120"/>
              </a:rPr>
              <a:t>Tracey</a:t>
            </a:r>
            <a:r>
              <a:rPr lang="en-US" sz="1250" dirty="0">
                <a:solidFill>
                  <a:srgbClr val="9FB0AB"/>
                </a:solidFill>
                <a:latin typeface="Calibri" pitchFamily="34" charset="0"/>
                <a:ea typeface="Calibri" pitchFamily="34" charset="-122"/>
                <a:cs typeface="Calibri" pitchFamily="34" charset="-120"/>
              </a:rPr>
              <a:t>, Catherine </a:t>
            </a:r>
            <a:r>
              <a:rPr lang="en-US" sz="1250" b="1" dirty="0">
                <a:solidFill>
                  <a:srgbClr val="CBD6D2"/>
                </a:solidFill>
                <a:latin typeface="Calibri" pitchFamily="34" charset="0"/>
                <a:ea typeface="Calibri" pitchFamily="34" charset="-122"/>
                <a:cs typeface="Calibri" pitchFamily="34" charset="-120"/>
              </a:rPr>
              <a:t>Zhou</a:t>
            </a:r>
          </a:p>
          <a:p>
            <a:pPr marL="0" indent="0" algn="l">
              <a:lnSpc>
                <a:spcPct val="135000"/>
              </a:lnSpc>
              <a:buNone/>
            </a:pPr>
            <a:r>
              <a:rPr lang="en-US" sz="1250" dirty="0">
                <a:solidFill>
                  <a:srgbClr val="9FB0AB"/>
                </a:solidFill>
                <a:latin typeface="Calibri" pitchFamily="34" charset="0"/>
                <a:ea typeface="Calibri" pitchFamily="34" charset="-122"/>
                <a:cs typeface="Calibri" pitchFamily="34" charset="-120"/>
              </a:rPr>
              <a:t>Stappone (technology partner)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Motivation - walking">
    <p:bg>
      <p:bgPr>
        <a:solidFill>
          <a:srgbClr val="002451"/>
        </a:solidFill>
        <a:effectLst/>
      </p:bgPr>
    </p:bg>
    <p:spTree>
      <p:nvGrpSpPr>
        <p:cNvPr id="1" name=""/>
        <p:cNvGrpSpPr/>
        <p:nvPr/>
      </p:nvGrpSpPr>
      <p:grpSpPr>
        <a:xfrm>
          <a:off x="0" y="0"/>
          <a:ext cx="0" cy="0"/>
          <a:chOff x="0" y="0"/>
          <a:chExt cx="0" cy="0"/>
        </a:xfrm>
      </p:grpSpPr>
      <p:sp>
        <p:nvSpPr>
          <p:cNvPr id="2" name="Shape 3"/>
          <p:cNvSpPr/>
          <p:nvPr/>
        </p:nvSpPr>
        <p:spPr>
          <a:xfrm>
            <a:off x="640080" y="502920"/>
            <a:ext cx="384048" cy="384048"/>
          </a:xfrm>
          <a:prstGeom prst="roundRect">
            <a:avLst>
              <a:gd name="adj" fmla="val 14286"/>
            </a:avLst>
          </a:prstGeom>
          <a:solidFill>
            <a:srgbClr val="4CAF50"/>
          </a:solidFill>
          <a:ln/>
        </p:spPr>
      </p:sp>
      <p:sp>
        <p:nvSpPr>
          <p:cNvPr id="4" name="Text 5"/>
          <p:cNvSpPr txBox="1"/>
          <p:nvPr/>
        </p:nvSpPr>
        <p:spPr>
          <a:xfrm>
            <a:off x="640080" y="50292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01</a:t>
            </a:r>
          </a:p>
        </p:txBody>
      </p:sp>
      <p:sp>
        <p:nvSpPr>
          <p:cNvPr id="6" name="Text 7"/>
          <p:cNvSpPr txBox="1"/>
          <p:nvPr/>
        </p:nvSpPr>
        <p:spPr>
          <a:xfrm>
            <a:off x="1115568" y="502920"/>
            <a:ext cx="8229600" cy="384048"/>
          </a:xfrm>
          <a:prstGeom prst="rect">
            <a:avLst/>
          </a:prstGeom>
          <a:noFill/>
          <a:ln/>
        </p:spPr>
        <p:txBody>
          <a:bodyPr wrap="square" lIns="0" tIns="0" rIns="0" bIns="0" rtlCol="0" anchor="ctr"/>
          <a:lstStyle/>
          <a:p>
            <a:pPr marL="0" indent="0" algn="l">
              <a:buNone/>
            </a:pPr>
            <a:r>
              <a:rPr lang="en-US" sz="1300" b="1" kern="0" spc="200" dirty="0">
                <a:solidFill>
                  <a:srgbClr val="A9B4B1"/>
                </a:solidFill>
                <a:latin typeface="Calibri" pitchFamily="34" charset="0"/>
                <a:ea typeface="Calibri" pitchFamily="34" charset="-122"/>
                <a:cs typeface="Calibri" pitchFamily="34" charset="-120"/>
              </a:rPr>
              <a:t>MOTIVATION</a:t>
            </a:r>
          </a:p>
        </p:txBody>
      </p:sp>
      <p:sp>
        <p:nvSpPr>
          <p:cNvPr id="8" name="Text 9"/>
          <p:cNvSpPr txBox="1"/>
          <p:nvPr/>
        </p:nvSpPr>
        <p:spPr>
          <a:xfrm>
            <a:off x="640080" y="960120"/>
            <a:ext cx="10881360" cy="731520"/>
          </a:xfrm>
          <a:prstGeom prst="rect">
            <a:avLst/>
          </a:prstGeom>
          <a:noFill/>
          <a:ln/>
        </p:spPr>
        <p:txBody>
          <a:bodyPr wrap="square" lIns="0" tIns="0" rIns="0" bIns="0" rtlCol="0" anchor="ctr"/>
          <a:lstStyle/>
          <a:p>
            <a:pPr marL="0" indent="0" algn="l">
              <a:buNone/>
            </a:pPr>
            <a:r>
              <a:rPr lang="en-US" sz="3000" b="1" dirty="0">
                <a:solidFill>
                  <a:srgbClr val="FFFFFF"/>
                </a:solidFill>
                <a:latin typeface="Cambria" pitchFamily="34" charset="0"/>
                <a:ea typeface="Cambria" pitchFamily="34" charset="-122"/>
                <a:cs typeface="Cambria" pitchFamily="34" charset="-120"/>
              </a:rPr>
              <a:t>Walking…</a:t>
            </a:r>
          </a:p>
        </p:txBody>
      </p:sp>
      <p:sp>
        <p:nvSpPr>
          <p:cNvPr id="10" name="Text 11"/>
          <p:cNvSpPr txBox="1"/>
          <p:nvPr/>
        </p:nvSpPr>
        <p:spPr>
          <a:xfrm>
            <a:off x="640080" y="1783080"/>
            <a:ext cx="10058400" cy="1188720"/>
          </a:xfrm>
          <a:prstGeom prst="rect">
            <a:avLst/>
          </a:prstGeom>
          <a:noFill/>
          <a:ln/>
        </p:spPr>
        <p:txBody>
          <a:bodyPr wrap="square" lIns="0" tIns="0" rIns="0" bIns="0" rtlCol="0" anchor="t"/>
          <a:lstStyle/>
          <a:p>
            <a:pPr marL="0" indent="0" algn="l">
              <a:lnSpc>
                <a:spcPct val="125000"/>
              </a:lnSpc>
              <a:buNone/>
            </a:pPr>
            <a:r>
              <a:rPr lang="en-US" sz="2000" dirty="0">
                <a:solidFill>
                  <a:srgbClr val="FFFFFF"/>
                </a:solidFill>
                <a:latin typeface="Cambria" pitchFamily="34" charset="0"/>
                <a:ea typeface="Cambria" pitchFamily="34" charset="-122"/>
                <a:cs typeface="Cambria" pitchFamily="34" charset="-120"/>
              </a:rPr>
              <a:t>One of the most accessible and sustainable forms of physical activity. No specialized equipment and minimal training required.</a:t>
            </a:r>
          </a:p>
        </p:txBody>
      </p:sp>
      <p:sp>
        <p:nvSpPr>
          <p:cNvPr id="12" name="Shape 13"/>
          <p:cNvSpPr/>
          <p:nvPr/>
        </p:nvSpPr>
        <p:spPr>
          <a:xfrm>
            <a:off x="640080" y="3474720"/>
            <a:ext cx="10881360" cy="2011680"/>
          </a:xfrm>
          <a:prstGeom prst="roundRect">
            <a:avLst>
              <a:gd name="adj" fmla="val 2000"/>
            </a:avLst>
          </a:prstGeom>
          <a:solidFill>
            <a:srgbClr val="F3F6F5"/>
          </a:solidFill>
          <a:ln/>
          <a:effectLst>
            <a:outerShdw blurRad="76200" dist="25400" dir="5400000" algn="bl" rotWithShape="0">
              <a:srgbClr val="A9B4B1">
                <a:alpha val="28000"/>
              </a:srgbClr>
            </a:outerShdw>
          </a:effectLst>
        </p:spPr>
      </p:sp>
      <p:sp>
        <p:nvSpPr>
          <p:cNvPr id="14" name="Text 15"/>
          <p:cNvSpPr txBox="1"/>
          <p:nvPr/>
        </p:nvSpPr>
        <p:spPr>
          <a:xfrm>
            <a:off x="1097280" y="3749040"/>
            <a:ext cx="9966960" cy="1463040"/>
          </a:xfrm>
          <a:prstGeom prst="rect">
            <a:avLst/>
          </a:prstGeom>
          <a:noFill/>
          <a:ln/>
        </p:spPr>
        <p:txBody>
          <a:bodyPr wrap="square" lIns="0" tIns="0" rIns="0" bIns="0" rtlCol="0" anchor="ctr"/>
          <a:lstStyle/>
          <a:p>
            <a:pPr marL="0" indent="0" algn="l">
              <a:lnSpc>
                <a:spcPct val="145000"/>
              </a:lnSpc>
              <a:buNone/>
            </a:pPr>
            <a:r>
              <a:rPr lang="en-US" sz="1700" dirty="0">
                <a:solidFill>
                  <a:srgbClr val="6B7772"/>
                </a:solidFill>
                <a:latin typeface="Calibri" pitchFamily="34" charset="0"/>
                <a:ea typeface="Calibri" pitchFamily="34" charset="-122"/>
                <a:cs typeface="Calibri" pitchFamily="34" charset="-120"/>
              </a:rPr>
              <a:t>Regular walking improves cardiovascular health, boosts mood and cognitive function, aids weight management and metabolism, enhances joint mobility and strength, and lowers blood sugar and diabetes risk.</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Motivation - walkable cities">
    <p:bg>
      <p:bgPr>
        <a:solidFill>
          <a:srgbClr val="002451"/>
        </a:solidFill>
        <a:effectLst/>
      </p:bgPr>
    </p:bg>
    <p:spTree>
      <p:nvGrpSpPr>
        <p:cNvPr id="1" name=""/>
        <p:cNvGrpSpPr/>
        <p:nvPr/>
      </p:nvGrpSpPr>
      <p:grpSpPr>
        <a:xfrm>
          <a:off x="0" y="0"/>
          <a:ext cx="0" cy="0"/>
          <a:chOff x="0" y="0"/>
          <a:chExt cx="0" cy="0"/>
        </a:xfrm>
      </p:grpSpPr>
      <p:sp>
        <p:nvSpPr>
          <p:cNvPr id="2" name="Shape 3"/>
          <p:cNvSpPr/>
          <p:nvPr/>
        </p:nvSpPr>
        <p:spPr>
          <a:xfrm>
            <a:off x="640080" y="502920"/>
            <a:ext cx="384048" cy="384048"/>
          </a:xfrm>
          <a:prstGeom prst="roundRect">
            <a:avLst>
              <a:gd name="adj" fmla="val 14286"/>
            </a:avLst>
          </a:prstGeom>
          <a:solidFill>
            <a:srgbClr val="4CAF50"/>
          </a:solidFill>
          <a:ln/>
        </p:spPr>
      </p:sp>
      <p:sp>
        <p:nvSpPr>
          <p:cNvPr id="4" name="Text 5"/>
          <p:cNvSpPr txBox="1"/>
          <p:nvPr/>
        </p:nvSpPr>
        <p:spPr>
          <a:xfrm>
            <a:off x="640080" y="50292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01</a:t>
            </a:r>
          </a:p>
        </p:txBody>
      </p:sp>
      <p:sp>
        <p:nvSpPr>
          <p:cNvPr id="6" name="Text 7"/>
          <p:cNvSpPr txBox="1"/>
          <p:nvPr/>
        </p:nvSpPr>
        <p:spPr>
          <a:xfrm>
            <a:off x="1115568" y="502920"/>
            <a:ext cx="8229600" cy="384048"/>
          </a:xfrm>
          <a:prstGeom prst="rect">
            <a:avLst/>
          </a:prstGeom>
          <a:noFill/>
          <a:ln/>
        </p:spPr>
        <p:txBody>
          <a:bodyPr wrap="square" lIns="0" tIns="0" rIns="0" bIns="0" rtlCol="0" anchor="ctr"/>
          <a:lstStyle/>
          <a:p>
            <a:pPr marL="0" indent="0" algn="l">
              <a:buNone/>
            </a:pPr>
            <a:r>
              <a:rPr lang="en-US" sz="1300" b="1" kern="0" spc="200" dirty="0">
                <a:solidFill>
                  <a:srgbClr val="A9B4B1"/>
                </a:solidFill>
                <a:latin typeface="Calibri" pitchFamily="34" charset="0"/>
                <a:ea typeface="Calibri" pitchFamily="34" charset="-122"/>
                <a:cs typeface="Calibri" pitchFamily="34" charset="-120"/>
              </a:rPr>
              <a:t>MOTIVATION</a:t>
            </a:r>
          </a:p>
        </p:txBody>
      </p:sp>
      <p:sp>
        <p:nvSpPr>
          <p:cNvPr id="8" name="Text 9"/>
          <p:cNvSpPr txBox="1"/>
          <p:nvPr/>
        </p:nvSpPr>
        <p:spPr>
          <a:xfrm>
            <a:off x="640080" y="960120"/>
            <a:ext cx="10881360" cy="731520"/>
          </a:xfrm>
          <a:prstGeom prst="rect">
            <a:avLst/>
          </a:prstGeom>
          <a:noFill/>
          <a:ln/>
        </p:spPr>
        <p:txBody>
          <a:bodyPr wrap="square" lIns="0" tIns="0" rIns="0" bIns="0" rtlCol="0" anchor="ctr"/>
          <a:lstStyle/>
          <a:p>
            <a:pPr marL="0" indent="0" algn="l">
              <a:buNone/>
            </a:pPr>
            <a:r>
              <a:rPr lang="en-US" sz="3000" b="1" dirty="0">
                <a:solidFill>
                  <a:srgbClr val="FFFFFF"/>
                </a:solidFill>
                <a:latin typeface="Cambria" pitchFamily="34" charset="0"/>
                <a:ea typeface="Cambria" pitchFamily="34" charset="-122"/>
                <a:cs typeface="Cambria" pitchFamily="34" charset="-120"/>
              </a:rPr>
              <a:t>Walkable Cities Movement &amp; Public Health</a:t>
            </a:r>
          </a:p>
        </p:txBody>
      </p:sp>
      <p:sp>
        <p:nvSpPr>
          <p:cNvPr id="10" name="Text 11"/>
          <p:cNvSpPr txBox="1"/>
          <p:nvPr/>
        </p:nvSpPr>
        <p:spPr>
          <a:xfrm>
            <a:off x="640080" y="1691640"/>
            <a:ext cx="10881360" cy="548640"/>
          </a:xfrm>
          <a:prstGeom prst="rect">
            <a:avLst/>
          </a:prstGeom>
          <a:noFill/>
          <a:ln/>
        </p:spPr>
        <p:txBody>
          <a:bodyPr wrap="square" lIns="0" tIns="0" rIns="0" bIns="0" rtlCol="0" anchor="t"/>
          <a:lstStyle/>
          <a:p>
            <a:pPr marL="0" indent="0" algn="l">
              <a:lnSpc>
                <a:spcPct val="110000"/>
              </a:lnSpc>
              <a:buNone/>
            </a:pPr>
            <a:r>
              <a:rPr lang="en-US" sz="1400" dirty="0">
                <a:solidFill>
                  <a:srgbClr val="A9B4B1"/>
                </a:solidFill>
                <a:latin typeface="Calibri" pitchFamily="34" charset="0"/>
                <a:ea typeface="Calibri" pitchFamily="34" charset="-122"/>
                <a:cs typeface="Calibri" pitchFamily="34" charset="-120"/>
              </a:rPr>
              <a:t>Walking can be integrated into daily routines. Even moderate increases in walking can yield significant health gains at the population level.</a:t>
            </a:r>
          </a:p>
        </p:txBody>
      </p:sp>
      <p:sp>
        <p:nvSpPr>
          <p:cNvPr id="12" name="Shape 13"/>
          <p:cNvSpPr/>
          <p:nvPr/>
        </p:nvSpPr>
        <p:spPr>
          <a:xfrm>
            <a:off x="640080" y="2560320"/>
            <a:ext cx="10881360" cy="2377440"/>
          </a:xfrm>
          <a:prstGeom prst="roundRect">
            <a:avLst>
              <a:gd name="adj" fmla="val 2000"/>
            </a:avLst>
          </a:prstGeom>
          <a:solidFill>
            <a:srgbClr val="F3F6F5"/>
          </a:solidFill>
          <a:ln/>
          <a:effectLst>
            <a:outerShdw blurRad="76200" dist="25400" dir="5400000" algn="bl" rotWithShape="0">
              <a:srgbClr val="A9B4B1">
                <a:alpha val="28000"/>
              </a:srgbClr>
            </a:outerShdw>
          </a:effectLst>
        </p:spPr>
      </p:sp>
      <p:sp>
        <p:nvSpPr>
          <p:cNvPr id="14" name="Text 15"/>
          <p:cNvSpPr txBox="1"/>
          <p:nvPr/>
        </p:nvSpPr>
        <p:spPr>
          <a:xfrm>
            <a:off x="1005840" y="2834640"/>
            <a:ext cx="10149840" cy="1828800"/>
          </a:xfrm>
          <a:prstGeom prst="rect">
            <a:avLst/>
          </a:prstGeom>
          <a:noFill/>
          <a:ln/>
        </p:spPr>
        <p:txBody>
          <a:bodyPr wrap="square" lIns="0" tIns="0" rIns="0" bIns="0" rtlCol="0" anchor="t"/>
          <a:lstStyle/>
          <a:p>
            <a:pPr marL="0" indent="0" algn="l">
              <a:lnSpc>
                <a:spcPct val="150000"/>
              </a:lnSpc>
              <a:buNone/>
            </a:pPr>
            <a:r>
              <a:rPr lang="en-US" sz="1600" b="1" dirty="0">
                <a:solidFill>
                  <a:srgbClr val="1B2A30"/>
                </a:solidFill>
                <a:latin typeface="Calibri" pitchFamily="34" charset="0"/>
                <a:ea typeface="Calibri" pitchFamily="34" charset="-122"/>
                <a:cs typeface="Calibri" pitchFamily="34" charset="-120"/>
              </a:rPr>
              <a:t>Walk Score</a:t>
            </a:r>
            <a:r>
              <a:rPr lang="en-US" sz="1600" dirty="0">
                <a:solidFill>
                  <a:srgbClr val="6B7772"/>
                </a:solidFill>
                <a:latin typeface="Calibri" pitchFamily="34" charset="0"/>
                <a:ea typeface="Calibri" pitchFamily="34" charset="-122"/>
                <a:cs typeface="Calibri" pitchFamily="34" charset="-120"/>
              </a:rPr>
              <a:t>, </a:t>
            </a:r>
            <a:r>
              <a:rPr lang="en-US" sz="1600" b="1" dirty="0">
                <a:solidFill>
                  <a:srgbClr val="1B2A30"/>
                </a:solidFill>
                <a:latin typeface="Calibri" pitchFamily="34" charset="0"/>
                <a:ea typeface="Calibri" pitchFamily="34" charset="-122"/>
                <a:cs typeface="Calibri" pitchFamily="34" charset="-120"/>
              </a:rPr>
              <a:t>Walk Friendly Communities</a:t>
            </a:r>
            <a:r>
              <a:rPr lang="en-US" sz="1600" dirty="0">
                <a:solidFill>
                  <a:srgbClr val="6B7772"/>
                </a:solidFill>
                <a:latin typeface="Calibri" pitchFamily="34" charset="0"/>
                <a:ea typeface="Calibri" pitchFamily="34" charset="-122"/>
                <a:cs typeface="Calibri" pitchFamily="34" charset="-120"/>
              </a:rPr>
              <a:t>, </a:t>
            </a:r>
            <a:r>
              <a:rPr lang="en-US" sz="1600" b="1" dirty="0">
                <a:solidFill>
                  <a:srgbClr val="1B2A30"/>
                </a:solidFill>
                <a:latin typeface="Calibri" pitchFamily="34" charset="0"/>
                <a:ea typeface="Calibri" pitchFamily="34" charset="-122"/>
                <a:cs typeface="Calibri" pitchFamily="34" charset="-120"/>
              </a:rPr>
              <a:t>Walkable Winston-Salem</a:t>
            </a:r>
            <a:r>
              <a:rPr lang="en-US" sz="1600" dirty="0">
                <a:solidFill>
                  <a:srgbClr val="6B7772"/>
                </a:solidFill>
                <a:latin typeface="Calibri" pitchFamily="34" charset="0"/>
                <a:ea typeface="Calibri" pitchFamily="34" charset="-122"/>
                <a:cs typeface="Calibri" pitchFamily="34" charset="-120"/>
              </a:rPr>
              <a:t>, </a:t>
            </a:r>
            <a:r>
              <a:rPr lang="en-US" sz="1600" b="1" dirty="0">
                <a:solidFill>
                  <a:srgbClr val="1B2A30"/>
                </a:solidFill>
                <a:latin typeface="Calibri" pitchFamily="34" charset="0"/>
                <a:ea typeface="Calibri" pitchFamily="34" charset="-122"/>
                <a:cs typeface="Calibri" pitchFamily="34" charset="-120"/>
              </a:rPr>
              <a:t>Natural Walking Cities</a:t>
            </a:r>
            <a:r>
              <a:rPr lang="en-US" sz="1600" dirty="0">
                <a:solidFill>
                  <a:srgbClr val="6B7772"/>
                </a:solidFill>
                <a:latin typeface="Calibri" pitchFamily="34" charset="0"/>
                <a:ea typeface="Calibri" pitchFamily="34" charset="-122"/>
                <a:cs typeface="Calibri" pitchFamily="34" charset="-120"/>
              </a:rPr>
              <a:t> and </a:t>
            </a:r>
            <a:r>
              <a:rPr lang="en-US" sz="1600" b="1" dirty="0">
                <a:solidFill>
                  <a:srgbClr val="1B2A30"/>
                </a:solidFill>
                <a:latin typeface="Calibri" pitchFamily="34" charset="0"/>
                <a:ea typeface="Calibri" pitchFamily="34" charset="-122"/>
                <a:cs typeface="Calibri" pitchFamily="34" charset="-120"/>
              </a:rPr>
              <a:t>Boston Walking City Trails</a:t>
            </a:r>
            <a:r>
              <a:rPr lang="en-US" sz="1600" dirty="0">
                <a:solidFill>
                  <a:srgbClr val="6B7772"/>
                </a:solidFill>
                <a:latin typeface="Calibri" pitchFamily="34" charset="0"/>
                <a:ea typeface="Calibri" pitchFamily="34" charset="-122"/>
                <a:cs typeface="Calibri" pitchFamily="34" charset="-120"/>
              </a:rPr>
              <a:t> all rate places by how well they support walking.</a:t>
            </a:r>
          </a:p>
          <a:p>
            <a:pPr marL="0" indent="0" algn="l">
              <a:lnSpc>
                <a:spcPct val="150000"/>
              </a:lnSpc>
              <a:spcBef>
                <a:spcPts val="1200"/>
              </a:spcBef>
              <a:buNone/>
            </a:pPr>
            <a:r>
              <a:rPr lang="en-US" sz="1600" b="1" dirty="0">
                <a:solidFill>
                  <a:srgbClr val="1B2A30"/>
                </a:solidFill>
                <a:latin typeface="Calibri" pitchFamily="34" charset="0"/>
                <a:ea typeface="Calibri" pitchFamily="34" charset="-122"/>
                <a:cs typeface="Calibri" pitchFamily="34" charset="-120"/>
              </a:rPr>
              <a:t>Pedestrians First</a:t>
            </a:r>
            <a:r>
              <a:rPr lang="en-US" sz="1600" dirty="0">
                <a:solidFill>
                  <a:srgbClr val="6B7772"/>
                </a:solidFill>
                <a:latin typeface="Calibri" pitchFamily="34" charset="0"/>
                <a:ea typeface="Calibri" pitchFamily="34" charset="-122"/>
                <a:cs typeface="Calibri" pitchFamily="34" charset="-120"/>
              </a:rPr>
              <a:t> frames it as a mix of infrastructure, activity, and priority: ensure a physical space and design that promotes walking; bring people and activities close enough to walk in safe and lively environments; and give preference to walking, cycling, and transit over private cars.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Motivation - feet as interface">
    <p:bg>
      <p:bgPr>
        <a:solidFill>
          <a:srgbClr val="002451"/>
        </a:solidFill>
        <a:effectLst/>
      </p:bgPr>
    </p:bg>
    <p:spTree>
      <p:nvGrpSpPr>
        <p:cNvPr id="1" name=""/>
        <p:cNvGrpSpPr/>
        <p:nvPr/>
      </p:nvGrpSpPr>
      <p:grpSpPr>
        <a:xfrm>
          <a:off x="0" y="0"/>
          <a:ext cx="0" cy="0"/>
          <a:chOff x="0" y="0"/>
          <a:chExt cx="0" cy="0"/>
        </a:xfrm>
      </p:grpSpPr>
      <p:sp>
        <p:nvSpPr>
          <p:cNvPr id="2" name="Shape 3"/>
          <p:cNvSpPr/>
          <p:nvPr/>
        </p:nvSpPr>
        <p:spPr>
          <a:xfrm>
            <a:off x="640080" y="502920"/>
            <a:ext cx="384048" cy="384048"/>
          </a:xfrm>
          <a:prstGeom prst="roundRect">
            <a:avLst>
              <a:gd name="adj" fmla="val 14286"/>
            </a:avLst>
          </a:prstGeom>
          <a:solidFill>
            <a:srgbClr val="4CAF50"/>
          </a:solidFill>
          <a:ln/>
        </p:spPr>
      </p:sp>
      <p:sp>
        <p:nvSpPr>
          <p:cNvPr id="4" name="Text 5"/>
          <p:cNvSpPr txBox="1"/>
          <p:nvPr/>
        </p:nvSpPr>
        <p:spPr>
          <a:xfrm>
            <a:off x="640080" y="50292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01</a:t>
            </a:r>
          </a:p>
        </p:txBody>
      </p:sp>
      <p:sp>
        <p:nvSpPr>
          <p:cNvPr id="6" name="Text 7"/>
          <p:cNvSpPr txBox="1"/>
          <p:nvPr/>
        </p:nvSpPr>
        <p:spPr>
          <a:xfrm>
            <a:off x="1115568" y="502920"/>
            <a:ext cx="8229600" cy="384048"/>
          </a:xfrm>
          <a:prstGeom prst="rect">
            <a:avLst/>
          </a:prstGeom>
          <a:noFill/>
          <a:ln/>
        </p:spPr>
        <p:txBody>
          <a:bodyPr wrap="square" lIns="0" tIns="0" rIns="0" bIns="0" rtlCol="0" anchor="ctr"/>
          <a:lstStyle/>
          <a:p>
            <a:pPr marL="0" indent="0" algn="l">
              <a:buNone/>
            </a:pPr>
            <a:r>
              <a:rPr lang="en-US" sz="1300" b="1" kern="0" spc="200" dirty="0">
                <a:solidFill>
                  <a:srgbClr val="A9B4B1"/>
                </a:solidFill>
                <a:latin typeface="Calibri" pitchFamily="34" charset="0"/>
                <a:ea typeface="Calibri" pitchFamily="34" charset="-122"/>
                <a:cs typeface="Calibri" pitchFamily="34" charset="-120"/>
              </a:rPr>
              <a:t>MOTIVATION</a:t>
            </a:r>
          </a:p>
        </p:txBody>
      </p:sp>
      <p:sp>
        <p:nvSpPr>
          <p:cNvPr id="8" name="Text 9"/>
          <p:cNvSpPr txBox="1"/>
          <p:nvPr/>
        </p:nvSpPr>
        <p:spPr>
          <a:xfrm>
            <a:off x="640080" y="960120"/>
            <a:ext cx="10881360" cy="731520"/>
          </a:xfrm>
          <a:prstGeom prst="rect">
            <a:avLst/>
          </a:prstGeom>
          <a:noFill/>
          <a:ln/>
        </p:spPr>
        <p:txBody>
          <a:bodyPr wrap="square" lIns="0" tIns="0" rIns="0" bIns="0" rtlCol="0" anchor="ctr"/>
          <a:lstStyle/>
          <a:p>
            <a:pPr marL="0" indent="0" algn="l">
              <a:buNone/>
            </a:pPr>
            <a:r>
              <a:rPr lang="en-US" sz="3000" b="1" dirty="0">
                <a:solidFill>
                  <a:srgbClr val="FFFFFF"/>
                </a:solidFill>
                <a:latin typeface="Cambria" pitchFamily="34" charset="0"/>
                <a:ea typeface="Cambria" pitchFamily="34" charset="-122"/>
                <a:cs typeface="Cambria" pitchFamily="34" charset="-120"/>
              </a:rPr>
              <a:t>Feet as dynamic interface</a:t>
            </a:r>
          </a:p>
        </p:txBody>
      </p:sp>
      <p:sp>
        <p:nvSpPr>
          <p:cNvPr id="10" name="Text 11"/>
          <p:cNvSpPr txBox="1"/>
          <p:nvPr/>
        </p:nvSpPr>
        <p:spPr>
          <a:xfrm>
            <a:off x="640080" y="1645920"/>
            <a:ext cx="10881360" cy="411480"/>
          </a:xfrm>
          <a:prstGeom prst="rect">
            <a:avLst/>
          </a:prstGeom>
          <a:noFill/>
          <a:ln/>
        </p:spPr>
        <p:txBody>
          <a:bodyPr wrap="square" lIns="0" tIns="0" rIns="0" bIns="0" rtlCol="0" anchor="t"/>
          <a:lstStyle/>
          <a:p>
            <a:pPr marL="0" indent="0" algn="l">
              <a:lnSpc>
                <a:spcPct val="110000"/>
              </a:lnSpc>
              <a:buNone/>
            </a:pPr>
            <a:r>
              <a:rPr lang="en-US" sz="1400" dirty="0">
                <a:solidFill>
                  <a:srgbClr val="A9B4B1"/>
                </a:solidFill>
                <a:latin typeface="Calibri" pitchFamily="34" charset="0"/>
                <a:ea typeface="Calibri" pitchFamily="34" charset="-122"/>
                <a:cs typeface="Calibri" pitchFamily="34" charset="-120"/>
              </a:rPr>
              <a:t>between the human body and urban ground</a:t>
            </a:r>
          </a:p>
        </p:txBody>
      </p:sp>
      <p:sp>
        <p:nvSpPr>
          <p:cNvPr id="12" name="Text 13"/>
          <p:cNvSpPr txBox="1"/>
          <p:nvPr/>
        </p:nvSpPr>
        <p:spPr>
          <a:xfrm>
            <a:off x="640080" y="2377440"/>
            <a:ext cx="5943600" cy="365760"/>
          </a:xfrm>
          <a:prstGeom prst="rect">
            <a:avLst/>
          </a:prstGeom>
          <a:noFill/>
          <a:ln/>
        </p:spPr>
        <p:txBody>
          <a:bodyPr wrap="square" lIns="0" tIns="0" rIns="0" bIns="0" rtlCol="0" anchor="ctr"/>
          <a:lstStyle/>
          <a:p>
            <a:pPr marL="0" indent="0" algn="l">
              <a:buNone/>
            </a:pPr>
            <a:r>
              <a:rPr lang="en-US" sz="1600" b="1" dirty="0">
                <a:solidFill>
                  <a:srgbClr val="FFFFFF"/>
                </a:solidFill>
                <a:latin typeface="Cambria" pitchFamily="34" charset="0"/>
                <a:ea typeface="Cambria" pitchFamily="34" charset="-122"/>
                <a:cs typeface="Cambria" pitchFamily="34" charset="-120"/>
              </a:rPr>
              <a:t>What if just by walking we could better understand</a:t>
            </a:r>
          </a:p>
        </p:txBody>
      </p:sp>
      <p:sp>
        <p:nvSpPr>
          <p:cNvPr id="14" name="Shape 15"/>
          <p:cNvSpPr/>
          <p:nvPr/>
        </p:nvSpPr>
        <p:spPr>
          <a:xfrm>
            <a:off x="640080" y="2926080"/>
            <a:ext cx="457200" cy="457200"/>
          </a:xfrm>
          <a:prstGeom prst="roundRect">
            <a:avLst>
              <a:gd name="adj" fmla="val 14000"/>
            </a:avLst>
          </a:prstGeom>
          <a:solidFill>
            <a:srgbClr val="4CAF50"/>
          </a:solidFill>
          <a:ln/>
        </p:spPr>
      </p:sp>
      <p:sp>
        <p:nvSpPr>
          <p:cNvPr id="16" name="Text 17"/>
          <p:cNvSpPr txBox="1"/>
          <p:nvPr/>
        </p:nvSpPr>
        <p:spPr>
          <a:xfrm>
            <a:off x="640080" y="292608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p>
        </p:txBody>
      </p:sp>
      <p:sp>
        <p:nvSpPr>
          <p:cNvPr id="18" name="Text 19"/>
          <p:cNvSpPr txBox="1"/>
          <p:nvPr/>
        </p:nvSpPr>
        <p:spPr>
          <a:xfrm>
            <a:off x="1325880" y="2926080"/>
            <a:ext cx="5029200" cy="457200"/>
          </a:xfrm>
          <a:prstGeom prst="rect">
            <a:avLst/>
          </a:prstGeom>
          <a:noFill/>
          <a:ln/>
        </p:spPr>
        <p:txBody>
          <a:bodyPr wrap="square" lIns="0" tIns="0" rIns="0" bIns="0" rtlCol="0" anchor="ctr"/>
          <a:lstStyle/>
          <a:p>
            <a:pPr marL="0" indent="0" algn="l">
              <a:lnSpc>
                <a:spcPct val="110000"/>
              </a:lnSpc>
              <a:buNone/>
            </a:pPr>
            <a:r>
              <a:rPr lang="en-US" sz="1400" dirty="0">
                <a:solidFill>
                  <a:srgbClr val="FFFFFF"/>
                </a:solidFill>
                <a:latin typeface="Calibri" pitchFamily="34" charset="0"/>
                <a:ea typeface="Calibri" pitchFamily="34" charset="-122"/>
                <a:cs typeface="Calibri" pitchFamily="34" charset="-120"/>
              </a:rPr>
              <a:t>how ground conditions change for urban walkers</a:t>
            </a:r>
          </a:p>
        </p:txBody>
      </p:sp>
      <p:sp>
        <p:nvSpPr>
          <p:cNvPr id="20" name="Shape 21"/>
          <p:cNvSpPr/>
          <p:nvPr/>
        </p:nvSpPr>
        <p:spPr>
          <a:xfrm>
            <a:off x="640080" y="3749040"/>
            <a:ext cx="457200" cy="457200"/>
          </a:xfrm>
          <a:prstGeom prst="roundRect">
            <a:avLst>
              <a:gd name="adj" fmla="val 14000"/>
            </a:avLst>
          </a:prstGeom>
          <a:solidFill>
            <a:srgbClr val="4CAF50"/>
          </a:solidFill>
          <a:ln/>
        </p:spPr>
      </p:sp>
      <p:sp>
        <p:nvSpPr>
          <p:cNvPr id="22" name="Text 23"/>
          <p:cNvSpPr txBox="1"/>
          <p:nvPr/>
        </p:nvSpPr>
        <p:spPr>
          <a:xfrm>
            <a:off x="640080" y="374904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p>
        </p:txBody>
      </p:sp>
      <p:sp>
        <p:nvSpPr>
          <p:cNvPr id="24" name="Text 25"/>
          <p:cNvSpPr txBox="1"/>
          <p:nvPr/>
        </p:nvSpPr>
        <p:spPr>
          <a:xfrm>
            <a:off x="1325880" y="3749040"/>
            <a:ext cx="5029200" cy="457200"/>
          </a:xfrm>
          <a:prstGeom prst="rect">
            <a:avLst/>
          </a:prstGeom>
          <a:noFill/>
          <a:ln/>
        </p:spPr>
        <p:txBody>
          <a:bodyPr wrap="square" lIns="0" tIns="0" rIns="0" bIns="0" rtlCol="0" anchor="ctr"/>
          <a:lstStyle/>
          <a:p>
            <a:pPr marL="0" indent="0" algn="l">
              <a:lnSpc>
                <a:spcPct val="110000"/>
              </a:lnSpc>
              <a:buNone/>
            </a:pPr>
            <a:r>
              <a:rPr lang="en-US" sz="1400" dirty="0">
                <a:solidFill>
                  <a:srgbClr val="FFFFFF"/>
                </a:solidFill>
                <a:latin typeface="Calibri" pitchFamily="34" charset="0"/>
                <a:ea typeface="Calibri" pitchFamily="34" charset="-122"/>
                <a:cs typeface="Calibri" pitchFamily="34" charset="-120"/>
              </a:rPr>
              <a:t>how they impact human health and experience</a:t>
            </a:r>
          </a:p>
        </p:txBody>
      </p:sp>
      <p:sp>
        <p:nvSpPr>
          <p:cNvPr id="26" name="Shape 27"/>
          <p:cNvSpPr/>
          <p:nvPr/>
        </p:nvSpPr>
        <p:spPr>
          <a:xfrm>
            <a:off x="640080" y="4572000"/>
            <a:ext cx="457200" cy="457200"/>
          </a:xfrm>
          <a:prstGeom prst="roundRect">
            <a:avLst>
              <a:gd name="adj" fmla="val 14000"/>
            </a:avLst>
          </a:prstGeom>
          <a:solidFill>
            <a:srgbClr val="4CAF50"/>
          </a:solidFill>
          <a:ln/>
        </p:spPr>
      </p:sp>
      <p:sp>
        <p:nvSpPr>
          <p:cNvPr id="28" name="Text 29"/>
          <p:cNvSpPr txBox="1"/>
          <p:nvPr/>
        </p:nvSpPr>
        <p:spPr>
          <a:xfrm>
            <a:off x="640080" y="457200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p>
        </p:txBody>
      </p:sp>
      <p:sp>
        <p:nvSpPr>
          <p:cNvPr id="30" name="Text 31"/>
          <p:cNvSpPr txBox="1"/>
          <p:nvPr/>
        </p:nvSpPr>
        <p:spPr>
          <a:xfrm>
            <a:off x="1325880" y="4572000"/>
            <a:ext cx="5029200" cy="457200"/>
          </a:xfrm>
          <a:prstGeom prst="rect">
            <a:avLst/>
          </a:prstGeom>
          <a:noFill/>
          <a:ln/>
        </p:spPr>
        <p:txBody>
          <a:bodyPr wrap="square" lIns="0" tIns="0" rIns="0" bIns="0" rtlCol="0" anchor="ctr"/>
          <a:lstStyle/>
          <a:p>
            <a:pPr marL="0" indent="0" algn="l">
              <a:lnSpc>
                <a:spcPct val="110000"/>
              </a:lnSpc>
              <a:buNone/>
            </a:pPr>
            <a:r>
              <a:rPr lang="en-US" sz="1400" dirty="0">
                <a:solidFill>
                  <a:srgbClr val="FFFFFF"/>
                </a:solidFill>
                <a:latin typeface="Calibri" pitchFamily="34" charset="0"/>
                <a:ea typeface="Calibri" pitchFamily="34" charset="-122"/>
                <a:cs typeface="Calibri" pitchFamily="34" charset="-120"/>
              </a:rPr>
              <a:t>how this information can inform the design of urban spaces</a:t>
            </a:r>
          </a:p>
        </p:txBody>
      </p:sp>
      <p:sp>
        <p:nvSpPr>
          <p:cNvPr id="32" name="Shape 33"/>
          <p:cNvSpPr/>
          <p:nvPr/>
        </p:nvSpPr>
        <p:spPr>
          <a:xfrm>
            <a:off x="7132320" y="2377440"/>
            <a:ext cx="4389120" cy="3474720"/>
          </a:xfrm>
          <a:prstGeom prst="roundRect">
            <a:avLst>
              <a:gd name="adj" fmla="val 2000"/>
            </a:avLst>
          </a:prstGeom>
          <a:solidFill>
            <a:srgbClr val="F3F6F5"/>
          </a:solidFill>
          <a:ln/>
          <a:effectLst>
            <a:outerShdw blurRad="76200" dist="25400" dir="5400000" algn="bl" rotWithShape="0">
              <a:srgbClr val="A9B4B1">
                <a:alpha val="28000"/>
              </a:srgbClr>
            </a:outerShdw>
          </a:effectLst>
        </p:spPr>
      </p:sp>
      <p:sp>
        <p:nvSpPr>
          <p:cNvPr id="34" name="Text 35"/>
          <p:cNvSpPr txBox="1"/>
          <p:nvPr/>
        </p:nvSpPr>
        <p:spPr>
          <a:xfrm>
            <a:off x="7132320" y="2651760"/>
            <a:ext cx="4389120" cy="320040"/>
          </a:xfrm>
          <a:prstGeom prst="rect">
            <a:avLst/>
          </a:prstGeom>
          <a:noFill/>
          <a:ln/>
        </p:spPr>
        <p:txBody>
          <a:bodyPr wrap="square" lIns="0" tIns="0" rIns="0" bIns="0" rtlCol="0" anchor="ctr"/>
          <a:lstStyle/>
          <a:p>
            <a:pPr marL="0" indent="0" algn="ctr">
              <a:buNone/>
            </a:pPr>
            <a:r>
              <a:rPr lang="en-US" sz="1300" b="1" kern="0" spc="200" dirty="0">
                <a:solidFill>
                  <a:srgbClr val="2E7D32"/>
                </a:solidFill>
                <a:latin typeface="Calibri" pitchFamily="34" charset="0"/>
                <a:ea typeface="Calibri" pitchFamily="34" charset="-122"/>
                <a:cs typeface="Calibri" pitchFamily="34" charset="-120"/>
              </a:rPr>
              <a:t>HUMAN BODY</a:t>
            </a:r>
          </a:p>
        </p:txBody>
      </p:sp>
      <p:sp>
        <p:nvSpPr>
          <p:cNvPr id="36" name="Shape 37"/>
          <p:cNvSpPr/>
          <p:nvPr/>
        </p:nvSpPr>
        <p:spPr>
          <a:xfrm>
            <a:off x="8686800" y="3108960"/>
            <a:ext cx="182880" cy="502920"/>
          </a:xfrm>
          <a:prstGeom prst="upArrow">
            <a:avLst/>
          </a:prstGeom>
          <a:solidFill>
            <a:srgbClr val="607D8B"/>
          </a:solidFill>
          <a:ln/>
        </p:spPr>
      </p:sp>
      <p:sp>
        <p:nvSpPr>
          <p:cNvPr id="38" name="Shape 39"/>
          <p:cNvSpPr/>
          <p:nvPr/>
        </p:nvSpPr>
        <p:spPr>
          <a:xfrm>
            <a:off x="9281160" y="3108960"/>
            <a:ext cx="182880" cy="502920"/>
          </a:xfrm>
          <a:prstGeom prst="upArrow">
            <a:avLst/>
          </a:prstGeom>
          <a:solidFill>
            <a:srgbClr val="607D8B"/>
          </a:solidFill>
          <a:ln/>
        </p:spPr>
      </p:sp>
      <p:sp>
        <p:nvSpPr>
          <p:cNvPr id="40" name="Shape 41"/>
          <p:cNvSpPr/>
          <p:nvPr/>
        </p:nvSpPr>
        <p:spPr>
          <a:xfrm>
            <a:off x="9875520" y="3108960"/>
            <a:ext cx="182880" cy="502920"/>
          </a:xfrm>
          <a:prstGeom prst="upArrow">
            <a:avLst/>
          </a:prstGeom>
          <a:solidFill>
            <a:srgbClr val="607D8B"/>
          </a:solidFill>
          <a:ln/>
        </p:spPr>
      </p:sp>
      <p:sp>
        <p:nvSpPr>
          <p:cNvPr id="42" name="Shape 43"/>
          <p:cNvSpPr/>
          <p:nvPr/>
        </p:nvSpPr>
        <p:spPr>
          <a:xfrm>
            <a:off x="7589520" y="3749040"/>
            <a:ext cx="3474720" cy="502920"/>
          </a:xfrm>
          <a:prstGeom prst="roundRect">
            <a:avLst>
              <a:gd name="adj" fmla="val 12000"/>
            </a:avLst>
          </a:prstGeom>
          <a:solidFill>
            <a:srgbClr val="A9B4B1"/>
          </a:solidFill>
          <a:ln/>
        </p:spPr>
      </p:sp>
      <p:sp>
        <p:nvSpPr>
          <p:cNvPr id="44" name="Shape 45"/>
          <p:cNvSpPr/>
          <p:nvPr/>
        </p:nvSpPr>
        <p:spPr>
          <a:xfrm>
            <a:off x="8686800" y="4389120"/>
            <a:ext cx="182880" cy="502920"/>
          </a:xfrm>
          <a:prstGeom prst="downArrow">
            <a:avLst/>
          </a:prstGeom>
          <a:solidFill>
            <a:srgbClr val="607D8B"/>
          </a:solidFill>
          <a:ln/>
        </p:spPr>
      </p:sp>
      <p:sp>
        <p:nvSpPr>
          <p:cNvPr id="46" name="Shape 47"/>
          <p:cNvSpPr/>
          <p:nvPr/>
        </p:nvSpPr>
        <p:spPr>
          <a:xfrm>
            <a:off x="9281160" y="4389120"/>
            <a:ext cx="182880" cy="502920"/>
          </a:xfrm>
          <a:prstGeom prst="downArrow">
            <a:avLst/>
          </a:prstGeom>
          <a:solidFill>
            <a:srgbClr val="607D8B"/>
          </a:solidFill>
          <a:ln/>
        </p:spPr>
      </p:sp>
      <p:sp>
        <p:nvSpPr>
          <p:cNvPr id="48" name="Shape 49"/>
          <p:cNvSpPr/>
          <p:nvPr/>
        </p:nvSpPr>
        <p:spPr>
          <a:xfrm>
            <a:off x="9875520" y="4389120"/>
            <a:ext cx="182880" cy="502920"/>
          </a:xfrm>
          <a:prstGeom prst="downArrow">
            <a:avLst/>
          </a:prstGeom>
          <a:solidFill>
            <a:srgbClr val="607D8B"/>
          </a:solidFill>
          <a:ln/>
        </p:spPr>
      </p:sp>
      <p:sp>
        <p:nvSpPr>
          <p:cNvPr id="50" name="Text 51"/>
          <p:cNvSpPr txBox="1"/>
          <p:nvPr/>
        </p:nvSpPr>
        <p:spPr>
          <a:xfrm>
            <a:off x="7132320" y="5029200"/>
            <a:ext cx="4389120" cy="320040"/>
          </a:xfrm>
          <a:prstGeom prst="rect">
            <a:avLst/>
          </a:prstGeom>
          <a:noFill/>
          <a:ln/>
        </p:spPr>
        <p:txBody>
          <a:bodyPr wrap="square" lIns="0" tIns="0" rIns="0" bIns="0" rtlCol="0" anchor="ctr"/>
          <a:lstStyle/>
          <a:p>
            <a:pPr marL="0" indent="0" algn="ctr">
              <a:buNone/>
            </a:pPr>
            <a:r>
              <a:rPr lang="en-US" sz="1300" b="1" kern="0" spc="200" dirty="0">
                <a:solidFill>
                  <a:srgbClr val="8D6E63"/>
                </a:solidFill>
                <a:latin typeface="Calibri" pitchFamily="34" charset="0"/>
                <a:ea typeface="Calibri" pitchFamily="34" charset="-122"/>
                <a:cs typeface="Calibri" pitchFamily="34" charset="-120"/>
              </a:rPr>
              <a:t>URBAN GROUND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2">
    <p:bg>
      <p:bgPr>
        <a:solidFill>
          <a:srgbClr val="002451"/>
        </a:solidFill>
        <a:effectLst/>
      </p:bgPr>
    </p:bg>
    <p:spTree>
      <p:nvGrpSpPr>
        <p:cNvPr id="1" name=""/>
        <p:cNvGrpSpPr/>
        <p:nvPr/>
      </p:nvGrpSpPr>
      <p:grpSpPr>
        <a:xfrm>
          <a:off x="0" y="0"/>
          <a:ext cx="0" cy="0"/>
          <a:chOff x="0" y="0"/>
          <a:chExt cx="0" cy="0"/>
        </a:xfrm>
      </p:grpSpPr>
      <p:sp>
        <p:nvSpPr>
          <p:cNvPr id="2" name="Shape 0"/>
          <p:cNvSpPr/>
          <p:nvPr/>
        </p:nvSpPr>
        <p:spPr>
          <a:xfrm>
            <a:off x="640080" y="502920"/>
            <a:ext cx="384048" cy="384048"/>
          </a:xfrm>
          <a:prstGeom prst="roundRect">
            <a:avLst>
              <a:gd name="adj" fmla="val 14286"/>
            </a:avLst>
          </a:prstGeom>
          <a:solidFill>
            <a:srgbClr val="607D8B"/>
          </a:solidFill>
          <a:ln/>
        </p:spPr>
      </p:sp>
      <p:sp>
        <p:nvSpPr>
          <p:cNvPr id="3" name="Text 1"/>
          <p:cNvSpPr txBox="1"/>
          <p:nvPr/>
        </p:nvSpPr>
        <p:spPr>
          <a:xfrm>
            <a:off x="640080" y="50292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02</a:t>
            </a:r>
            <a:endParaRPr lang="en-US" sz="1500" dirty="0"/>
          </a:p>
        </p:txBody>
      </p:sp>
      <p:sp>
        <p:nvSpPr>
          <p:cNvPr id="4" name="Text 2"/>
          <p:cNvSpPr txBox="1"/>
          <p:nvPr/>
        </p:nvSpPr>
        <p:spPr>
          <a:xfrm>
            <a:off x="1115568" y="502920"/>
            <a:ext cx="8229600" cy="384048"/>
          </a:xfrm>
          <a:prstGeom prst="rect">
            <a:avLst/>
          </a:prstGeom>
          <a:noFill/>
          <a:ln/>
        </p:spPr>
        <p:txBody>
          <a:bodyPr wrap="square" lIns="0" tIns="0" rIns="0" bIns="0" rtlCol="0" anchor="ctr"/>
          <a:lstStyle/>
          <a:p>
            <a:pPr marL="0" indent="0" algn="l">
              <a:buNone/>
            </a:pPr>
            <a:r>
              <a:rPr lang="en-US" sz="1300" b="1" kern="0" spc="200" dirty="0">
                <a:solidFill>
                  <a:srgbClr val="A9B4B1"/>
                </a:solidFill>
                <a:latin typeface="Calibri" pitchFamily="34" charset="0"/>
                <a:ea typeface="Calibri" pitchFamily="34" charset="-122"/>
                <a:cs typeface="Calibri" pitchFamily="34" charset="-120"/>
              </a:rPr>
              <a:t>OBJECTIVES</a:t>
            </a:r>
            <a:endParaRPr lang="en-US" sz="1300" dirty="0"/>
          </a:p>
        </p:txBody>
      </p:sp>
      <p:sp>
        <p:nvSpPr>
          <p:cNvPr id="5" name="Text 3"/>
          <p:cNvSpPr txBox="1"/>
          <p:nvPr/>
        </p:nvSpPr>
        <p:spPr>
          <a:xfrm>
            <a:off x="640080" y="960120"/>
            <a:ext cx="10881360" cy="731520"/>
          </a:xfrm>
          <a:prstGeom prst="rect">
            <a:avLst/>
          </a:prstGeom>
          <a:noFill/>
          <a:ln/>
        </p:spPr>
        <p:txBody>
          <a:bodyPr wrap="square" lIns="0" tIns="0" rIns="0" bIns="0" rtlCol="0" anchor="ctr"/>
          <a:lstStyle/>
          <a:p>
            <a:pPr marL="0" indent="0" algn="l">
              <a:buNone/>
            </a:pPr>
            <a:r>
              <a:rPr lang="en-US" sz="3000" b="1" dirty="0">
                <a:solidFill>
                  <a:srgbClr val="FFFFFF"/>
                </a:solidFill>
                <a:latin typeface="Cambria" pitchFamily="34" charset="0"/>
                <a:ea typeface="Cambria" pitchFamily="34" charset="-122"/>
                <a:cs typeface="Cambria" pitchFamily="34" charset="-120"/>
              </a:rPr>
              <a:t>What GroundWalks sets out to explore</a:t>
            </a:r>
            <a:endParaRPr lang="en-US" sz="3000" dirty="0"/>
          </a:p>
        </p:txBody>
      </p:sp>
      <p:sp>
        <p:nvSpPr>
          <p:cNvPr id="6" name="Text 4"/>
          <p:cNvSpPr txBox="1"/>
          <p:nvPr/>
        </p:nvSpPr>
        <p:spPr>
          <a:xfrm>
            <a:off x="640080" y="1691640"/>
            <a:ext cx="10881360" cy="640080"/>
          </a:xfrm>
          <a:prstGeom prst="rect">
            <a:avLst/>
          </a:prstGeom>
          <a:noFill/>
          <a:ln/>
        </p:spPr>
        <p:txBody>
          <a:bodyPr wrap="square" lIns="0" tIns="0" rIns="0" bIns="0" rtlCol="0" anchor="t"/>
          <a:lstStyle/>
          <a:p>
            <a:pPr marL="0" indent="0" algn="l">
              <a:lnSpc>
                <a:spcPct val="110000"/>
              </a:lnSpc>
              <a:buNone/>
            </a:pPr>
            <a:r>
              <a:rPr lang="en-US" sz="1400" dirty="0">
                <a:solidFill>
                  <a:srgbClr val="A9B4B1"/>
                </a:solidFill>
                <a:latin typeface="Calibri" pitchFamily="34" charset="0"/>
                <a:ea typeface="Calibri" pitchFamily="34" charset="-122"/>
                <a:cs typeface="Calibri" pitchFamily="34" charset="-120"/>
              </a:rPr>
              <a:t>GroundWalks leverages next-generation insole pressure sensors to understand the grounds we walk on, the human experience of walking in cities, and its impact on health and urban design.</a:t>
            </a:r>
            <a:endParaRPr lang="en-US" sz="1400" dirty="0"/>
          </a:p>
        </p:txBody>
      </p:sp>
      <p:sp>
        <p:nvSpPr>
          <p:cNvPr id="7" name="Shape 5"/>
          <p:cNvSpPr/>
          <p:nvPr/>
        </p:nvSpPr>
        <p:spPr>
          <a:xfrm>
            <a:off x="640080" y="2468880"/>
            <a:ext cx="3474720" cy="3200400"/>
          </a:xfrm>
          <a:prstGeom prst="roundRect">
            <a:avLst>
              <a:gd name="adj" fmla="val 2000"/>
            </a:avLst>
          </a:prstGeom>
          <a:solidFill>
            <a:srgbClr val="F3F6F5"/>
          </a:solidFill>
          <a:ln/>
          <a:effectLst>
            <a:outerShdw blurRad="76200" dist="25400" dir="5400000" algn="bl" rotWithShape="0">
              <a:srgbClr val="A9B4B1">
                <a:alpha val="28000"/>
              </a:srgbClr>
            </a:outerShdw>
          </a:effectLst>
        </p:spPr>
      </p:sp>
      <p:sp>
        <p:nvSpPr>
          <p:cNvPr id="8" name="Shape 6"/>
          <p:cNvSpPr/>
          <p:nvPr/>
        </p:nvSpPr>
        <p:spPr>
          <a:xfrm>
            <a:off x="896112" y="2743200"/>
            <a:ext cx="457200" cy="457200"/>
          </a:xfrm>
          <a:prstGeom prst="roundRect">
            <a:avLst>
              <a:gd name="adj" fmla="val 14000"/>
            </a:avLst>
          </a:prstGeom>
          <a:solidFill>
            <a:srgbClr val="4CAF50"/>
          </a:solidFill>
          <a:ln/>
        </p:spPr>
      </p:sp>
      <p:sp>
        <p:nvSpPr>
          <p:cNvPr id="9" name="Text 7"/>
          <p:cNvSpPr txBox="1"/>
          <p:nvPr/>
        </p:nvSpPr>
        <p:spPr>
          <a:xfrm>
            <a:off x="896112" y="274320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Text 8"/>
          <p:cNvSpPr txBox="1"/>
          <p:nvPr/>
        </p:nvSpPr>
        <p:spPr>
          <a:xfrm>
            <a:off x="1508760" y="2798064"/>
            <a:ext cx="2377440" cy="365760"/>
          </a:xfrm>
          <a:prstGeom prst="rect">
            <a:avLst/>
          </a:prstGeom>
          <a:noFill/>
          <a:ln/>
        </p:spPr>
        <p:txBody>
          <a:bodyPr wrap="square" lIns="0" tIns="0" rIns="0" bIns="0" rtlCol="0" anchor="ctr"/>
          <a:lstStyle/>
          <a:p>
            <a:pPr marL="0" indent="0" algn="l">
              <a:buNone/>
            </a:pPr>
            <a:r>
              <a:rPr lang="en-US" sz="1000" b="1" kern="0" spc="150" dirty="0">
                <a:solidFill>
                  <a:srgbClr val="4CAF50"/>
                </a:solidFill>
                <a:latin typeface="Calibri" pitchFamily="34" charset="0"/>
                <a:ea typeface="Calibri" pitchFamily="34" charset="-122"/>
                <a:cs typeface="Calibri" pitchFamily="34" charset="-120"/>
              </a:rPr>
              <a:t>CORE</a:t>
            </a:r>
            <a:endParaRPr lang="en-US" sz="1000" dirty="0"/>
          </a:p>
        </p:txBody>
      </p:sp>
      <p:sp>
        <p:nvSpPr>
          <p:cNvPr id="11" name="Text 9"/>
          <p:cNvSpPr txBox="1"/>
          <p:nvPr/>
        </p:nvSpPr>
        <p:spPr>
          <a:xfrm>
            <a:off x="896112" y="3383280"/>
            <a:ext cx="2962656" cy="731520"/>
          </a:xfrm>
          <a:prstGeom prst="rect">
            <a:avLst/>
          </a:prstGeom>
          <a:noFill/>
          <a:ln/>
        </p:spPr>
        <p:txBody>
          <a:bodyPr wrap="square" lIns="0" tIns="0" rIns="0" bIns="0" rtlCol="0" anchor="t"/>
          <a:lstStyle/>
          <a:p>
            <a:pPr marL="0" indent="0" algn="l">
              <a:buNone/>
            </a:pPr>
            <a:r>
              <a:rPr lang="en-US" sz="1800" b="1" dirty="0">
                <a:solidFill>
                  <a:srgbClr val="1B2A30"/>
                </a:solidFill>
                <a:latin typeface="Cambria" pitchFamily="34" charset="0"/>
                <a:ea typeface="Cambria" pitchFamily="34" charset="-122"/>
                <a:cs typeface="Cambria" pitchFamily="34" charset="-120"/>
              </a:rPr>
              <a:t>Detecting ground conditions</a:t>
            </a:r>
            <a:endParaRPr lang="en-US" sz="1800" dirty="0"/>
          </a:p>
        </p:txBody>
      </p:sp>
      <p:sp>
        <p:nvSpPr>
          <p:cNvPr id="12" name="Text 10"/>
          <p:cNvSpPr txBox="1"/>
          <p:nvPr/>
        </p:nvSpPr>
        <p:spPr>
          <a:xfrm>
            <a:off x="896112" y="4069080"/>
            <a:ext cx="2962656" cy="1371600"/>
          </a:xfrm>
          <a:prstGeom prst="rect">
            <a:avLst/>
          </a:prstGeom>
          <a:noFill/>
          <a:ln/>
        </p:spPr>
        <p:txBody>
          <a:bodyPr wrap="square" lIns="0" tIns="0" rIns="0" bIns="0" rtlCol="0" anchor="t"/>
          <a:lstStyle/>
          <a:p>
            <a:pPr marL="0" indent="0" algn="l">
              <a:lnSpc>
                <a:spcPct val="112000"/>
              </a:lnSpc>
              <a:buNone/>
            </a:pPr>
            <a:r>
              <a:rPr lang="en-US" sz="1350" dirty="0">
                <a:solidFill>
                  <a:srgbClr val="6B7772"/>
                </a:solidFill>
                <a:latin typeface="Calibri" pitchFamily="34" charset="0"/>
                <a:ea typeface="Calibri" pitchFamily="34" charset="-122"/>
                <a:cs typeface="Calibri" pitchFamily="34" charset="-120"/>
              </a:rPr>
              <a:t>How can different ground conditions be detected from the data the insoles capture?</a:t>
            </a:r>
            <a:endParaRPr lang="en-US" sz="1350" dirty="0"/>
          </a:p>
        </p:txBody>
      </p:sp>
      <p:sp>
        <p:nvSpPr>
          <p:cNvPr id="13" name="Shape 11"/>
          <p:cNvSpPr/>
          <p:nvPr/>
        </p:nvSpPr>
        <p:spPr>
          <a:xfrm>
            <a:off x="4343400" y="2468880"/>
            <a:ext cx="3474720" cy="3200400"/>
          </a:xfrm>
          <a:prstGeom prst="roundRect">
            <a:avLst>
              <a:gd name="adj" fmla="val 2000"/>
            </a:avLst>
          </a:prstGeom>
          <a:solidFill>
            <a:srgbClr val="F3F6F5"/>
          </a:solidFill>
          <a:ln/>
          <a:effectLst>
            <a:outerShdw blurRad="76200" dist="25400" dir="5400000" algn="bl" rotWithShape="0">
              <a:srgbClr val="A9B4B1">
                <a:alpha val="28000"/>
              </a:srgbClr>
            </a:outerShdw>
          </a:effectLst>
        </p:spPr>
      </p:sp>
      <p:sp>
        <p:nvSpPr>
          <p:cNvPr id="14" name="Shape 12"/>
          <p:cNvSpPr/>
          <p:nvPr/>
        </p:nvSpPr>
        <p:spPr>
          <a:xfrm>
            <a:off x="4599432" y="2743200"/>
            <a:ext cx="457200" cy="457200"/>
          </a:xfrm>
          <a:prstGeom prst="roundRect">
            <a:avLst>
              <a:gd name="adj" fmla="val 14000"/>
            </a:avLst>
          </a:prstGeom>
          <a:solidFill>
            <a:srgbClr val="607D8B"/>
          </a:solidFill>
          <a:ln/>
        </p:spPr>
      </p:sp>
      <p:sp>
        <p:nvSpPr>
          <p:cNvPr id="15" name="Text 13"/>
          <p:cNvSpPr txBox="1"/>
          <p:nvPr/>
        </p:nvSpPr>
        <p:spPr>
          <a:xfrm>
            <a:off x="4599432" y="274320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Text 14"/>
          <p:cNvSpPr txBox="1"/>
          <p:nvPr/>
        </p:nvSpPr>
        <p:spPr>
          <a:xfrm>
            <a:off x="5212080" y="2798064"/>
            <a:ext cx="2377440" cy="365760"/>
          </a:xfrm>
          <a:prstGeom prst="rect">
            <a:avLst/>
          </a:prstGeom>
          <a:noFill/>
          <a:ln/>
        </p:spPr>
        <p:txBody>
          <a:bodyPr wrap="square" lIns="0" tIns="0" rIns="0" bIns="0" rtlCol="0" anchor="ctr"/>
          <a:lstStyle/>
          <a:p>
            <a:pPr marL="0" indent="0" algn="l">
              <a:buNone/>
            </a:pPr>
            <a:r>
              <a:rPr lang="en-US" sz="1000" b="1" kern="0" spc="150" dirty="0">
                <a:solidFill>
                  <a:srgbClr val="607D8B"/>
                </a:solidFill>
                <a:latin typeface="Calibri" pitchFamily="34" charset="0"/>
                <a:ea typeface="Calibri" pitchFamily="34" charset="-122"/>
                <a:cs typeface="Calibri" pitchFamily="34" charset="-120"/>
              </a:rPr>
              <a:t>CORE</a:t>
            </a:r>
            <a:endParaRPr lang="en-US" sz="1000" dirty="0"/>
          </a:p>
        </p:txBody>
      </p:sp>
      <p:sp>
        <p:nvSpPr>
          <p:cNvPr id="17" name="Text 15"/>
          <p:cNvSpPr txBox="1"/>
          <p:nvPr/>
        </p:nvSpPr>
        <p:spPr>
          <a:xfrm>
            <a:off x="4599432" y="3383280"/>
            <a:ext cx="2962656" cy="731520"/>
          </a:xfrm>
          <a:prstGeom prst="rect">
            <a:avLst/>
          </a:prstGeom>
          <a:noFill/>
          <a:ln/>
        </p:spPr>
        <p:txBody>
          <a:bodyPr wrap="square" lIns="0" tIns="0" rIns="0" bIns="0" rtlCol="0" anchor="t"/>
          <a:lstStyle/>
          <a:p>
            <a:pPr marL="0" indent="0" algn="l">
              <a:buNone/>
            </a:pPr>
            <a:r>
              <a:rPr lang="en-US" sz="1800" b="1" dirty="0">
                <a:solidFill>
                  <a:srgbClr val="1B2A30"/>
                </a:solidFill>
                <a:latin typeface="Cambria" pitchFamily="34" charset="0"/>
                <a:ea typeface="Cambria" pitchFamily="34" charset="-122"/>
                <a:cs typeface="Cambria" pitchFamily="34" charset="-120"/>
              </a:rPr>
              <a:t>Walking &amp; health</a:t>
            </a:r>
            <a:endParaRPr lang="en-US" sz="1800" dirty="0"/>
          </a:p>
        </p:txBody>
      </p:sp>
      <p:sp>
        <p:nvSpPr>
          <p:cNvPr id="18" name="Text 16"/>
          <p:cNvSpPr txBox="1"/>
          <p:nvPr/>
        </p:nvSpPr>
        <p:spPr>
          <a:xfrm>
            <a:off x="4599432" y="4069080"/>
            <a:ext cx="2962656" cy="1371600"/>
          </a:xfrm>
          <a:prstGeom prst="rect">
            <a:avLst/>
          </a:prstGeom>
          <a:noFill/>
          <a:ln/>
        </p:spPr>
        <p:txBody>
          <a:bodyPr wrap="square" lIns="0" tIns="0" rIns="0" bIns="0" rtlCol="0" anchor="t"/>
          <a:lstStyle/>
          <a:p>
            <a:pPr marL="0" indent="0" algn="l">
              <a:lnSpc>
                <a:spcPct val="112000"/>
              </a:lnSpc>
              <a:buNone/>
            </a:pPr>
            <a:r>
              <a:rPr lang="en-US" sz="1350" dirty="0">
                <a:solidFill>
                  <a:srgbClr val="6B7772"/>
                </a:solidFill>
                <a:latin typeface="Calibri" pitchFamily="34" charset="0"/>
                <a:ea typeface="Calibri" pitchFamily="34" charset="-122"/>
                <a:cs typeface="Calibri" pitchFamily="34" charset="-120"/>
              </a:rPr>
              <a:t>How do the various surfaces we walk on affect our health — mental and physical?</a:t>
            </a:r>
            <a:endParaRPr lang="en-US" sz="1350" dirty="0"/>
          </a:p>
        </p:txBody>
      </p:sp>
      <p:sp>
        <p:nvSpPr>
          <p:cNvPr id="19" name="Shape 17"/>
          <p:cNvSpPr/>
          <p:nvPr/>
        </p:nvSpPr>
        <p:spPr>
          <a:xfrm>
            <a:off x="8046720" y="2468880"/>
            <a:ext cx="3474720" cy="3200400"/>
          </a:xfrm>
          <a:prstGeom prst="roundRect">
            <a:avLst>
              <a:gd name="adj" fmla="val 2000"/>
            </a:avLst>
          </a:prstGeom>
          <a:solidFill>
            <a:srgbClr val="F3F6F5"/>
          </a:solidFill>
          <a:ln/>
          <a:effectLst>
            <a:outerShdw blurRad="76200" dist="25400" dir="5400000" algn="bl" rotWithShape="0">
              <a:srgbClr val="A9B4B1">
                <a:alpha val="28000"/>
              </a:srgbClr>
            </a:outerShdw>
          </a:effectLst>
        </p:spPr>
      </p:sp>
      <p:sp>
        <p:nvSpPr>
          <p:cNvPr id="20" name="Shape 18"/>
          <p:cNvSpPr/>
          <p:nvPr/>
        </p:nvSpPr>
        <p:spPr>
          <a:xfrm>
            <a:off x="8302752" y="2743200"/>
            <a:ext cx="457200" cy="457200"/>
          </a:xfrm>
          <a:prstGeom prst="roundRect">
            <a:avLst>
              <a:gd name="adj" fmla="val 14000"/>
            </a:avLst>
          </a:prstGeom>
          <a:solidFill>
            <a:srgbClr val="8D6E63"/>
          </a:solidFill>
          <a:ln/>
        </p:spPr>
      </p:sp>
      <p:sp>
        <p:nvSpPr>
          <p:cNvPr id="21" name="Text 19"/>
          <p:cNvSpPr txBox="1"/>
          <p:nvPr/>
        </p:nvSpPr>
        <p:spPr>
          <a:xfrm>
            <a:off x="8302752" y="274320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Text 20"/>
          <p:cNvSpPr txBox="1"/>
          <p:nvPr/>
        </p:nvSpPr>
        <p:spPr>
          <a:xfrm>
            <a:off x="8915400" y="2798064"/>
            <a:ext cx="2377440" cy="365760"/>
          </a:xfrm>
          <a:prstGeom prst="rect">
            <a:avLst/>
          </a:prstGeom>
          <a:noFill/>
          <a:ln/>
        </p:spPr>
        <p:txBody>
          <a:bodyPr wrap="square" lIns="0" tIns="0" rIns="0" bIns="0" rtlCol="0" anchor="ctr"/>
          <a:lstStyle/>
          <a:p>
            <a:pPr marL="0" indent="0" algn="l">
              <a:buNone/>
            </a:pPr>
            <a:r>
              <a:rPr lang="en-US" sz="1000" b="1" kern="0" spc="150" dirty="0">
                <a:solidFill>
                  <a:srgbClr val="AEBCB8"/>
                </a:solidFill>
                <a:latin typeface="Calibri" pitchFamily="34" charset="0"/>
                <a:ea typeface="Calibri" pitchFamily="34" charset="-122"/>
                <a:cs typeface="Calibri" pitchFamily="34" charset="-120"/>
              </a:rPr>
              <a:t>EXPLORATORY</a:t>
            </a:r>
            <a:endParaRPr lang="en-US" sz="1000" dirty="0"/>
          </a:p>
        </p:txBody>
      </p:sp>
      <p:sp>
        <p:nvSpPr>
          <p:cNvPr id="23" name="Text 21"/>
          <p:cNvSpPr txBox="1"/>
          <p:nvPr/>
        </p:nvSpPr>
        <p:spPr>
          <a:xfrm>
            <a:off x="8302752" y="3383280"/>
            <a:ext cx="2962656" cy="731520"/>
          </a:xfrm>
          <a:prstGeom prst="rect">
            <a:avLst/>
          </a:prstGeom>
          <a:noFill/>
          <a:ln/>
        </p:spPr>
        <p:txBody>
          <a:bodyPr wrap="square" lIns="0" tIns="0" rIns="0" bIns="0" rtlCol="0" anchor="t"/>
          <a:lstStyle/>
          <a:p>
            <a:pPr marL="0" indent="0" algn="l">
              <a:buNone/>
            </a:pPr>
            <a:r>
              <a:rPr lang="en-US" sz="1800" b="1" dirty="0">
                <a:solidFill>
                  <a:srgbClr val="1B2A30"/>
                </a:solidFill>
                <a:latin typeface="Cambria" pitchFamily="34" charset="0"/>
                <a:ea typeface="Cambria" pitchFamily="34" charset="-122"/>
                <a:cs typeface="Cambria" pitchFamily="34" charset="-120"/>
              </a:rPr>
              <a:t>Toward walkability</a:t>
            </a:r>
            <a:endParaRPr lang="en-US" sz="1800" dirty="0"/>
          </a:p>
        </p:txBody>
      </p:sp>
      <p:sp>
        <p:nvSpPr>
          <p:cNvPr id="24" name="Text 22"/>
          <p:cNvSpPr txBox="1"/>
          <p:nvPr/>
        </p:nvSpPr>
        <p:spPr>
          <a:xfrm>
            <a:off x="8302752" y="4069080"/>
            <a:ext cx="2962656" cy="1371600"/>
          </a:xfrm>
          <a:prstGeom prst="rect">
            <a:avLst/>
          </a:prstGeom>
          <a:noFill/>
          <a:ln/>
        </p:spPr>
        <p:txBody>
          <a:bodyPr wrap="square" lIns="0" tIns="0" rIns="0" bIns="0" rtlCol="0" anchor="t"/>
          <a:lstStyle/>
          <a:p>
            <a:pPr marL="0" indent="0" algn="l">
              <a:lnSpc>
                <a:spcPct val="112000"/>
              </a:lnSpc>
              <a:buNone/>
            </a:pPr>
            <a:r>
              <a:rPr lang="en-US" sz="1350" dirty="0">
                <a:solidFill>
                  <a:srgbClr val="6B7772"/>
                </a:solidFill>
                <a:latin typeface="Calibri" pitchFamily="34" charset="0"/>
                <a:ea typeface="Calibri" pitchFamily="34" charset="-122"/>
                <a:cs typeface="Calibri" pitchFamily="34" charset="-120"/>
              </a:rPr>
              <a:t>How might the data and models be used to improve urban walkability?</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Background - gait cycle">
    <p:bg>
      <p:bgPr>
        <a:solidFill>
          <a:srgbClr val="002451"/>
        </a:solidFill>
        <a:effectLst/>
      </p:bgPr>
    </p:bg>
    <p:spTree>
      <p:nvGrpSpPr>
        <p:cNvPr id="1" name=""/>
        <p:cNvGrpSpPr/>
        <p:nvPr/>
      </p:nvGrpSpPr>
      <p:grpSpPr>
        <a:xfrm>
          <a:off x="0" y="0"/>
          <a:ext cx="0" cy="0"/>
          <a:chOff x="0" y="0"/>
          <a:chExt cx="0" cy="0"/>
        </a:xfrm>
      </p:grpSpPr>
      <p:sp>
        <p:nvSpPr>
          <p:cNvPr id="2" name="Shape 3"/>
          <p:cNvSpPr/>
          <p:nvPr/>
        </p:nvSpPr>
        <p:spPr>
          <a:xfrm>
            <a:off x="640080" y="502920"/>
            <a:ext cx="384048" cy="384048"/>
          </a:xfrm>
          <a:prstGeom prst="roundRect">
            <a:avLst>
              <a:gd name="adj" fmla="val 14286"/>
            </a:avLst>
          </a:prstGeom>
          <a:solidFill>
            <a:srgbClr val="8A9A95"/>
          </a:solidFill>
          <a:ln/>
        </p:spPr>
      </p:sp>
      <p:sp>
        <p:nvSpPr>
          <p:cNvPr id="4" name="Text 5"/>
          <p:cNvSpPr txBox="1"/>
          <p:nvPr/>
        </p:nvSpPr>
        <p:spPr>
          <a:xfrm>
            <a:off x="640080" y="50292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03</a:t>
            </a:r>
          </a:p>
        </p:txBody>
      </p:sp>
      <p:sp>
        <p:nvSpPr>
          <p:cNvPr id="6" name="Text 7"/>
          <p:cNvSpPr txBox="1"/>
          <p:nvPr/>
        </p:nvSpPr>
        <p:spPr>
          <a:xfrm>
            <a:off x="1115568" y="502920"/>
            <a:ext cx="8229600" cy="384048"/>
          </a:xfrm>
          <a:prstGeom prst="rect">
            <a:avLst/>
          </a:prstGeom>
          <a:noFill/>
          <a:ln/>
        </p:spPr>
        <p:txBody>
          <a:bodyPr wrap="square" lIns="0" tIns="0" rIns="0" bIns="0" rtlCol="0" anchor="ctr"/>
          <a:lstStyle/>
          <a:p>
            <a:pPr marL="0" indent="0" algn="l">
              <a:buNone/>
            </a:pPr>
            <a:r>
              <a:rPr lang="en-US" sz="1300" b="1" kern="0" spc="200" dirty="0">
                <a:solidFill>
                  <a:srgbClr val="A9B4B1"/>
                </a:solidFill>
                <a:latin typeface="Calibri" pitchFamily="34" charset="0"/>
                <a:ea typeface="Calibri" pitchFamily="34" charset="-122"/>
                <a:cs typeface="Calibri" pitchFamily="34" charset="-120"/>
              </a:rPr>
              <a:t>BACKGROUND</a:t>
            </a:r>
          </a:p>
        </p:txBody>
      </p:sp>
      <p:sp>
        <p:nvSpPr>
          <p:cNvPr id="8" name="Text 9"/>
          <p:cNvSpPr txBox="1"/>
          <p:nvPr/>
        </p:nvSpPr>
        <p:spPr>
          <a:xfrm>
            <a:off x="640080" y="960120"/>
            <a:ext cx="10881360" cy="731520"/>
          </a:xfrm>
          <a:prstGeom prst="rect">
            <a:avLst/>
          </a:prstGeom>
          <a:noFill/>
          <a:ln/>
        </p:spPr>
        <p:txBody>
          <a:bodyPr wrap="square" lIns="0" tIns="0" rIns="0" bIns="0" rtlCol="0" anchor="ctr"/>
          <a:lstStyle/>
          <a:p>
            <a:pPr marL="0" indent="0" algn="l">
              <a:buNone/>
            </a:pPr>
            <a:r>
              <a:rPr lang="en-US" sz="3000" b="1" dirty="0">
                <a:solidFill>
                  <a:srgbClr val="FFFFFF"/>
                </a:solidFill>
                <a:latin typeface="Cambria" pitchFamily="34" charset="0"/>
                <a:ea typeface="Cambria" pitchFamily="34" charset="-122"/>
                <a:cs typeface="Cambria" pitchFamily="34" charset="-120"/>
              </a:rPr>
              <a:t>The gait cycle and gait events</a:t>
            </a:r>
          </a:p>
        </p:txBody>
      </p:sp>
      <p:pic>
        <p:nvPicPr>
          <p:cNvPr id="10" name="Image 11" descr="The gait cycle and gait events"/>
          <p:cNvPicPr>
            <a:picLocks noChangeAspect="1"/>
          </p:cNvPicPr>
          <p:nvPr/>
        </p:nvPicPr>
        <p:blipFill>
          <a:blip r:embed="rId3"/>
          <a:stretch>
            <a:fillRect/>
          </a:stretch>
        </p:blipFill>
        <p:spPr>
          <a:xfrm>
            <a:off x="640080" y="2103120"/>
            <a:ext cx="4937760" cy="2845945"/>
          </a:xfrm>
          <a:prstGeom prst="rect">
            <a:avLst/>
          </a:prstGeom>
        </p:spPr>
      </p:pic>
      <p:sp>
        <p:nvSpPr>
          <p:cNvPr id="12" name="Text 13"/>
          <p:cNvSpPr txBox="1"/>
          <p:nvPr/>
        </p:nvSpPr>
        <p:spPr>
          <a:xfrm>
            <a:off x="640080" y="5086225"/>
            <a:ext cx="4937760" cy="457200"/>
          </a:xfrm>
          <a:prstGeom prst="rect">
            <a:avLst/>
          </a:prstGeom>
          <a:noFill/>
          <a:ln/>
        </p:spPr>
        <p:txBody>
          <a:bodyPr wrap="square" lIns="0" tIns="0" rIns="0" bIns="0" rtlCol="0" anchor="t"/>
          <a:lstStyle/>
          <a:p>
            <a:pPr marL="0" indent="0" algn="l">
              <a:lnSpc>
                <a:spcPct val="110000"/>
              </a:lnSpc>
              <a:buNone/>
            </a:pPr>
            <a:r>
              <a:rPr lang="en-US" sz="1000" i="1" dirty="0">
                <a:solidFill>
                  <a:srgbClr val="A9B4B1"/>
                </a:solidFill>
                <a:latin typeface="Calibri" pitchFamily="34" charset="0"/>
                <a:ea typeface="Calibri" pitchFamily="34" charset="-122"/>
                <a:cs typeface="Calibri" pitchFamily="34" charset="-120"/>
              </a:rPr>
              <a:t>Figure 1, “The gait cycle and gait events” — Aqueveque, Germany, Osorio &amp; Pastene, Sensors 2020, 20(3), 656 (CC BY). mdpi.com/1424-8220/20/3/656</a:t>
            </a:r>
          </a:p>
        </p:txBody>
      </p:sp>
      <p:sp>
        <p:nvSpPr>
          <p:cNvPr id="14" name="Shape 15"/>
          <p:cNvSpPr/>
          <p:nvPr/>
        </p:nvSpPr>
        <p:spPr>
          <a:xfrm>
            <a:off x="6035040" y="1920240"/>
            <a:ext cx="5486400" cy="4023360"/>
          </a:xfrm>
          <a:prstGeom prst="roundRect">
            <a:avLst>
              <a:gd name="adj" fmla="val 2000"/>
            </a:avLst>
          </a:prstGeom>
          <a:solidFill>
            <a:srgbClr val="F3F6F5"/>
          </a:solidFill>
          <a:ln/>
          <a:effectLst>
            <a:outerShdw blurRad="76200" dist="25400" dir="5400000" algn="bl" rotWithShape="0">
              <a:srgbClr val="A9B4B1">
                <a:alpha val="28000"/>
              </a:srgbClr>
            </a:outerShdw>
          </a:effectLst>
        </p:spPr>
      </p:sp>
      <p:sp>
        <p:nvSpPr>
          <p:cNvPr id="16" name="Text 17"/>
          <p:cNvSpPr txBox="1"/>
          <p:nvPr/>
        </p:nvSpPr>
        <p:spPr>
          <a:xfrm>
            <a:off x="6400800" y="2240280"/>
            <a:ext cx="4754880" cy="3383280"/>
          </a:xfrm>
          <a:prstGeom prst="rect">
            <a:avLst/>
          </a:prstGeom>
          <a:noFill/>
          <a:ln/>
        </p:spPr>
        <p:txBody>
          <a:bodyPr wrap="square" lIns="0" tIns="0" rIns="0" bIns="0" rtlCol="0" anchor="t"/>
          <a:lstStyle/>
          <a:p>
            <a:pPr marL="0" indent="0" algn="l">
              <a:lnSpc>
                <a:spcPct val="140000"/>
              </a:lnSpc>
              <a:buNone/>
            </a:pPr>
            <a:r>
              <a:rPr lang="en-US" sz="1250" dirty="0">
                <a:solidFill>
                  <a:srgbClr val="6B7772"/>
                </a:solidFill>
                <a:latin typeface="Calibri" pitchFamily="34" charset="0"/>
                <a:ea typeface="Calibri" pitchFamily="34" charset="-122"/>
                <a:cs typeface="Calibri" pitchFamily="34" charset="-120"/>
              </a:rPr>
              <a:t>A gait cycle runs from one heel strike to the next. For roughly 60% of it — the stance phase — the foot is on the ground, moving through loading response, mid stance and heel rise before toe off. The remaining 40% is swing, when the foot travels forward and carries no load at all.</a:t>
            </a:r>
          </a:p>
          <a:p>
            <a:pPr marL="0" indent="0" algn="l">
              <a:lnSpc>
                <a:spcPct val="140000"/>
              </a:lnSpc>
              <a:spcBef>
                <a:spcPts val="900"/>
              </a:spcBef>
              <a:buNone/>
            </a:pPr>
            <a:r>
              <a:rPr lang="en-US" sz="1250" dirty="0">
                <a:solidFill>
                  <a:srgbClr val="6B7772"/>
                </a:solidFill>
                <a:latin typeface="Calibri" pitchFamily="34" charset="0"/>
                <a:ea typeface="Calibri" pitchFamily="34" charset="-122"/>
                <a:cs typeface="Calibri" pitchFamily="34" charset="-120"/>
              </a:rPr>
              <a:t>Because pressure registers only during stance, that window is where every feature comes from. Feature constructing at the nexus of physiotherapy, urban design and public health draws on the accelerometer impact peak at heel strike and the loading rate that follows it, pressure distribution entropy during mid-stance, the spectral energy ratio between high and low frequencies, and the step-to-step variability of each measure across a walk.</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3">
    <p:bg>
      <p:bgPr>
        <a:solidFill>
          <a:srgbClr val="002451"/>
        </a:solidFill>
        <a:effectLst/>
      </p:bgPr>
    </p:bg>
    <p:spTree>
      <p:nvGrpSpPr>
        <p:cNvPr id="1" name=""/>
        <p:cNvGrpSpPr/>
        <p:nvPr/>
      </p:nvGrpSpPr>
      <p:grpSpPr>
        <a:xfrm>
          <a:off x="0" y="0"/>
          <a:ext cx="0" cy="0"/>
          <a:chOff x="0" y="0"/>
          <a:chExt cx="0" cy="0"/>
        </a:xfrm>
      </p:grpSpPr>
      <p:sp>
        <p:nvSpPr>
          <p:cNvPr id="2" name="Shape 0"/>
          <p:cNvSpPr/>
          <p:nvPr/>
        </p:nvSpPr>
        <p:spPr>
          <a:xfrm>
            <a:off x="640080" y="502920"/>
            <a:ext cx="384048" cy="384048"/>
          </a:xfrm>
          <a:prstGeom prst="roundRect">
            <a:avLst>
              <a:gd name="adj" fmla="val 14286"/>
            </a:avLst>
          </a:prstGeom>
          <a:solidFill>
            <a:srgbClr val="4CAF50"/>
          </a:solidFill>
          <a:ln/>
        </p:spPr>
      </p:sp>
      <p:sp>
        <p:nvSpPr>
          <p:cNvPr id="3" name="Text 1"/>
          <p:cNvSpPr txBox="1"/>
          <p:nvPr/>
        </p:nvSpPr>
        <p:spPr>
          <a:xfrm>
            <a:off x="640080" y="50292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04</a:t>
            </a:r>
            <a:endParaRPr lang="en-US" sz="1500" dirty="0"/>
          </a:p>
        </p:txBody>
      </p:sp>
      <p:sp>
        <p:nvSpPr>
          <p:cNvPr id="4" name="Text 2"/>
          <p:cNvSpPr txBox="1"/>
          <p:nvPr/>
        </p:nvSpPr>
        <p:spPr>
          <a:xfrm>
            <a:off x="1115568" y="502920"/>
            <a:ext cx="8229600" cy="384048"/>
          </a:xfrm>
          <a:prstGeom prst="rect">
            <a:avLst/>
          </a:prstGeom>
          <a:noFill/>
          <a:ln/>
        </p:spPr>
        <p:txBody>
          <a:bodyPr wrap="square" lIns="0" tIns="0" rIns="0" bIns="0" rtlCol="0" anchor="ctr"/>
          <a:lstStyle/>
          <a:p>
            <a:pPr marL="0" indent="0" algn="l">
              <a:buNone/>
            </a:pPr>
            <a:r>
              <a:rPr lang="en-US" sz="1300" b="1" kern="0" spc="200" dirty="0">
                <a:solidFill>
                  <a:srgbClr val="A9B4B1"/>
                </a:solidFill>
                <a:latin typeface="Calibri" pitchFamily="34" charset="0"/>
                <a:ea typeface="Calibri" pitchFamily="34" charset="-122"/>
                <a:cs typeface="Calibri" pitchFamily="34" charset="-120"/>
              </a:rPr>
              <a:t>THE INSTRUMENT</a:t>
            </a:r>
            <a:endParaRPr lang="en-US" sz="1300" dirty="0"/>
          </a:p>
        </p:txBody>
      </p:sp>
      <p:sp>
        <p:nvSpPr>
          <p:cNvPr id="5" name="Text 3"/>
          <p:cNvSpPr txBox="1"/>
          <p:nvPr/>
        </p:nvSpPr>
        <p:spPr>
          <a:xfrm>
            <a:off x="640080" y="1051560"/>
            <a:ext cx="10881360" cy="731520"/>
          </a:xfrm>
          <a:prstGeom prst="rect">
            <a:avLst/>
          </a:prstGeom>
          <a:noFill/>
          <a:ln/>
        </p:spPr>
        <p:txBody>
          <a:bodyPr wrap="square" lIns="0" tIns="0" rIns="0" bIns="0" rtlCol="0" anchor="ctr"/>
          <a:lstStyle/>
          <a:p>
            <a:pPr marL="0" indent="0" algn="l">
              <a:buNone/>
            </a:pPr>
            <a:r>
              <a:rPr lang="en-US" sz="3000" b="1" dirty="0">
                <a:solidFill>
                  <a:srgbClr val="FFFFFF"/>
                </a:solidFill>
                <a:latin typeface="Cambria" pitchFamily="34" charset="0"/>
                <a:ea typeface="Cambria" pitchFamily="34" charset="-122"/>
                <a:cs typeface="Cambria" pitchFamily="34" charset="-120"/>
              </a:rPr>
              <a:t>A pressure-sensing insole (stappone)</a:t>
            </a:r>
            <a:endParaRPr lang="en-US" sz="3000" dirty="0"/>
          </a:p>
        </p:txBody>
      </p:sp>
      <p:sp>
        <p:nvSpPr>
          <p:cNvPr id="6" name="Shape 4"/>
          <p:cNvSpPr/>
          <p:nvPr/>
        </p:nvSpPr>
        <p:spPr>
          <a:xfrm>
            <a:off x="640080" y="1920240"/>
            <a:ext cx="5212080" cy="3611880"/>
          </a:xfrm>
          <a:prstGeom prst="roundRect">
            <a:avLst>
              <a:gd name="adj" fmla="val 1266"/>
            </a:avLst>
          </a:prstGeom>
          <a:solidFill>
            <a:srgbClr val="FFFFFF"/>
          </a:solidFill>
          <a:ln w="12700">
            <a:solidFill>
              <a:srgbClr val="DCE3E1"/>
            </a:solidFill>
            <a:prstDash val="solid"/>
          </a:ln>
        </p:spPr>
      </p:sp>
      <p:pic>
        <p:nvPicPr>
          <p:cNvPr id="7" name="Image 0" descr="/mnt/user-data/uploads/Screenshot_2026-09-01_152305.png"/>
          <p:cNvPicPr>
            <a:picLocks noChangeAspect="1"/>
          </p:cNvPicPr>
          <p:nvPr/>
        </p:nvPicPr>
        <p:blipFill>
          <a:blip r:embed="rId3"/>
          <a:stretch>
            <a:fillRect/>
          </a:stretch>
        </p:blipFill>
        <p:spPr>
          <a:xfrm>
            <a:off x="793009" y="2066544"/>
            <a:ext cx="4906222" cy="3026664"/>
          </a:xfrm>
          <a:prstGeom prst="rect">
            <a:avLst/>
          </a:prstGeom>
        </p:spPr>
      </p:pic>
      <p:sp>
        <p:nvSpPr>
          <p:cNvPr id="8" name="Text 5"/>
          <p:cNvSpPr txBox="1"/>
          <p:nvPr/>
        </p:nvSpPr>
        <p:spPr>
          <a:xfrm>
            <a:off x="640080" y="5257800"/>
            <a:ext cx="5212080" cy="237744"/>
          </a:xfrm>
          <a:prstGeom prst="rect">
            <a:avLst/>
          </a:prstGeom>
          <a:noFill/>
          <a:ln/>
        </p:spPr>
        <p:txBody>
          <a:bodyPr wrap="square" lIns="0" tIns="0" rIns="0" bIns="0" rtlCol="0" anchor="ctr"/>
          <a:lstStyle/>
          <a:p>
            <a:pPr marL="0" indent="0" algn="ctr">
              <a:buNone/>
            </a:pPr>
            <a:r>
              <a:rPr lang="en-US" sz="1050" i="1" dirty="0">
                <a:solidFill>
                  <a:srgbClr val="6B7772"/>
                </a:solidFill>
                <a:latin typeface="Calibri" pitchFamily="34" charset="0"/>
                <a:ea typeface="Calibri" pitchFamily="34" charset="-122"/>
                <a:cs typeface="Calibri" pitchFamily="34" charset="-120"/>
              </a:rPr>
              <a:t>12 pressure sensors per foot</a:t>
            </a:r>
            <a:endParaRPr lang="en-US" sz="1050" dirty="0"/>
          </a:p>
        </p:txBody>
      </p:sp>
      <p:sp>
        <p:nvSpPr>
          <p:cNvPr id="9" name="Shape 6"/>
          <p:cNvSpPr/>
          <p:nvPr/>
        </p:nvSpPr>
        <p:spPr>
          <a:xfrm>
            <a:off x="6126480" y="1920240"/>
            <a:ext cx="5422392" cy="3611880"/>
          </a:xfrm>
          <a:prstGeom prst="roundRect">
            <a:avLst>
              <a:gd name="adj" fmla="val 1772"/>
            </a:avLst>
          </a:prstGeom>
          <a:solidFill>
            <a:srgbClr val="F3F6F5"/>
          </a:solidFill>
          <a:ln/>
          <a:effectLst>
            <a:outerShdw blurRad="76200" dist="25400" dir="5400000" algn="bl" rotWithShape="0">
              <a:srgbClr val="A9B4B1">
                <a:alpha val="28000"/>
              </a:srgbClr>
            </a:outerShdw>
          </a:effectLst>
        </p:spPr>
      </p:sp>
      <p:sp>
        <p:nvSpPr>
          <p:cNvPr id="10" name="Text 7"/>
          <p:cNvSpPr txBox="1"/>
          <p:nvPr/>
        </p:nvSpPr>
        <p:spPr>
          <a:xfrm>
            <a:off x="6400800" y="2240280"/>
            <a:ext cx="4937760" cy="365760"/>
          </a:xfrm>
          <a:prstGeom prst="rect">
            <a:avLst/>
          </a:prstGeom>
          <a:noFill/>
          <a:ln/>
        </p:spPr>
        <p:txBody>
          <a:bodyPr wrap="square" lIns="0" tIns="0" rIns="0" bIns="0" rtlCol="0" anchor="ctr"/>
          <a:lstStyle/>
          <a:p>
            <a:pPr marL="0" indent="0" algn="l">
              <a:buNone/>
            </a:pPr>
            <a:r>
              <a:rPr lang="en-US" sz="1800" b="1" dirty="0">
                <a:solidFill>
                  <a:srgbClr val="1B2A30"/>
                </a:solidFill>
                <a:latin typeface="Cambria" pitchFamily="34" charset="0"/>
                <a:ea typeface="Cambria" pitchFamily="34" charset="-122"/>
                <a:cs typeface="Cambria" pitchFamily="34" charset="-120"/>
              </a:rPr>
              <a:t>What each sole carries</a:t>
            </a:r>
            <a:endParaRPr lang="en-US" sz="1800" dirty="0"/>
          </a:p>
        </p:txBody>
      </p:sp>
      <p:sp>
        <p:nvSpPr>
          <p:cNvPr id="11" name="Text 3"/>
          <p:cNvSpPr txBox="1"/>
          <p:nvPr/>
        </p:nvSpPr>
        <p:spPr>
          <a:xfrm>
            <a:off x="6400800" y="2825496"/>
            <a:ext cx="4937760" cy="2377440"/>
          </a:xfrm>
          <a:prstGeom prst="rect">
            <a:avLst/>
          </a:prstGeom>
          <a:noFill/>
          <a:ln/>
        </p:spPr>
        <p:txBody>
          <a:bodyPr wrap="square" lIns="0" tIns="0" rIns="0" bIns="0" rtlCol="0" anchor="t"/>
          <a:lstStyle/>
          <a:p>
            <a:pPr marL="0" indent="0" algn="l">
              <a:lnSpc>
                <a:spcPct val="145000"/>
              </a:lnSpc>
              <a:buNone/>
            </a:pPr>
            <a:r>
              <a:rPr lang="en-US" sz="1400" b="1" dirty="0">
                <a:solidFill>
                  <a:srgbClr val="1B2A30"/>
                </a:solidFill>
                <a:latin typeface="Calibri" pitchFamily="34" charset="0"/>
                <a:ea typeface="Calibri" pitchFamily="34" charset="-122"/>
                <a:cs typeface="Calibri" pitchFamily="34" charset="-120"/>
              </a:rPr>
              <a:t>Each sole carries twelve pressure pads</a:t>
            </a:r>
            <a:r>
              <a:rPr lang="en-US" sz="1400" dirty="0">
                <a:solidFill>
                  <a:srgbClr val="6B7772"/>
                </a:solidFill>
                <a:latin typeface="Calibri" pitchFamily="34" charset="0"/>
                <a:ea typeface="Calibri" pitchFamily="34" charset="-122"/>
                <a:cs typeface="Calibri" pitchFamily="34" charset="-120"/>
              </a:rPr>
              <a:t> that record the shape of the load through every step as sensors sv1–12, alongside an accelerometer and gyroscope picking up impact, vibration and foot rotation while the foot is down. The walk is written to on-board memory as it happens, then synced over Bluetooth LE to the app afterward.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4">
    <p:bg>
      <p:bgPr>
        <a:solidFill>
          <a:srgbClr val="002451"/>
        </a:solidFill>
        <a:effectLst/>
      </p:bgPr>
    </p:bg>
    <p:spTree>
      <p:nvGrpSpPr>
        <p:cNvPr id="1" name=""/>
        <p:cNvGrpSpPr/>
        <p:nvPr/>
      </p:nvGrpSpPr>
      <p:grpSpPr>
        <a:xfrm>
          <a:off x="0" y="0"/>
          <a:ext cx="0" cy="0"/>
          <a:chOff x="0" y="0"/>
          <a:chExt cx="0" cy="0"/>
        </a:xfrm>
      </p:grpSpPr>
      <p:sp>
        <p:nvSpPr>
          <p:cNvPr id="2" name="Shape 0"/>
          <p:cNvSpPr/>
          <p:nvPr/>
        </p:nvSpPr>
        <p:spPr>
          <a:xfrm>
            <a:off x="640080" y="502920"/>
            <a:ext cx="384048" cy="384048"/>
          </a:xfrm>
          <a:prstGeom prst="roundRect">
            <a:avLst>
              <a:gd name="adj" fmla="val 14286"/>
            </a:avLst>
          </a:prstGeom>
          <a:solidFill>
            <a:srgbClr val="4CAF50"/>
          </a:solidFill>
          <a:ln/>
        </p:spPr>
      </p:sp>
      <p:sp>
        <p:nvSpPr>
          <p:cNvPr id="3" name="Text 1"/>
          <p:cNvSpPr txBox="1"/>
          <p:nvPr/>
        </p:nvSpPr>
        <p:spPr>
          <a:xfrm>
            <a:off x="640080" y="50292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04</a:t>
            </a:r>
            <a:endParaRPr lang="en-US" sz="1500" dirty="0"/>
          </a:p>
        </p:txBody>
      </p:sp>
      <p:sp>
        <p:nvSpPr>
          <p:cNvPr id="4" name="Text 2"/>
          <p:cNvSpPr txBox="1"/>
          <p:nvPr/>
        </p:nvSpPr>
        <p:spPr>
          <a:xfrm>
            <a:off x="1115568" y="502920"/>
            <a:ext cx="8229600" cy="384048"/>
          </a:xfrm>
          <a:prstGeom prst="rect">
            <a:avLst/>
          </a:prstGeom>
          <a:noFill/>
          <a:ln/>
        </p:spPr>
        <p:txBody>
          <a:bodyPr wrap="square" lIns="0" tIns="0" rIns="0" bIns="0" rtlCol="0" anchor="ctr"/>
          <a:lstStyle/>
          <a:p>
            <a:pPr marL="0" indent="0" algn="l">
              <a:buNone/>
            </a:pPr>
            <a:r>
              <a:rPr lang="en-US" sz="1300" b="1" kern="0" spc="200" dirty="0">
                <a:solidFill>
                  <a:srgbClr val="A9B4B1"/>
                </a:solidFill>
                <a:latin typeface="Calibri" pitchFamily="34" charset="0"/>
                <a:ea typeface="Calibri" pitchFamily="34" charset="-122"/>
                <a:cs typeface="Calibri" pitchFamily="34" charset="-120"/>
              </a:rPr>
              <a:t>THE INSTRUMENT</a:t>
            </a:r>
            <a:endParaRPr lang="en-US" sz="1300" dirty="0"/>
          </a:p>
        </p:txBody>
      </p:sp>
      <p:sp>
        <p:nvSpPr>
          <p:cNvPr id="5" name="Text 3"/>
          <p:cNvSpPr txBox="1"/>
          <p:nvPr/>
        </p:nvSpPr>
        <p:spPr>
          <a:xfrm>
            <a:off x="640080" y="1051560"/>
            <a:ext cx="10881360" cy="731520"/>
          </a:xfrm>
          <a:prstGeom prst="rect">
            <a:avLst/>
          </a:prstGeom>
          <a:noFill/>
          <a:ln/>
        </p:spPr>
        <p:txBody>
          <a:bodyPr wrap="square" lIns="0" tIns="0" rIns="0" bIns="0" rtlCol="0" anchor="ctr"/>
          <a:lstStyle/>
          <a:p>
            <a:pPr marL="0" indent="0" algn="l">
              <a:buNone/>
            </a:pPr>
            <a:r>
              <a:rPr lang="en-US" sz="3000" b="1" dirty="0">
                <a:solidFill>
                  <a:srgbClr val="FFFFFF"/>
                </a:solidFill>
                <a:latin typeface="Cambria" pitchFamily="34" charset="0"/>
                <a:ea typeface="Cambria" pitchFamily="34" charset="-122"/>
                <a:cs typeface="Cambria" pitchFamily="34" charset="-120"/>
              </a:rPr>
              <a:t>From footstep to data</a:t>
            </a:r>
            <a:endParaRPr lang="en-US" sz="3000" dirty="0"/>
          </a:p>
        </p:txBody>
      </p:sp>
      <p:sp>
        <p:nvSpPr>
          <p:cNvPr id="6" name="Text 4"/>
          <p:cNvSpPr txBox="1"/>
          <p:nvPr/>
        </p:nvSpPr>
        <p:spPr>
          <a:xfrm>
            <a:off x="640080" y="1691640"/>
            <a:ext cx="10881360" cy="457200"/>
          </a:xfrm>
          <a:prstGeom prst="rect">
            <a:avLst/>
          </a:prstGeom>
          <a:noFill/>
          <a:ln/>
        </p:spPr>
        <p:txBody>
          <a:bodyPr wrap="square" lIns="0" tIns="0" rIns="0" bIns="0" rtlCol="0" anchor="t"/>
          <a:lstStyle/>
          <a:p>
            <a:pPr marL="0" indent="0" algn="l">
              <a:lnSpc>
                <a:spcPct val="110000"/>
              </a:lnSpc>
              <a:buNone/>
            </a:pPr>
            <a:r>
              <a:rPr lang="en-US" sz="1400" dirty="0">
                <a:solidFill>
                  <a:srgbClr val="A9B4B1"/>
                </a:solidFill>
                <a:latin typeface="Calibri" pitchFamily="34" charset="0"/>
                <a:ea typeface="Calibri" pitchFamily="34" charset="-122"/>
                <a:cs typeface="Calibri" pitchFamily="34" charset="-120"/>
              </a:rPr>
              <a:t>Each step is recorded on the insole as 12 pressure channels + IMU, synced over Bluetooth, then exported as CSV (sole_id, timestamp, sv1-12, acc_x/y/z).</a:t>
            </a:r>
            <a:endParaRPr lang="en-US" sz="1400" dirty="0"/>
          </a:p>
        </p:txBody>
      </p:sp>
      <p:sp>
        <p:nvSpPr>
          <p:cNvPr id="7" name="Shape 5"/>
          <p:cNvSpPr/>
          <p:nvPr/>
        </p:nvSpPr>
        <p:spPr>
          <a:xfrm>
            <a:off x="640080" y="2240280"/>
            <a:ext cx="5623560" cy="3429000"/>
          </a:xfrm>
          <a:prstGeom prst="roundRect">
            <a:avLst>
              <a:gd name="adj" fmla="val 1333"/>
            </a:avLst>
          </a:prstGeom>
          <a:solidFill>
            <a:srgbClr val="FFFFFF"/>
          </a:solidFill>
          <a:ln w="12700">
            <a:solidFill>
              <a:srgbClr val="DCE3E1"/>
            </a:solidFill>
            <a:prstDash val="solid"/>
          </a:ln>
        </p:spPr>
      </p:sp>
      <p:pic>
        <p:nvPicPr>
          <p:cNvPr id="8" name="Image 0" descr="/mnt/user-data/uploads/lineplot.png"/>
          <p:cNvPicPr>
            <a:picLocks noChangeAspect="1"/>
          </p:cNvPicPr>
          <p:nvPr/>
        </p:nvPicPr>
        <p:blipFill>
          <a:blip r:embed="rId3"/>
          <a:stretch>
            <a:fillRect/>
          </a:stretch>
        </p:blipFill>
        <p:spPr>
          <a:xfrm>
            <a:off x="1434195" y="2386584"/>
            <a:ext cx="4035329" cy="2843784"/>
          </a:xfrm>
          <a:prstGeom prst="rect">
            <a:avLst/>
          </a:prstGeom>
        </p:spPr>
      </p:pic>
      <p:sp>
        <p:nvSpPr>
          <p:cNvPr id="9" name="Text 6"/>
          <p:cNvSpPr txBox="1"/>
          <p:nvPr/>
        </p:nvSpPr>
        <p:spPr>
          <a:xfrm>
            <a:off x="640080" y="5394960"/>
            <a:ext cx="5623560" cy="237744"/>
          </a:xfrm>
          <a:prstGeom prst="rect">
            <a:avLst/>
          </a:prstGeom>
          <a:noFill/>
          <a:ln/>
        </p:spPr>
        <p:txBody>
          <a:bodyPr wrap="square" lIns="0" tIns="0" rIns="0" bIns="0" rtlCol="0" anchor="ctr"/>
          <a:lstStyle/>
          <a:p>
            <a:pPr marL="0" indent="0" algn="ctr">
              <a:buNone/>
            </a:pPr>
            <a:r>
              <a:rPr lang="en-US" sz="1050" i="1" dirty="0">
                <a:solidFill>
                  <a:srgbClr val="6B7772"/>
                </a:solidFill>
                <a:latin typeface="Calibri" pitchFamily="34" charset="0"/>
                <a:ea typeface="Calibri" pitchFamily="34" charset="-122"/>
                <a:cs typeface="Calibri" pitchFamily="34" charset="-120"/>
              </a:rPr>
              <a:t>pressure over time — left (blue) vs right (red), one panel per sensor</a:t>
            </a:r>
            <a:endParaRPr lang="en-US" sz="1050" dirty="0"/>
          </a:p>
        </p:txBody>
      </p:sp>
      <p:sp>
        <p:nvSpPr>
          <p:cNvPr id="10" name="Shape 7"/>
          <p:cNvSpPr/>
          <p:nvPr/>
        </p:nvSpPr>
        <p:spPr>
          <a:xfrm>
            <a:off x="6400800" y="2240280"/>
            <a:ext cx="5148072" cy="3429000"/>
          </a:xfrm>
          <a:prstGeom prst="roundRect">
            <a:avLst>
              <a:gd name="adj" fmla="val 1333"/>
            </a:avLst>
          </a:prstGeom>
          <a:solidFill>
            <a:srgbClr val="FFFFFF"/>
          </a:solidFill>
          <a:ln w="12700">
            <a:solidFill>
              <a:srgbClr val="DCE3E1"/>
            </a:solidFill>
            <a:prstDash val="solid"/>
          </a:ln>
        </p:spPr>
      </p:sp>
      <p:pic>
        <p:nvPicPr>
          <p:cNvPr id="11" name="Image 1" descr="/mnt/user-data/uploads/heatmap.png"/>
          <p:cNvPicPr>
            <a:picLocks noChangeAspect="1"/>
          </p:cNvPicPr>
          <p:nvPr/>
        </p:nvPicPr>
        <p:blipFill>
          <a:blip r:embed="rId4"/>
          <a:stretch>
            <a:fillRect/>
          </a:stretch>
        </p:blipFill>
        <p:spPr>
          <a:xfrm>
            <a:off x="7437771" y="2386584"/>
            <a:ext cx="3074131" cy="2843784"/>
          </a:xfrm>
          <a:prstGeom prst="rect">
            <a:avLst/>
          </a:prstGeom>
        </p:spPr>
      </p:pic>
      <p:sp>
        <p:nvSpPr>
          <p:cNvPr id="12" name="Text 8"/>
          <p:cNvSpPr txBox="1"/>
          <p:nvPr/>
        </p:nvSpPr>
        <p:spPr>
          <a:xfrm>
            <a:off x="6400800" y="5394960"/>
            <a:ext cx="5148072" cy="237744"/>
          </a:xfrm>
          <a:prstGeom prst="rect">
            <a:avLst/>
          </a:prstGeom>
          <a:noFill/>
          <a:ln/>
        </p:spPr>
        <p:txBody>
          <a:bodyPr wrap="square" lIns="0" tIns="0" rIns="0" bIns="0" rtlCol="0" anchor="ctr"/>
          <a:lstStyle/>
          <a:p>
            <a:pPr marL="0" indent="0" algn="ctr">
              <a:buNone/>
            </a:pPr>
            <a:r>
              <a:rPr lang="en-US" sz="1050" i="1" dirty="0">
                <a:solidFill>
                  <a:srgbClr val="6B7772"/>
                </a:solidFill>
                <a:latin typeface="Calibri" pitchFamily="34" charset="0"/>
                <a:ea typeface="Calibri" pitchFamily="34" charset="-122"/>
                <a:cs typeface="Calibri" pitchFamily="34" charset="-120"/>
              </a:rPr>
              <a:t>per-sensor pressure heatmap across the recording</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5">
    <p:bg>
      <p:bgPr>
        <a:solidFill>
          <a:srgbClr val="002451"/>
        </a:solidFill>
        <a:effectLst/>
      </p:bgPr>
    </p:bg>
    <p:spTree>
      <p:nvGrpSpPr>
        <p:cNvPr id="1" name=""/>
        <p:cNvGrpSpPr/>
        <p:nvPr/>
      </p:nvGrpSpPr>
      <p:grpSpPr>
        <a:xfrm>
          <a:off x="0" y="0"/>
          <a:ext cx="0" cy="0"/>
          <a:chOff x="0" y="0"/>
          <a:chExt cx="0" cy="0"/>
        </a:xfrm>
      </p:grpSpPr>
      <p:sp>
        <p:nvSpPr>
          <p:cNvPr id="2" name="Shape 0"/>
          <p:cNvSpPr/>
          <p:nvPr/>
        </p:nvSpPr>
        <p:spPr>
          <a:xfrm>
            <a:off x="640080" y="502920"/>
            <a:ext cx="384048" cy="384048"/>
          </a:xfrm>
          <a:prstGeom prst="roundRect">
            <a:avLst>
              <a:gd name="adj" fmla="val 14286"/>
            </a:avLst>
          </a:prstGeom>
          <a:solidFill>
            <a:srgbClr val="8D6E63"/>
          </a:solidFill>
          <a:ln/>
        </p:spPr>
        <p:txBody>
          <a:bodyPr/>
          <a:lstStyle/>
          <a:p>
            <a:endParaRPr/>
          </a:p>
        </p:txBody>
      </p:sp>
      <p:sp>
        <p:nvSpPr>
          <p:cNvPr id="3" name="Text 1"/>
          <p:cNvSpPr txBox="1"/>
          <p:nvPr/>
        </p:nvSpPr>
        <p:spPr>
          <a:xfrm>
            <a:off x="640080" y="50292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05</a:t>
            </a:r>
            <a:endParaRPr lang="en-US" sz="1500" dirty="0"/>
          </a:p>
        </p:txBody>
      </p:sp>
      <p:sp>
        <p:nvSpPr>
          <p:cNvPr id="4" name="Text 2"/>
          <p:cNvSpPr txBox="1"/>
          <p:nvPr/>
        </p:nvSpPr>
        <p:spPr>
          <a:xfrm>
            <a:off x="1115568" y="502920"/>
            <a:ext cx="8229600" cy="384048"/>
          </a:xfrm>
          <a:prstGeom prst="rect">
            <a:avLst/>
          </a:prstGeom>
          <a:noFill/>
          <a:ln/>
        </p:spPr>
        <p:txBody>
          <a:bodyPr wrap="square" lIns="0" tIns="0" rIns="0" bIns="0" rtlCol="0" anchor="ctr"/>
          <a:lstStyle/>
          <a:p>
            <a:pPr marL="0" indent="0" algn="l">
              <a:buNone/>
            </a:pPr>
            <a:r>
              <a:rPr lang="en-US" sz="1300" b="1" kern="0" spc="200" dirty="0">
                <a:solidFill>
                  <a:srgbClr val="A9B4B1"/>
                </a:solidFill>
                <a:latin typeface="Calibri" pitchFamily="34" charset="0"/>
                <a:ea typeface="Calibri" pitchFamily="34" charset="-122"/>
                <a:cs typeface="Calibri" pitchFamily="34" charset="-120"/>
              </a:rPr>
              <a:t>DATA COLLECTION</a:t>
            </a:r>
            <a:endParaRPr lang="en-US" sz="1300" dirty="0"/>
          </a:p>
        </p:txBody>
      </p:sp>
      <p:sp>
        <p:nvSpPr>
          <p:cNvPr id="5" name="Text 3"/>
          <p:cNvSpPr txBox="1"/>
          <p:nvPr/>
        </p:nvSpPr>
        <p:spPr>
          <a:xfrm>
            <a:off x="640080" y="1051560"/>
            <a:ext cx="10881360" cy="731520"/>
          </a:xfrm>
          <a:prstGeom prst="rect">
            <a:avLst/>
          </a:prstGeom>
          <a:noFill/>
          <a:ln/>
        </p:spPr>
        <p:txBody>
          <a:bodyPr wrap="square" lIns="0" tIns="0" rIns="0" bIns="0" rtlCol="0" anchor="ctr"/>
          <a:lstStyle/>
          <a:p>
            <a:pPr marL="0" indent="0" algn="l">
              <a:buNone/>
            </a:pPr>
            <a:r>
              <a:rPr lang="en-US" sz="3000" b="1" dirty="0">
                <a:solidFill>
                  <a:srgbClr val="FFFFFF"/>
                </a:solidFill>
                <a:latin typeface="Cambria" pitchFamily="34" charset="0"/>
                <a:ea typeface="Cambria" pitchFamily="34" charset="-122"/>
                <a:cs typeface="Cambria" pitchFamily="34" charset="-120"/>
              </a:rPr>
              <a:t>The walk protocol</a:t>
            </a:r>
            <a:endParaRPr lang="en-US" sz="3000" dirty="0"/>
          </a:p>
        </p:txBody>
      </p:sp>
      <p:sp>
        <p:nvSpPr>
          <p:cNvPr id="6" name="Shape 4"/>
          <p:cNvSpPr/>
          <p:nvPr/>
        </p:nvSpPr>
        <p:spPr>
          <a:xfrm>
            <a:off x="640080" y="1965960"/>
            <a:ext cx="5486400" cy="1051560"/>
          </a:xfrm>
          <a:prstGeom prst="roundRect">
            <a:avLst>
              <a:gd name="adj" fmla="val 6087"/>
            </a:avLst>
          </a:prstGeom>
          <a:solidFill>
            <a:srgbClr val="F3F6F5"/>
          </a:solidFill>
          <a:ln/>
          <a:effectLst>
            <a:outerShdw blurRad="76200" dist="25400" dir="5400000" algn="bl" rotWithShape="0">
              <a:srgbClr val="A9B4B1">
                <a:alpha val="28000"/>
              </a:srgbClr>
            </a:outerShdw>
          </a:effectLst>
        </p:spPr>
        <p:txBody>
          <a:bodyPr/>
          <a:lstStyle/>
          <a:p>
            <a:endParaRPr/>
          </a:p>
        </p:txBody>
      </p:sp>
      <p:sp>
        <p:nvSpPr>
          <p:cNvPr id="7" name="Shape 5"/>
          <p:cNvSpPr/>
          <p:nvPr/>
        </p:nvSpPr>
        <p:spPr>
          <a:xfrm>
            <a:off x="868680" y="2185416"/>
            <a:ext cx="603504" cy="603504"/>
          </a:xfrm>
          <a:prstGeom prst="roundRect">
            <a:avLst>
              <a:gd name="adj" fmla="val 13636"/>
            </a:avLst>
          </a:prstGeom>
          <a:solidFill>
            <a:srgbClr val="4CAF50"/>
          </a:solidFill>
          <a:ln/>
        </p:spPr>
        <p:txBody>
          <a:bodyPr/>
          <a:lstStyle/>
          <a:p>
            <a:endParaRPr/>
          </a:p>
        </p:txBody>
      </p:sp>
      <p:sp>
        <p:nvSpPr>
          <p:cNvPr id="8" name="Text 6"/>
          <p:cNvSpPr txBox="1"/>
          <p:nvPr/>
        </p:nvSpPr>
        <p:spPr>
          <a:xfrm>
            <a:off x="868680" y="2185416"/>
            <a:ext cx="603504" cy="60350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Before</a:t>
            </a:r>
            <a:endParaRPr lang="en-US" sz="1100" dirty="0"/>
          </a:p>
        </p:txBody>
      </p:sp>
      <p:sp>
        <p:nvSpPr>
          <p:cNvPr id="9" name="Text 7"/>
          <p:cNvSpPr txBox="1"/>
          <p:nvPr/>
        </p:nvSpPr>
        <p:spPr>
          <a:xfrm>
            <a:off x="1627632" y="2112264"/>
            <a:ext cx="4389120" cy="777240"/>
          </a:xfrm>
          <a:prstGeom prst="rect">
            <a:avLst/>
          </a:prstGeom>
          <a:noFill/>
          <a:ln/>
        </p:spPr>
        <p:txBody>
          <a:bodyPr wrap="square" lIns="0" tIns="0" rIns="0" bIns="0" rtlCol="0" anchor="ctr"/>
          <a:lstStyle/>
          <a:p>
            <a:pPr marL="0" indent="0" algn="l">
              <a:lnSpc>
                <a:spcPct val="108000"/>
              </a:lnSpc>
              <a:buNone/>
            </a:pPr>
            <a:r>
              <a:rPr lang="en-US" sz="1250" dirty="0">
                <a:solidFill>
                  <a:srgbClr val="1B2A30"/>
                </a:solidFill>
                <a:latin typeface="Calibri" pitchFamily="34" charset="0"/>
                <a:ea typeface="Calibri" pitchFamily="34" charset="-122"/>
                <a:cs typeface="Calibri" pitchFamily="34" charset="-120"/>
              </a:rPr>
              <a:t>log weather + start location; check the pressure map responds accurately</a:t>
            </a:r>
            <a:endParaRPr lang="en-US" sz="1250" dirty="0"/>
          </a:p>
        </p:txBody>
      </p:sp>
      <p:sp>
        <p:nvSpPr>
          <p:cNvPr id="10" name="Shape 8"/>
          <p:cNvSpPr/>
          <p:nvPr/>
        </p:nvSpPr>
        <p:spPr>
          <a:xfrm>
            <a:off x="640080" y="3136392"/>
            <a:ext cx="5486400" cy="1051560"/>
          </a:xfrm>
          <a:prstGeom prst="roundRect">
            <a:avLst>
              <a:gd name="adj" fmla="val 6087"/>
            </a:avLst>
          </a:prstGeom>
          <a:solidFill>
            <a:srgbClr val="F3F6F5"/>
          </a:solidFill>
          <a:ln/>
          <a:effectLst>
            <a:outerShdw blurRad="76200" dist="25400" dir="5400000" algn="bl" rotWithShape="0">
              <a:srgbClr val="A9B4B1">
                <a:alpha val="28000"/>
              </a:srgbClr>
            </a:outerShdw>
          </a:effectLst>
        </p:spPr>
        <p:txBody>
          <a:bodyPr/>
          <a:lstStyle/>
          <a:p>
            <a:endParaRPr/>
          </a:p>
        </p:txBody>
      </p:sp>
      <p:sp>
        <p:nvSpPr>
          <p:cNvPr id="11" name="Shape 9"/>
          <p:cNvSpPr/>
          <p:nvPr/>
        </p:nvSpPr>
        <p:spPr>
          <a:xfrm>
            <a:off x="868680" y="3355848"/>
            <a:ext cx="603504" cy="603504"/>
          </a:xfrm>
          <a:prstGeom prst="roundRect">
            <a:avLst>
              <a:gd name="adj" fmla="val 13636"/>
            </a:avLst>
          </a:prstGeom>
          <a:solidFill>
            <a:srgbClr val="607D8B"/>
          </a:solidFill>
          <a:ln/>
        </p:spPr>
        <p:txBody>
          <a:bodyPr/>
          <a:lstStyle/>
          <a:p>
            <a:endParaRPr/>
          </a:p>
        </p:txBody>
      </p:sp>
      <p:sp>
        <p:nvSpPr>
          <p:cNvPr id="12" name="Text 10"/>
          <p:cNvSpPr txBox="1"/>
          <p:nvPr/>
        </p:nvSpPr>
        <p:spPr>
          <a:xfrm>
            <a:off x="868680" y="3355848"/>
            <a:ext cx="603504" cy="60350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During</a:t>
            </a:r>
            <a:endParaRPr lang="en-US" sz="1100" dirty="0"/>
          </a:p>
        </p:txBody>
      </p:sp>
      <p:sp>
        <p:nvSpPr>
          <p:cNvPr id="13" name="Text 11"/>
          <p:cNvSpPr txBox="1"/>
          <p:nvPr/>
        </p:nvSpPr>
        <p:spPr>
          <a:xfrm>
            <a:off x="1627632" y="3282696"/>
            <a:ext cx="4389120" cy="777240"/>
          </a:xfrm>
          <a:prstGeom prst="rect">
            <a:avLst/>
          </a:prstGeom>
          <a:noFill/>
          <a:ln/>
        </p:spPr>
        <p:txBody>
          <a:bodyPr wrap="square" lIns="0" tIns="0" rIns="0" bIns="0" rtlCol="0" anchor="ctr"/>
          <a:lstStyle/>
          <a:p>
            <a:pPr marL="0" indent="0" algn="l">
              <a:lnSpc>
                <a:spcPct val="108000"/>
              </a:lnSpc>
              <a:buNone/>
            </a:pPr>
            <a:r>
              <a:rPr lang="en-US" sz="1250" dirty="0">
                <a:solidFill>
                  <a:srgbClr val="1B2A30"/>
                </a:solidFill>
                <a:latin typeface="Calibri" pitchFamily="34" charset="0"/>
                <a:ea typeface="Calibri" pitchFamily="34" charset="-122"/>
                <a:cs typeface="Calibri" pitchFamily="34" charset="-120"/>
              </a:rPr>
              <a:t>3-5 min over multiple surfaces in 2-3 clean sections; avoid drains, manholes and crosswalk pads; don’t switch surface every step</a:t>
            </a:r>
            <a:endParaRPr lang="en-US" sz="1250" dirty="0"/>
          </a:p>
        </p:txBody>
      </p:sp>
      <p:sp>
        <p:nvSpPr>
          <p:cNvPr id="14" name="Shape 12"/>
          <p:cNvSpPr/>
          <p:nvPr/>
        </p:nvSpPr>
        <p:spPr>
          <a:xfrm>
            <a:off x="640080" y="4306824"/>
            <a:ext cx="5486400" cy="1051560"/>
          </a:xfrm>
          <a:prstGeom prst="roundRect">
            <a:avLst>
              <a:gd name="adj" fmla="val 6087"/>
            </a:avLst>
          </a:prstGeom>
          <a:solidFill>
            <a:srgbClr val="F3F6F5"/>
          </a:solidFill>
          <a:ln/>
          <a:effectLst>
            <a:outerShdw blurRad="76200" dist="25400" dir="5400000" algn="bl" rotWithShape="0">
              <a:srgbClr val="A9B4B1">
                <a:alpha val="28000"/>
              </a:srgbClr>
            </a:outerShdw>
          </a:effectLst>
        </p:spPr>
        <p:txBody>
          <a:bodyPr/>
          <a:lstStyle/>
          <a:p>
            <a:endParaRPr/>
          </a:p>
        </p:txBody>
      </p:sp>
      <p:sp>
        <p:nvSpPr>
          <p:cNvPr id="15" name="Shape 13"/>
          <p:cNvSpPr/>
          <p:nvPr/>
        </p:nvSpPr>
        <p:spPr>
          <a:xfrm>
            <a:off x="868680" y="4526280"/>
            <a:ext cx="603504" cy="603504"/>
          </a:xfrm>
          <a:prstGeom prst="roundRect">
            <a:avLst>
              <a:gd name="adj" fmla="val 13636"/>
            </a:avLst>
          </a:prstGeom>
          <a:solidFill>
            <a:srgbClr val="8D6E63"/>
          </a:solidFill>
          <a:ln/>
        </p:spPr>
        <p:txBody>
          <a:bodyPr/>
          <a:lstStyle/>
          <a:p>
            <a:endParaRPr/>
          </a:p>
        </p:txBody>
      </p:sp>
      <p:sp>
        <p:nvSpPr>
          <p:cNvPr id="16" name="Text 14"/>
          <p:cNvSpPr txBox="1"/>
          <p:nvPr/>
        </p:nvSpPr>
        <p:spPr>
          <a:xfrm>
            <a:off x="868680" y="4526280"/>
            <a:ext cx="603504" cy="60350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After</a:t>
            </a:r>
            <a:endParaRPr lang="en-US" sz="1100" dirty="0"/>
          </a:p>
        </p:txBody>
      </p:sp>
      <p:sp>
        <p:nvSpPr>
          <p:cNvPr id="17" name="Text 15"/>
          <p:cNvSpPr txBox="1"/>
          <p:nvPr/>
        </p:nvSpPr>
        <p:spPr>
          <a:xfrm>
            <a:off x="1627632" y="4453128"/>
            <a:ext cx="4389120" cy="777240"/>
          </a:xfrm>
          <a:prstGeom prst="rect">
            <a:avLst/>
          </a:prstGeom>
          <a:noFill/>
          <a:ln/>
        </p:spPr>
        <p:txBody>
          <a:bodyPr wrap="square" lIns="0" tIns="0" rIns="0" bIns="0" rtlCol="0" anchor="ctr"/>
          <a:lstStyle/>
          <a:p>
            <a:pPr marL="0" indent="0" algn="l">
              <a:lnSpc>
                <a:spcPct val="108000"/>
              </a:lnSpc>
              <a:buNone/>
            </a:pPr>
            <a:r>
              <a:rPr lang="en-US" sz="1250" dirty="0">
                <a:solidFill>
                  <a:srgbClr val="1B2A30"/>
                </a:solidFill>
                <a:latin typeface="Calibri" pitchFamily="34" charset="0"/>
                <a:ea typeface="Calibri" pitchFamily="34" charset="-122"/>
                <a:cs typeface="Calibri" pitchFamily="34" charset="-120"/>
              </a:rPr>
              <a:t>note shoe model, end location, and any stops or irregularities</a:t>
            </a:r>
            <a:endParaRPr lang="en-US" sz="1250" dirty="0"/>
          </a:p>
        </p:txBody>
      </p:sp>
      <p:sp>
        <p:nvSpPr>
          <p:cNvPr id="18" name="Shape 16"/>
          <p:cNvSpPr/>
          <p:nvPr/>
        </p:nvSpPr>
        <p:spPr>
          <a:xfrm>
            <a:off x="6355080" y="1965960"/>
            <a:ext cx="5193792" cy="3529584"/>
          </a:xfrm>
          <a:prstGeom prst="roundRect">
            <a:avLst>
              <a:gd name="adj" fmla="val 1813"/>
            </a:avLst>
          </a:prstGeom>
          <a:solidFill>
            <a:srgbClr val="F3F6F5"/>
          </a:solidFill>
          <a:ln/>
          <a:effectLst>
            <a:outerShdw blurRad="76200" dist="25400" dir="5400000" algn="bl" rotWithShape="0">
              <a:srgbClr val="A9B4B1">
                <a:alpha val="28000"/>
              </a:srgbClr>
            </a:outerShdw>
          </a:effectLst>
        </p:spPr>
        <p:txBody>
          <a:bodyPr/>
          <a:lstStyle/>
          <a:p>
            <a:endParaRPr/>
          </a:p>
        </p:txBody>
      </p:sp>
      <p:sp>
        <p:nvSpPr>
          <p:cNvPr id="19" name="Text 17"/>
          <p:cNvSpPr txBox="1"/>
          <p:nvPr/>
        </p:nvSpPr>
        <p:spPr>
          <a:xfrm>
            <a:off x="6611112" y="2167128"/>
            <a:ext cx="4754880" cy="365760"/>
          </a:xfrm>
          <a:prstGeom prst="rect">
            <a:avLst/>
          </a:prstGeom>
          <a:noFill/>
          <a:ln/>
        </p:spPr>
        <p:txBody>
          <a:bodyPr wrap="square" lIns="0" tIns="0" rIns="0" bIns="0" rtlCol="0" anchor="ctr"/>
          <a:lstStyle/>
          <a:p>
            <a:pPr marL="0" indent="0" algn="l">
              <a:buNone/>
            </a:pPr>
            <a:r>
              <a:rPr lang="en-US" sz="1600" b="1" dirty="0">
                <a:solidFill>
                  <a:srgbClr val="1B2A30"/>
                </a:solidFill>
                <a:latin typeface="Cambria" pitchFamily="34" charset="0"/>
                <a:ea typeface="Cambria" pitchFamily="34" charset="-122"/>
                <a:cs typeface="Cambria" pitchFamily="34" charset="-120"/>
              </a:rPr>
              <a:t>Four surface classes today</a:t>
            </a:r>
            <a:endParaRPr lang="en-US" sz="1600" dirty="0"/>
          </a:p>
        </p:txBody>
      </p:sp>
      <p:sp>
        <p:nvSpPr>
          <p:cNvPr id="20" name="Shape 18"/>
          <p:cNvSpPr/>
          <p:nvPr/>
        </p:nvSpPr>
        <p:spPr>
          <a:xfrm>
            <a:off x="6611112" y="2651760"/>
            <a:ext cx="274320" cy="274320"/>
          </a:xfrm>
          <a:prstGeom prst="roundRect">
            <a:avLst>
              <a:gd name="adj" fmla="val 16667"/>
            </a:avLst>
          </a:prstGeom>
          <a:solidFill>
            <a:srgbClr val="607D8B"/>
          </a:solidFill>
          <a:ln/>
        </p:spPr>
        <p:txBody>
          <a:bodyPr/>
          <a:lstStyle/>
          <a:p>
            <a:endParaRPr/>
          </a:p>
        </p:txBody>
      </p:sp>
      <p:sp>
        <p:nvSpPr>
          <p:cNvPr id="21" name="Text 19"/>
          <p:cNvSpPr txBox="1"/>
          <p:nvPr/>
        </p:nvSpPr>
        <p:spPr>
          <a:xfrm>
            <a:off x="6976872" y="2624328"/>
            <a:ext cx="4389120" cy="457200"/>
          </a:xfrm>
          <a:prstGeom prst="rect">
            <a:avLst/>
          </a:prstGeom>
          <a:noFill/>
          <a:ln/>
        </p:spPr>
        <p:txBody>
          <a:bodyPr wrap="square" lIns="0" tIns="0" rIns="0" bIns="0" rtlCol="0" anchor="ctr"/>
          <a:lstStyle/>
          <a:p>
            <a:pPr marL="0" indent="0" algn="l">
              <a:buNone/>
            </a:pPr>
            <a:r>
              <a:rPr lang="en-US" sz="1350" b="1" dirty="0">
                <a:solidFill>
                  <a:srgbClr val="1B2A30"/>
                </a:solidFill>
                <a:latin typeface="Calibri" pitchFamily="34" charset="0"/>
                <a:ea typeface="Calibri" pitchFamily="34" charset="-122"/>
                <a:cs typeface="Calibri" pitchFamily="34" charset="-120"/>
              </a:rPr>
              <a:t>paved   </a:t>
            </a:r>
            <a:r>
              <a:rPr lang="en-US" sz="1200" dirty="0">
                <a:solidFill>
                  <a:srgbClr val="6B7772"/>
                </a:solidFill>
                <a:latin typeface="Calibri" pitchFamily="34" charset="0"/>
                <a:ea typeface="Calibri" pitchFamily="34" charset="-122"/>
                <a:cs typeface="Calibri" pitchFamily="34" charset="-120"/>
              </a:rPr>
              <a:t>concrete, asphalt, even brick (continuous paved)</a:t>
            </a:r>
            <a:endParaRPr lang="en-US" sz="1350" dirty="0"/>
          </a:p>
        </p:txBody>
      </p:sp>
      <p:sp>
        <p:nvSpPr>
          <p:cNvPr id="22" name="Shape 20"/>
          <p:cNvSpPr/>
          <p:nvPr/>
        </p:nvSpPr>
        <p:spPr>
          <a:xfrm>
            <a:off x="6611112" y="3218688"/>
            <a:ext cx="274320" cy="274320"/>
          </a:xfrm>
          <a:prstGeom prst="roundRect">
            <a:avLst>
              <a:gd name="adj" fmla="val 16667"/>
            </a:avLst>
          </a:prstGeom>
          <a:solidFill>
            <a:srgbClr val="8D6E63"/>
          </a:solidFill>
          <a:ln/>
        </p:spPr>
        <p:txBody>
          <a:bodyPr/>
          <a:lstStyle/>
          <a:p>
            <a:endParaRPr/>
          </a:p>
        </p:txBody>
      </p:sp>
      <p:sp>
        <p:nvSpPr>
          <p:cNvPr id="23" name="Text 21"/>
          <p:cNvSpPr txBox="1"/>
          <p:nvPr/>
        </p:nvSpPr>
        <p:spPr>
          <a:xfrm>
            <a:off x="6976872" y="3191256"/>
            <a:ext cx="4389120" cy="457200"/>
          </a:xfrm>
          <a:prstGeom prst="rect">
            <a:avLst/>
          </a:prstGeom>
          <a:noFill/>
          <a:ln/>
        </p:spPr>
        <p:txBody>
          <a:bodyPr wrap="square" lIns="0" tIns="0" rIns="0" bIns="0" rtlCol="0" anchor="ctr"/>
          <a:lstStyle/>
          <a:p>
            <a:pPr marL="0" indent="0" algn="l">
              <a:buNone/>
            </a:pPr>
            <a:r>
              <a:rPr lang="en-US" sz="1350" b="1" dirty="0">
                <a:solidFill>
                  <a:srgbClr val="1B2A30"/>
                </a:solidFill>
                <a:latin typeface="Calibri" pitchFamily="34" charset="0"/>
                <a:ea typeface="Calibri" pitchFamily="34" charset="-122"/>
                <a:cs typeface="Calibri" pitchFamily="34" charset="-120"/>
              </a:rPr>
              <a:t>loose   </a:t>
            </a:r>
            <a:r>
              <a:rPr lang="en-US" sz="1200" dirty="0">
                <a:solidFill>
                  <a:srgbClr val="6B7772"/>
                </a:solidFill>
                <a:latin typeface="Calibri" pitchFamily="34" charset="0"/>
                <a:ea typeface="Calibri" pitchFamily="34" charset="-122"/>
                <a:cs typeface="Calibri" pitchFamily="34" charset="-120"/>
              </a:rPr>
              <a:t>dirt and compact ground (light gravel + dust)</a:t>
            </a:r>
            <a:endParaRPr lang="en-US" sz="1350" dirty="0"/>
          </a:p>
        </p:txBody>
      </p:sp>
      <p:sp>
        <p:nvSpPr>
          <p:cNvPr id="24" name="Shape 22"/>
          <p:cNvSpPr/>
          <p:nvPr/>
        </p:nvSpPr>
        <p:spPr>
          <a:xfrm>
            <a:off x="6611112" y="3785616"/>
            <a:ext cx="274320" cy="274320"/>
          </a:xfrm>
          <a:prstGeom prst="roundRect">
            <a:avLst>
              <a:gd name="adj" fmla="val 16667"/>
            </a:avLst>
          </a:prstGeom>
          <a:solidFill>
            <a:srgbClr val="4CAF50"/>
          </a:solidFill>
          <a:ln/>
        </p:spPr>
        <p:txBody>
          <a:bodyPr/>
          <a:lstStyle/>
          <a:p>
            <a:endParaRPr/>
          </a:p>
        </p:txBody>
      </p:sp>
      <p:sp>
        <p:nvSpPr>
          <p:cNvPr id="25" name="Text 23"/>
          <p:cNvSpPr txBox="1"/>
          <p:nvPr/>
        </p:nvSpPr>
        <p:spPr>
          <a:xfrm>
            <a:off x="6976872" y="3758184"/>
            <a:ext cx="4389120" cy="457200"/>
          </a:xfrm>
          <a:prstGeom prst="rect">
            <a:avLst/>
          </a:prstGeom>
          <a:noFill/>
          <a:ln/>
        </p:spPr>
        <p:txBody>
          <a:bodyPr wrap="square" lIns="0" tIns="0" rIns="0" bIns="0" rtlCol="0" anchor="ctr"/>
          <a:lstStyle/>
          <a:p>
            <a:pPr marL="0" indent="0" algn="l">
              <a:buNone/>
            </a:pPr>
            <a:r>
              <a:rPr lang="en-US" sz="1350" b="1" dirty="0">
                <a:solidFill>
                  <a:srgbClr val="1B2A30"/>
                </a:solidFill>
                <a:latin typeface="Calibri" pitchFamily="34" charset="0"/>
                <a:ea typeface="Calibri" pitchFamily="34" charset="-122"/>
                <a:cs typeface="Calibri" pitchFamily="34" charset="-120"/>
              </a:rPr>
              <a:t>grass   </a:t>
            </a:r>
            <a:r>
              <a:rPr lang="en-US" sz="1200" dirty="0">
                <a:solidFill>
                  <a:srgbClr val="6B7772"/>
                </a:solidFill>
                <a:latin typeface="Calibri" pitchFamily="34" charset="0"/>
                <a:ea typeface="Calibri" pitchFamily="34" charset="-122"/>
                <a:cs typeface="Calibri" pitchFamily="34" charset="-120"/>
              </a:rPr>
              <a:t>natural grass</a:t>
            </a:r>
            <a:endParaRPr lang="en-US" sz="1350" dirty="0"/>
          </a:p>
        </p:txBody>
      </p:sp>
      <p:sp>
        <p:nvSpPr>
          <p:cNvPr id="26" name="Rectangle 25"/>
          <p:cNvSpPr/>
          <p:nvPr/>
        </p:nvSpPr>
        <p:spPr>
          <a:xfrm>
            <a:off x="6611112" y="4352544"/>
            <a:ext cx="274320" cy="274320"/>
          </a:xfrm>
          <a:prstGeom prst="rect">
            <a:avLst/>
          </a:prstGeom>
          <a:solidFill>
            <a:srgbClr val="B046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976872" y="4325112"/>
            <a:ext cx="4389120" cy="457200"/>
          </a:xfrm>
          <a:prstGeom prst="rect">
            <a:avLst/>
          </a:prstGeom>
          <a:noFill/>
        </p:spPr>
        <p:txBody>
          <a:bodyPr wrap="square">
            <a:spAutoFit/>
          </a:bodyPr>
          <a:lstStyle/>
          <a:p>
            <a:r>
              <a:rPr sz="1300" b="1">
                <a:solidFill>
                  <a:srgbClr val="1A1A1A"/>
                </a:solidFill>
              </a:rPr>
              <a:t>modular   </a:t>
            </a:r>
            <a:r>
              <a:rPr sz="1300">
                <a:solidFill>
                  <a:srgbClr val="404040"/>
                </a:solidFill>
              </a:rPr>
              <a:t>cobblestone, uneven brick — new, collecting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6">
    <p:bg>
      <p:bgPr>
        <a:solidFill>
          <a:srgbClr val="002451"/>
        </a:solidFill>
        <a:effectLst/>
      </p:bgPr>
    </p:bg>
    <p:spTree>
      <p:nvGrpSpPr>
        <p:cNvPr id="1" name=""/>
        <p:cNvGrpSpPr/>
        <p:nvPr/>
      </p:nvGrpSpPr>
      <p:grpSpPr>
        <a:xfrm>
          <a:off x="0" y="0"/>
          <a:ext cx="0" cy="0"/>
          <a:chOff x="0" y="0"/>
          <a:chExt cx="0" cy="0"/>
        </a:xfrm>
      </p:grpSpPr>
      <p:sp>
        <p:nvSpPr>
          <p:cNvPr id="2" name="Shape 0"/>
          <p:cNvSpPr/>
          <p:nvPr/>
        </p:nvSpPr>
        <p:spPr>
          <a:xfrm>
            <a:off x="640080" y="502920"/>
            <a:ext cx="384048" cy="384048"/>
          </a:xfrm>
          <a:prstGeom prst="roundRect">
            <a:avLst>
              <a:gd name="adj" fmla="val 14286"/>
            </a:avLst>
          </a:prstGeom>
          <a:solidFill>
            <a:srgbClr val="8D6E63"/>
          </a:solidFill>
          <a:ln/>
        </p:spPr>
        <p:txBody>
          <a:bodyPr/>
          <a:lstStyle/>
          <a:p>
            <a:endParaRPr/>
          </a:p>
        </p:txBody>
      </p:sp>
      <p:sp>
        <p:nvSpPr>
          <p:cNvPr id="3" name="Text 1"/>
          <p:cNvSpPr txBox="1"/>
          <p:nvPr/>
        </p:nvSpPr>
        <p:spPr>
          <a:xfrm>
            <a:off x="640080" y="50292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05</a:t>
            </a:r>
            <a:endParaRPr lang="en-US" sz="1500" dirty="0"/>
          </a:p>
        </p:txBody>
      </p:sp>
      <p:sp>
        <p:nvSpPr>
          <p:cNvPr id="4" name="Text 2"/>
          <p:cNvSpPr txBox="1"/>
          <p:nvPr/>
        </p:nvSpPr>
        <p:spPr>
          <a:xfrm>
            <a:off x="1115568" y="502920"/>
            <a:ext cx="8229600" cy="384048"/>
          </a:xfrm>
          <a:prstGeom prst="rect">
            <a:avLst/>
          </a:prstGeom>
          <a:noFill/>
          <a:ln/>
        </p:spPr>
        <p:txBody>
          <a:bodyPr wrap="square" lIns="0" tIns="0" rIns="0" bIns="0" rtlCol="0" anchor="ctr"/>
          <a:lstStyle/>
          <a:p>
            <a:pPr marL="0" indent="0" algn="l">
              <a:buNone/>
            </a:pPr>
            <a:r>
              <a:rPr lang="en-US" sz="1300" b="1" kern="0" spc="200" dirty="0">
                <a:solidFill>
                  <a:srgbClr val="A9B4B1"/>
                </a:solidFill>
                <a:latin typeface="Calibri" pitchFamily="34" charset="0"/>
                <a:ea typeface="Calibri" pitchFamily="34" charset="-122"/>
                <a:cs typeface="Calibri" pitchFamily="34" charset="-120"/>
              </a:rPr>
              <a:t>DATA COLLECTION</a:t>
            </a:r>
            <a:endParaRPr lang="en-US" sz="1300" dirty="0"/>
          </a:p>
        </p:txBody>
      </p:sp>
      <p:sp>
        <p:nvSpPr>
          <p:cNvPr id="5" name="Text 3"/>
          <p:cNvSpPr txBox="1"/>
          <p:nvPr/>
        </p:nvSpPr>
        <p:spPr>
          <a:xfrm>
            <a:off x="640080" y="1051560"/>
            <a:ext cx="10881360" cy="731520"/>
          </a:xfrm>
          <a:prstGeom prst="rect">
            <a:avLst/>
          </a:prstGeom>
          <a:noFill/>
          <a:ln/>
        </p:spPr>
        <p:txBody>
          <a:bodyPr wrap="square" lIns="0" tIns="0" rIns="0" bIns="0" rtlCol="0" anchor="ctr"/>
          <a:lstStyle/>
          <a:p>
            <a:pPr marL="0" indent="0" algn="l">
              <a:buNone/>
            </a:pPr>
            <a:r>
              <a:rPr lang="en-US" sz="3000" b="1" dirty="0">
                <a:solidFill>
                  <a:srgbClr val="FFFFFF"/>
                </a:solidFill>
                <a:latin typeface="Cambria" pitchFamily="34" charset="0"/>
                <a:ea typeface="Cambria" pitchFamily="34" charset="-122"/>
                <a:cs typeface="Cambria" pitchFamily="34" charset="-120"/>
              </a:rPr>
              <a:t>The dataset so far</a:t>
            </a:r>
            <a:endParaRPr lang="en-US" sz="3000" dirty="0"/>
          </a:p>
        </p:txBody>
      </p:sp>
      <p:graphicFrame>
        <p:nvGraphicFramePr>
          <p:cNvPr id="6" name="Chart 0"/>
          <p:cNvGraphicFramePr/>
          <p:nvPr/>
        </p:nvGraphicFramePr>
        <p:xfrm>
          <a:off x="640080" y="2011680"/>
          <a:ext cx="612648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6995160" y="2011680"/>
            <a:ext cx="4553712" cy="3566160"/>
          </a:xfrm>
          <a:prstGeom prst="roundRect">
            <a:avLst>
              <a:gd name="adj" fmla="val 1795"/>
            </a:avLst>
          </a:prstGeom>
          <a:solidFill>
            <a:srgbClr val="0C3466"/>
          </a:solidFill>
          <a:ln/>
          <a:effectLst>
            <a:outerShdw blurRad="76200" dist="25400" dir="5400000" algn="bl" rotWithShape="0">
              <a:srgbClr val="A9B4B1">
                <a:alpha val="28000"/>
              </a:srgbClr>
            </a:outerShdw>
          </a:effectLst>
        </p:spPr>
        <p:txBody>
          <a:bodyPr/>
          <a:lstStyle/>
          <a:p>
            <a:endParaRPr/>
          </a:p>
        </p:txBody>
      </p:sp>
      <p:sp>
        <p:nvSpPr>
          <p:cNvPr id="8" name="Text 5"/>
          <p:cNvSpPr txBox="1"/>
          <p:nvPr/>
        </p:nvSpPr>
        <p:spPr>
          <a:xfrm>
            <a:off x="6995160" y="2286000"/>
            <a:ext cx="4553712" cy="822960"/>
          </a:xfrm>
          <a:prstGeom prst="rect">
            <a:avLst/>
          </a:prstGeom>
          <a:noFill/>
          <a:ln/>
        </p:spPr>
        <p:txBody>
          <a:bodyPr wrap="square" lIns="0" tIns="0" rIns="0" bIns="0" rtlCol="0" anchor="ctr"/>
          <a:lstStyle/>
          <a:p>
            <a:pPr marL="0" indent="0" algn="ctr">
              <a:buNone/>
            </a:pPr>
            <a:r>
              <a:rPr lang="en-US" sz="4600" b="1" dirty="0">
                <a:solidFill>
                  <a:srgbClr val="FFFFFF"/>
                </a:solidFill>
                <a:latin typeface="Cambria" pitchFamily="34" charset="0"/>
                <a:ea typeface="Cambria" pitchFamily="34" charset="-122"/>
                <a:cs typeface="Cambria" pitchFamily="34" charset="-120"/>
              </a:rPr>
              <a:t>14,955</a:t>
            </a:r>
            <a:endParaRPr lang="en-US" sz="4600" dirty="0"/>
          </a:p>
        </p:txBody>
      </p:sp>
      <p:sp>
        <p:nvSpPr>
          <p:cNvPr id="9" name="Text 6"/>
          <p:cNvSpPr txBox="1"/>
          <p:nvPr/>
        </p:nvSpPr>
        <p:spPr>
          <a:xfrm>
            <a:off x="7178040" y="3127248"/>
            <a:ext cx="4187952" cy="365760"/>
          </a:xfrm>
          <a:prstGeom prst="rect">
            <a:avLst/>
          </a:prstGeom>
          <a:noFill/>
          <a:ln/>
        </p:spPr>
        <p:txBody>
          <a:bodyPr wrap="square" lIns="0" tIns="0" rIns="0" bIns="0" rtlCol="0" anchor="t"/>
          <a:lstStyle/>
          <a:p>
            <a:pPr marL="0" indent="0" algn="ctr">
              <a:buNone/>
            </a:pPr>
            <a:r>
              <a:rPr lang="en-US" sz="1300" dirty="0">
                <a:solidFill>
                  <a:srgbClr val="B9C6C2"/>
                </a:solidFill>
                <a:latin typeface="Calibri" pitchFamily="34" charset="0"/>
                <a:ea typeface="Calibri" pitchFamily="34" charset="-122"/>
                <a:cs typeface="Calibri" pitchFamily="34" charset="-120"/>
              </a:rPr>
              <a:t>labelled steps collected to date</a:t>
            </a:r>
            <a:endParaRPr lang="en-US" sz="1300" dirty="0"/>
          </a:p>
        </p:txBody>
      </p:sp>
      <p:sp>
        <p:nvSpPr>
          <p:cNvPr id="10" name="Text 3"/>
          <p:cNvSpPr txBox="1"/>
          <p:nvPr/>
        </p:nvSpPr>
        <p:spPr>
          <a:xfrm>
            <a:off x="7178040" y="3703320"/>
            <a:ext cx="4187952" cy="1737360"/>
          </a:xfrm>
          <a:prstGeom prst="rect">
            <a:avLst/>
          </a:prstGeom>
          <a:noFill/>
          <a:ln/>
        </p:spPr>
        <p:txBody>
          <a:bodyPr wrap="square" lIns="0" tIns="0" rIns="0" bIns="0" rtlCol="0" anchor="t"/>
          <a:lstStyle/>
          <a:p>
            <a:pPr marL="0" indent="0" algn="l">
              <a:lnSpc>
                <a:spcPct val="145000"/>
              </a:lnSpc>
              <a:buNone/>
            </a:pPr>
            <a:r>
              <a:rPr lang="en-US" sz="1350" dirty="0">
                <a:solidFill>
                  <a:srgbClr val="A9B4B1"/>
                </a:solidFill>
                <a:latin typeface="Calibri" pitchFamily="34" charset="0"/>
                <a:ea typeface="Calibri" pitchFamily="34" charset="-122"/>
                <a:cs typeface="Calibri" pitchFamily="34" charset="-120"/>
              </a:rPr>
              <a:t>The set now covers four walkers — Kristian, Sam, Catherine and Samantha — across four surface classes including the new modular-paved (cobblestone/uneven brick), which is early in collection.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7">
    <p:bg>
      <p:bgPr>
        <a:solidFill>
          <a:srgbClr val="002451"/>
        </a:solidFill>
        <a:effectLst/>
      </p:bgPr>
    </p:bg>
    <p:spTree>
      <p:nvGrpSpPr>
        <p:cNvPr id="1" name=""/>
        <p:cNvGrpSpPr/>
        <p:nvPr/>
      </p:nvGrpSpPr>
      <p:grpSpPr>
        <a:xfrm>
          <a:off x="0" y="0"/>
          <a:ext cx="0" cy="0"/>
          <a:chOff x="0" y="0"/>
          <a:chExt cx="0" cy="0"/>
        </a:xfrm>
      </p:grpSpPr>
      <p:sp>
        <p:nvSpPr>
          <p:cNvPr id="3" name="Text 1"/>
          <p:cNvSpPr txBox="1"/>
          <p:nvPr/>
        </p:nvSpPr>
        <p:spPr>
          <a:xfrm>
            <a:off x="640080" y="50292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06</a:t>
            </a:r>
            <a:endParaRPr lang="en-US" sz="1500" dirty="0"/>
          </a:p>
        </p:txBody>
      </p:sp>
      <p:sp>
        <p:nvSpPr>
          <p:cNvPr id="4" name="Text 2"/>
          <p:cNvSpPr txBox="1"/>
          <p:nvPr/>
        </p:nvSpPr>
        <p:spPr>
          <a:xfrm>
            <a:off x="1115568" y="502920"/>
            <a:ext cx="8229600" cy="384048"/>
          </a:xfrm>
          <a:prstGeom prst="rect">
            <a:avLst/>
          </a:prstGeom>
          <a:noFill/>
          <a:ln/>
        </p:spPr>
        <p:txBody>
          <a:bodyPr wrap="square" lIns="0" tIns="0" rIns="0" bIns="0" rtlCol="0" anchor="ctr"/>
          <a:lstStyle/>
          <a:p>
            <a:pPr marL="0" indent="0" algn="l">
              <a:buNone/>
            </a:pPr>
            <a:r>
              <a:rPr lang="en-US" sz="1300" b="1" kern="0" spc="200" dirty="0">
                <a:solidFill>
                  <a:srgbClr val="A9B4B1"/>
                </a:solidFill>
                <a:latin typeface="Calibri" pitchFamily="34" charset="0"/>
                <a:ea typeface="Calibri" pitchFamily="34" charset="-122"/>
                <a:cs typeface="Calibri" pitchFamily="34" charset="-120"/>
              </a:rPr>
              <a:t>MODELS</a:t>
            </a:r>
            <a:endParaRPr lang="en-US" sz="1300" dirty="0"/>
          </a:p>
        </p:txBody>
      </p:sp>
      <p:sp>
        <p:nvSpPr>
          <p:cNvPr id="5" name="Text 3"/>
          <p:cNvSpPr txBox="1"/>
          <p:nvPr/>
        </p:nvSpPr>
        <p:spPr>
          <a:xfrm>
            <a:off x="640080" y="1051560"/>
            <a:ext cx="10881360" cy="731520"/>
          </a:xfrm>
          <a:prstGeom prst="rect">
            <a:avLst/>
          </a:prstGeom>
          <a:noFill/>
          <a:ln/>
        </p:spPr>
        <p:txBody>
          <a:bodyPr wrap="square" lIns="0" tIns="0" rIns="0" bIns="0" rtlCol="0" anchor="ctr"/>
          <a:lstStyle/>
          <a:p>
            <a:pPr marL="0" indent="0" algn="l">
              <a:buNone/>
            </a:pPr>
            <a:r>
              <a:rPr lang="en-US" sz="3000" b="1" dirty="0">
                <a:solidFill>
                  <a:srgbClr val="FFFFFF"/>
                </a:solidFill>
                <a:latin typeface="Cambria" pitchFamily="34" charset="0"/>
                <a:ea typeface="Cambria" pitchFamily="34" charset="-122"/>
                <a:cs typeface="Cambria" pitchFamily="34" charset="-120"/>
              </a:rPr>
              <a:t>Five models, one shared signal</a:t>
            </a:r>
            <a:endParaRPr lang="en-US" sz="3000" dirty="0"/>
          </a:p>
        </p:txBody>
      </p:sp>
      <p:sp>
        <p:nvSpPr>
          <p:cNvPr id="6" name="Text 4"/>
          <p:cNvSpPr txBox="1"/>
          <p:nvPr/>
        </p:nvSpPr>
        <p:spPr>
          <a:xfrm>
            <a:off x="640080" y="1783080"/>
            <a:ext cx="10881360" cy="640080"/>
          </a:xfrm>
          <a:prstGeom prst="rect">
            <a:avLst/>
          </a:prstGeom>
          <a:noFill/>
          <a:ln/>
        </p:spPr>
        <p:txBody>
          <a:bodyPr wrap="square" lIns="0" tIns="0" rIns="0" bIns="0" rtlCol="0" anchor="t"/>
          <a:lstStyle/>
          <a:p>
            <a:pPr marL="0" indent="0" algn="l">
              <a:lnSpc>
                <a:spcPct val="110000"/>
              </a:lnSpc>
              <a:buNone/>
            </a:pPr>
            <a:r>
              <a:rPr lang="en-US" sz="1400" dirty="0">
                <a:solidFill>
                  <a:srgbClr val="A9B4B1"/>
                </a:solidFill>
                <a:latin typeface="Calibri" pitchFamily="34" charset="0"/>
                <a:ea typeface="Calibri" pitchFamily="34" charset="-122"/>
                <a:cs typeface="Calibri" pitchFamily="34" charset="-120"/>
              </a:rPr>
              <a:t>Every model chooses from the same set of per-step features — the shape, timing, impact and vibration of one stride. Three are supervised classifiers; two turn the signal into a continuous 0-100 score.</a:t>
            </a:r>
            <a:endParaRPr lang="en-US" sz="1400" dirty="0"/>
          </a:p>
        </p:txBody>
      </p:sp>
      <p:sp>
        <p:nvSpPr>
          <p:cNvPr id="7" name="Rounded Rectangle 6"/>
          <p:cNvSpPr/>
          <p:nvPr/>
        </p:nvSpPr>
        <p:spPr>
          <a:xfrm>
            <a:off x="640080" y="2360000"/>
            <a:ext cx="5303520" cy="1300000"/>
          </a:xfrm>
          <a:prstGeom prst="roundRect">
            <a:avLst/>
          </a:prstGeom>
          <a:solidFill>
            <a:srgbClr val="F3F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40080" y="2600000"/>
            <a:ext cx="820000" cy="820000"/>
          </a:xfrm>
          <a:prstGeom prst="roundRect">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a:solidFill>
                  <a:srgbClr val="FFFFFF"/>
                </a:solidFill>
              </a:rPr>
              <a:t>grass · loose · paved</a:t>
            </a:r>
          </a:p>
        </p:txBody>
      </p:sp>
      <p:sp>
        <p:nvSpPr>
          <p:cNvPr id="9" name="TextBox 8"/>
          <p:cNvSpPr txBox="1"/>
          <p:nvPr/>
        </p:nvSpPr>
        <p:spPr>
          <a:xfrm>
            <a:off x="1880080" y="2590000"/>
            <a:ext cx="3903520" cy="360000"/>
          </a:xfrm>
          <a:prstGeom prst="rect">
            <a:avLst/>
          </a:prstGeom>
          <a:noFill/>
        </p:spPr>
        <p:txBody>
          <a:bodyPr wrap="square">
            <a:spAutoFit/>
          </a:bodyPr>
          <a:lstStyle/>
          <a:p>
            <a:r>
              <a:rPr sz="1700" b="1">
                <a:solidFill>
                  <a:srgbClr val="1A1A1A"/>
                </a:solidFill>
              </a:rPr>
              <a:t>3-class surface   </a:t>
            </a:r>
            <a:r>
              <a:rPr sz="1100" i="1">
                <a:solidFill>
                  <a:srgbClr val="4CAF50"/>
                </a:solidFill>
              </a:rPr>
              <a:t>supervised</a:t>
            </a:r>
          </a:p>
        </p:txBody>
      </p:sp>
      <p:sp>
        <p:nvSpPr>
          <p:cNvPr id="10" name="TextBox 9"/>
          <p:cNvSpPr txBox="1"/>
          <p:nvPr/>
        </p:nvSpPr>
        <p:spPr>
          <a:xfrm>
            <a:off x="1880080" y="3020000"/>
            <a:ext cx="3903520" cy="580000"/>
          </a:xfrm>
          <a:prstGeom prst="rect">
            <a:avLst/>
          </a:prstGeom>
          <a:noFill/>
        </p:spPr>
        <p:txBody>
          <a:bodyPr wrap="square">
            <a:spAutoFit/>
          </a:bodyPr>
          <a:lstStyle/>
          <a:p>
            <a:r>
              <a:rPr sz="1200">
                <a:solidFill>
                  <a:srgbClr val="555555"/>
                </a:solidFill>
              </a:rPr>
              <a:t>Predicts the surface type of each step.</a:t>
            </a:r>
          </a:p>
        </p:txBody>
      </p:sp>
      <p:sp>
        <p:nvSpPr>
          <p:cNvPr id="11" name="Rounded Rectangle 10"/>
          <p:cNvSpPr/>
          <p:nvPr/>
        </p:nvSpPr>
        <p:spPr>
          <a:xfrm>
            <a:off x="6172200" y="2360000"/>
            <a:ext cx="5303520" cy="1300000"/>
          </a:xfrm>
          <a:prstGeom prst="roundRect">
            <a:avLst/>
          </a:prstGeom>
          <a:solidFill>
            <a:srgbClr val="F3F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6372200" y="2600000"/>
            <a:ext cx="820000" cy="820000"/>
          </a:xfrm>
          <a:prstGeom prst="roundRect">
            <a:avLst/>
          </a:prstGeom>
          <a:solidFill>
            <a:srgbClr val="607D8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a:solidFill>
                  <a:srgbClr val="FFFFFF"/>
                </a:solidFill>
              </a:rPr>
              <a:t>soft · hard</a:t>
            </a:r>
          </a:p>
        </p:txBody>
      </p:sp>
      <p:sp>
        <p:nvSpPr>
          <p:cNvPr id="13" name="TextBox 12"/>
          <p:cNvSpPr txBox="1"/>
          <p:nvPr/>
        </p:nvSpPr>
        <p:spPr>
          <a:xfrm>
            <a:off x="7412200" y="2590000"/>
            <a:ext cx="3903520" cy="360000"/>
          </a:xfrm>
          <a:prstGeom prst="rect">
            <a:avLst/>
          </a:prstGeom>
          <a:noFill/>
        </p:spPr>
        <p:txBody>
          <a:bodyPr wrap="square">
            <a:spAutoFit/>
          </a:bodyPr>
          <a:lstStyle/>
          <a:p>
            <a:r>
              <a:rPr sz="1700" b="1">
                <a:solidFill>
                  <a:srgbClr val="1A1A1A"/>
                </a:solidFill>
              </a:rPr>
              <a:t>2-class compliance   </a:t>
            </a:r>
            <a:r>
              <a:rPr sz="1100" i="1">
                <a:solidFill>
                  <a:srgbClr val="4CAF50"/>
                </a:solidFill>
              </a:rPr>
              <a:t>supervised</a:t>
            </a:r>
          </a:p>
        </p:txBody>
      </p:sp>
      <p:sp>
        <p:nvSpPr>
          <p:cNvPr id="14" name="TextBox 13"/>
          <p:cNvSpPr txBox="1"/>
          <p:nvPr/>
        </p:nvSpPr>
        <p:spPr>
          <a:xfrm>
            <a:off x="7412200" y="3020000"/>
            <a:ext cx="3903520" cy="580000"/>
          </a:xfrm>
          <a:prstGeom prst="rect">
            <a:avLst/>
          </a:prstGeom>
          <a:noFill/>
        </p:spPr>
        <p:txBody>
          <a:bodyPr wrap="square">
            <a:spAutoFit/>
          </a:bodyPr>
          <a:lstStyle/>
          <a:p>
            <a:r>
              <a:rPr sz="1200">
                <a:solidFill>
                  <a:srgbClr val="555555"/>
                </a:solidFill>
              </a:rPr>
              <a:t>Collapses to the axis the sensor reads best.</a:t>
            </a:r>
          </a:p>
        </p:txBody>
      </p:sp>
      <p:sp>
        <p:nvSpPr>
          <p:cNvPr id="15" name="Rounded Rectangle 14"/>
          <p:cNvSpPr/>
          <p:nvPr/>
        </p:nvSpPr>
        <p:spPr>
          <a:xfrm>
            <a:off x="640080" y="3810000"/>
            <a:ext cx="5303520" cy="1300000"/>
          </a:xfrm>
          <a:prstGeom prst="roundRect">
            <a:avLst/>
          </a:prstGeom>
          <a:solidFill>
            <a:srgbClr val="F3F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840080" y="4050000"/>
            <a:ext cx="820000" cy="820000"/>
          </a:xfrm>
          <a:prstGeom prst="roundRect">
            <a:avLst/>
          </a:prstGeom>
          <a:solidFill>
            <a:srgbClr val="8D6E6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a:solidFill>
                  <a:srgbClr val="FFFFFF"/>
                </a:solidFill>
              </a:rPr>
              <a:t>0-100 score</a:t>
            </a:r>
          </a:p>
        </p:txBody>
      </p:sp>
      <p:sp>
        <p:nvSpPr>
          <p:cNvPr id="17" name="TextBox 16"/>
          <p:cNvSpPr txBox="1"/>
          <p:nvPr/>
        </p:nvSpPr>
        <p:spPr>
          <a:xfrm>
            <a:off x="1880080" y="4040000"/>
            <a:ext cx="3903520" cy="360000"/>
          </a:xfrm>
          <a:prstGeom prst="rect">
            <a:avLst/>
          </a:prstGeom>
          <a:noFill/>
        </p:spPr>
        <p:txBody>
          <a:bodyPr wrap="square">
            <a:spAutoFit/>
          </a:bodyPr>
          <a:lstStyle/>
          <a:p>
            <a:r>
              <a:rPr sz="1700" b="1">
                <a:solidFill>
                  <a:srgbClr val="1A1A1A"/>
                </a:solidFill>
              </a:rPr>
              <a:t>Evenness   </a:t>
            </a:r>
            <a:r>
              <a:rPr sz="1100" i="1">
                <a:solidFill>
                  <a:srgbClr val="4CAF50"/>
                </a:solidFill>
              </a:rPr>
              <a:t>unsupervised</a:t>
            </a:r>
          </a:p>
        </p:txBody>
      </p:sp>
      <p:sp>
        <p:nvSpPr>
          <p:cNvPr id="18" name="TextBox 17"/>
          <p:cNvSpPr txBox="1"/>
          <p:nvPr/>
        </p:nvSpPr>
        <p:spPr>
          <a:xfrm>
            <a:off x="1880080" y="4470000"/>
            <a:ext cx="3903520" cy="580000"/>
          </a:xfrm>
          <a:prstGeom prst="rect">
            <a:avLst/>
          </a:prstGeom>
          <a:noFill/>
        </p:spPr>
        <p:txBody>
          <a:bodyPr wrap="square">
            <a:spAutoFit/>
          </a:bodyPr>
          <a:lstStyle/>
          <a:p>
            <a:r>
              <a:rPr sz="1200">
                <a:solidFill>
                  <a:srgbClr val="555555"/>
                </a:solidFill>
              </a:rPr>
              <a:t>How regular the gait is, built with no labels.</a:t>
            </a:r>
          </a:p>
        </p:txBody>
      </p:sp>
      <p:sp>
        <p:nvSpPr>
          <p:cNvPr id="19" name="Rounded Rectangle 18"/>
          <p:cNvSpPr/>
          <p:nvPr/>
        </p:nvSpPr>
        <p:spPr>
          <a:xfrm>
            <a:off x="6172200" y="3810000"/>
            <a:ext cx="5303520" cy="1300000"/>
          </a:xfrm>
          <a:prstGeom prst="roundRect">
            <a:avLst/>
          </a:prstGeom>
          <a:solidFill>
            <a:srgbClr val="F3F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6372200" y="4050000"/>
            <a:ext cx="820000" cy="820000"/>
          </a:xfrm>
          <a:prstGeom prst="roundRect">
            <a:avLst/>
          </a:prstGeom>
          <a:solidFill>
            <a:srgbClr val="8A9A9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a:solidFill>
                  <a:srgbClr val="FFFFFF"/>
                </a:solidFill>
              </a:rPr>
              <a:t>P(firm) × 100</a:t>
            </a:r>
          </a:p>
        </p:txBody>
      </p:sp>
      <p:sp>
        <p:nvSpPr>
          <p:cNvPr id="21" name="TextBox 20"/>
          <p:cNvSpPr txBox="1"/>
          <p:nvPr/>
        </p:nvSpPr>
        <p:spPr>
          <a:xfrm>
            <a:off x="7412200" y="4040000"/>
            <a:ext cx="3903520" cy="360000"/>
          </a:xfrm>
          <a:prstGeom prst="rect">
            <a:avLst/>
          </a:prstGeom>
          <a:noFill/>
        </p:spPr>
        <p:txBody>
          <a:bodyPr wrap="square">
            <a:spAutoFit/>
          </a:bodyPr>
          <a:lstStyle/>
          <a:p>
            <a:r>
              <a:rPr sz="1700" b="1">
                <a:solidFill>
                  <a:srgbClr val="1A1A1A"/>
                </a:solidFill>
              </a:rPr>
              <a:t>Hardness   </a:t>
            </a:r>
            <a:r>
              <a:rPr sz="1100" i="1">
                <a:solidFill>
                  <a:srgbClr val="4CAF50"/>
                </a:solidFill>
              </a:rPr>
              <a:t>supervised</a:t>
            </a:r>
          </a:p>
        </p:txBody>
      </p:sp>
      <p:sp>
        <p:nvSpPr>
          <p:cNvPr id="22" name="TextBox 21"/>
          <p:cNvSpPr txBox="1"/>
          <p:nvPr/>
        </p:nvSpPr>
        <p:spPr>
          <a:xfrm>
            <a:off x="7412200" y="4470000"/>
            <a:ext cx="3903520" cy="580000"/>
          </a:xfrm>
          <a:prstGeom prst="rect">
            <a:avLst/>
          </a:prstGeom>
          <a:noFill/>
        </p:spPr>
        <p:txBody>
          <a:bodyPr wrap="square">
            <a:spAutoFit/>
          </a:bodyPr>
          <a:lstStyle/>
          <a:p>
            <a:r>
              <a:rPr sz="1200">
                <a:solidFill>
                  <a:srgbClr val="555555"/>
                </a:solidFill>
              </a:rPr>
              <a:t>How firm the surface is, from a logistic model.</a:t>
            </a:r>
          </a:p>
        </p:txBody>
      </p:sp>
      <p:sp>
        <p:nvSpPr>
          <p:cNvPr id="23" name="Rounded Rectangle 22"/>
          <p:cNvSpPr/>
          <p:nvPr/>
        </p:nvSpPr>
        <p:spPr>
          <a:xfrm>
            <a:off x="3406140" y="5260000"/>
            <a:ext cx="5303520" cy="1300000"/>
          </a:xfrm>
          <a:prstGeom prst="roundRect">
            <a:avLst/>
          </a:prstGeom>
          <a:solidFill>
            <a:srgbClr val="F3F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3606140" y="5500000"/>
            <a:ext cx="820000" cy="820000"/>
          </a:xfrm>
          <a:prstGeom prst="roundRect">
            <a:avLst/>
          </a:prstGeom>
          <a:solidFill>
            <a:srgbClr val="B0468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a:solidFill>
                  <a:srgbClr val="FFFFFF"/>
                </a:solidFill>
              </a:rPr>
              <a:t>cont · mod · loose · grass</a:t>
            </a:r>
          </a:p>
        </p:txBody>
      </p:sp>
      <p:sp>
        <p:nvSpPr>
          <p:cNvPr id="25" name="TextBox 24"/>
          <p:cNvSpPr txBox="1"/>
          <p:nvPr/>
        </p:nvSpPr>
        <p:spPr>
          <a:xfrm>
            <a:off x="4646140" y="5490000"/>
            <a:ext cx="3903520" cy="360000"/>
          </a:xfrm>
          <a:prstGeom prst="rect">
            <a:avLst/>
          </a:prstGeom>
          <a:noFill/>
        </p:spPr>
        <p:txBody>
          <a:bodyPr wrap="square">
            <a:spAutoFit/>
          </a:bodyPr>
          <a:lstStyle/>
          <a:p>
            <a:r>
              <a:rPr sz="1700" b="1">
                <a:solidFill>
                  <a:srgbClr val="1A1A1A"/>
                </a:solidFill>
              </a:rPr>
              <a:t>4-class surface   </a:t>
            </a:r>
            <a:r>
              <a:rPr sz="1100" i="1">
                <a:solidFill>
                  <a:srgbClr val="4CAF50"/>
                </a:solidFill>
              </a:rPr>
              <a:t>supervised · early stage</a:t>
            </a:r>
          </a:p>
        </p:txBody>
      </p:sp>
      <p:sp>
        <p:nvSpPr>
          <p:cNvPr id="26" name="TextBox 25"/>
          <p:cNvSpPr txBox="1"/>
          <p:nvPr/>
        </p:nvSpPr>
        <p:spPr>
          <a:xfrm>
            <a:off x="4646140" y="5920000"/>
            <a:ext cx="3903520" cy="580000"/>
          </a:xfrm>
          <a:prstGeom prst="rect">
            <a:avLst/>
          </a:prstGeom>
          <a:noFill/>
        </p:spPr>
        <p:txBody>
          <a:bodyPr wrap="square">
            <a:spAutoFit/>
          </a:bodyPr>
          <a:lstStyle/>
          <a:p>
            <a:r>
              <a:rPr sz="1200">
                <a:solidFill>
                  <a:srgbClr val="555555"/>
                </a:solidFill>
              </a:rPr>
              <a:t>Splits paved into continuous vs modular (cobblestone). In data collection — early results.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bg>
      <p:bgPr>
        <a:solidFill>
          <a:srgbClr val="002451"/>
        </a:solidFill>
        <a:effectLst/>
      </p:bgPr>
    </p:bg>
    <p:spTree>
      <p:nvGrpSpPr>
        <p:cNvPr id="1" name=""/>
        <p:cNvGrpSpPr/>
        <p:nvPr/>
      </p:nvGrpSpPr>
      <p:grpSpPr>
        <a:xfrm>
          <a:off x="0" y="0"/>
          <a:ext cx="0" cy="0"/>
          <a:chOff x="0" y="0"/>
          <a:chExt cx="0" cy="0"/>
        </a:xfrm>
      </p:grpSpPr>
      <p:sp>
        <p:nvSpPr>
          <p:cNvPr id="2" name="Shape 0"/>
          <p:cNvSpPr/>
          <p:nvPr/>
        </p:nvSpPr>
        <p:spPr>
          <a:xfrm>
            <a:off x="640080" y="502920"/>
            <a:ext cx="384048" cy="384048"/>
          </a:xfrm>
          <a:prstGeom prst="roundRect">
            <a:avLst>
              <a:gd name="adj" fmla="val 14286"/>
            </a:avLst>
          </a:prstGeom>
          <a:solidFill>
            <a:srgbClr val="8A9A95"/>
          </a:solidFill>
          <a:ln/>
        </p:spPr>
        <p:txBody>
          <a:bodyPr/>
          <a:lstStyle/>
          <a:p>
            <a:endParaRPr/>
          </a:p>
        </p:txBody>
      </p:sp>
      <p:sp>
        <p:nvSpPr>
          <p:cNvPr id="3" name="Text 1"/>
          <p:cNvSpPr txBox="1"/>
          <p:nvPr/>
        </p:nvSpPr>
        <p:spPr>
          <a:xfrm>
            <a:off x="640080" y="50292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06</a:t>
            </a:r>
            <a:endParaRPr lang="en-US" sz="1500" dirty="0"/>
          </a:p>
        </p:txBody>
      </p:sp>
      <p:sp>
        <p:nvSpPr>
          <p:cNvPr id="4" name="Text 2"/>
          <p:cNvSpPr txBox="1"/>
          <p:nvPr/>
        </p:nvSpPr>
        <p:spPr>
          <a:xfrm>
            <a:off x="1115568" y="502920"/>
            <a:ext cx="8229600" cy="384048"/>
          </a:xfrm>
          <a:prstGeom prst="rect">
            <a:avLst/>
          </a:prstGeom>
          <a:noFill/>
          <a:ln/>
        </p:spPr>
        <p:txBody>
          <a:bodyPr wrap="square" lIns="0" tIns="0" rIns="0" bIns="0" rtlCol="0" anchor="ctr"/>
          <a:lstStyle/>
          <a:p>
            <a:pPr marL="0" indent="0" algn="l">
              <a:buNone/>
            </a:pPr>
            <a:r>
              <a:rPr lang="en-US" sz="1300" b="1" kern="0" spc="200" dirty="0">
                <a:solidFill>
                  <a:srgbClr val="A9B4B1"/>
                </a:solidFill>
                <a:latin typeface="Calibri" pitchFamily="34" charset="0"/>
                <a:ea typeface="Calibri" pitchFamily="34" charset="-122"/>
                <a:cs typeface="Calibri" pitchFamily="34" charset="-120"/>
              </a:rPr>
              <a:t>MODELS</a:t>
            </a:r>
            <a:endParaRPr lang="en-US" sz="1300" dirty="0"/>
          </a:p>
        </p:txBody>
      </p:sp>
      <p:sp>
        <p:nvSpPr>
          <p:cNvPr id="5" name="Text 3"/>
          <p:cNvSpPr txBox="1"/>
          <p:nvPr/>
        </p:nvSpPr>
        <p:spPr>
          <a:xfrm>
            <a:off x="640080" y="1051560"/>
            <a:ext cx="10881360" cy="731520"/>
          </a:xfrm>
          <a:prstGeom prst="rect">
            <a:avLst/>
          </a:prstGeom>
          <a:noFill/>
          <a:ln/>
        </p:spPr>
        <p:txBody>
          <a:bodyPr wrap="square" lIns="0" tIns="0" rIns="0" bIns="0" rtlCol="0" anchor="ctr"/>
          <a:lstStyle/>
          <a:p>
            <a:pPr marL="0" indent="0" algn="l">
              <a:buNone/>
            </a:pPr>
            <a:r>
              <a:rPr lang="en-US" sz="3000" b="1" dirty="0">
                <a:solidFill>
                  <a:srgbClr val="FFFFFF"/>
                </a:solidFill>
                <a:latin typeface="Cambria" pitchFamily="34" charset="0"/>
                <a:ea typeface="Cambria" pitchFamily="34" charset="-122"/>
                <a:cs typeface="Cambria" pitchFamily="34" charset="-120"/>
              </a:rPr>
              <a:t>What separates the surfaces</a:t>
            </a:r>
            <a:endParaRPr lang="en-US" sz="3000" dirty="0"/>
          </a:p>
        </p:txBody>
      </p:sp>
      <p:sp>
        <p:nvSpPr>
          <p:cNvPr id="6" name="Text 4"/>
          <p:cNvSpPr txBox="1"/>
          <p:nvPr/>
        </p:nvSpPr>
        <p:spPr>
          <a:xfrm>
            <a:off x="640080" y="1737360"/>
            <a:ext cx="10881360" cy="685800"/>
          </a:xfrm>
          <a:prstGeom prst="rect">
            <a:avLst/>
          </a:prstGeom>
          <a:noFill/>
          <a:ln/>
        </p:spPr>
        <p:txBody>
          <a:bodyPr wrap="square" lIns="0" tIns="0" rIns="0" bIns="0" rtlCol="0" anchor="t"/>
          <a:lstStyle/>
          <a:p>
            <a:pPr marL="0" indent="0" algn="l">
              <a:lnSpc>
                <a:spcPct val="110000"/>
              </a:lnSpc>
              <a:buNone/>
            </a:pPr>
            <a:r>
              <a:rPr lang="en-US" sz="1350" dirty="0">
                <a:solidFill>
                  <a:srgbClr val="A9B4B1"/>
                </a:solidFill>
                <a:latin typeface="Calibri" pitchFamily="34" charset="0"/>
                <a:ea typeface="Calibri" pitchFamily="34" charset="-122"/>
                <a:cs typeface="Calibri" pitchFamily="34" charset="-120"/>
              </a:rPr>
              <a:t>Each stride becomes ~48 features, and every model selects from that shared set — the 3-class model uses 36, the 2-class model uses 28, and the 4-class model is still in data collection. Ranked by how well they separate the surfaces, the strongest are step-to-step foot-tilt variation, accel jerk and gyro variability — grass (soft) sits apart from firm ground on almost all of them.</a:t>
            </a:r>
            <a:endParaRPr lang="en-US" sz="1350" dirty="0"/>
          </a:p>
        </p:txBody>
      </p:sp>
      <p:sp>
        <p:nvSpPr>
          <p:cNvPr id="7" name="Shape 5"/>
          <p:cNvSpPr/>
          <p:nvPr/>
        </p:nvSpPr>
        <p:spPr>
          <a:xfrm>
            <a:off x="640080" y="2514600"/>
            <a:ext cx="10908792" cy="3200400"/>
          </a:xfrm>
          <a:prstGeom prst="roundRect">
            <a:avLst>
              <a:gd name="adj" fmla="val 1429"/>
            </a:avLst>
          </a:prstGeom>
          <a:solidFill>
            <a:srgbClr val="FFFFFF"/>
          </a:solidFill>
          <a:ln w="12700">
            <a:solidFill>
              <a:srgbClr val="DCE3E1"/>
            </a:solidFill>
            <a:prstDash val="solid"/>
          </a:ln>
        </p:spPr>
        <p:txBody>
          <a:bodyPr/>
          <a:lstStyle/>
          <a:p>
            <a:endParaRPr/>
          </a:p>
        </p:txBody>
      </p:sp>
      <p:pic>
        <p:nvPicPr>
          <p:cNvPr id="8" name="Image 0" descr="/mnt/user-data/uploads/feature_distributions.png"/>
          <p:cNvPicPr>
            <a:picLocks noChangeAspect="1"/>
          </p:cNvPicPr>
          <p:nvPr/>
        </p:nvPicPr>
        <p:blipFill>
          <a:blip r:embed="rId3"/>
          <a:stretch>
            <a:fillRect/>
          </a:stretch>
        </p:blipFill>
        <p:spPr>
          <a:xfrm>
            <a:off x="2795421" y="2660904"/>
            <a:ext cx="6598109" cy="2615184"/>
          </a:xfrm>
          <a:prstGeom prst="rect">
            <a:avLst/>
          </a:prstGeom>
        </p:spPr>
      </p:pic>
      <p:sp>
        <p:nvSpPr>
          <p:cNvPr id="9" name="Text 6"/>
          <p:cNvSpPr txBox="1"/>
          <p:nvPr/>
        </p:nvSpPr>
        <p:spPr>
          <a:xfrm>
            <a:off x="640080" y="5440680"/>
            <a:ext cx="10908792" cy="237744"/>
          </a:xfrm>
          <a:prstGeom prst="rect">
            <a:avLst/>
          </a:prstGeom>
          <a:noFill/>
          <a:ln/>
        </p:spPr>
        <p:txBody>
          <a:bodyPr wrap="square" lIns="0" tIns="0" rIns="0" bIns="0" rtlCol="0" anchor="ctr"/>
          <a:lstStyle/>
          <a:p>
            <a:pPr marL="0" indent="0" algn="ctr">
              <a:buNone/>
            </a:pPr>
            <a:r>
              <a:rPr lang="en-US" sz="1050" i="1" dirty="0">
                <a:solidFill>
                  <a:srgbClr val="6B7772"/>
                </a:solidFill>
                <a:latin typeface="Calibri" pitchFamily="34" charset="0"/>
                <a:ea typeface="Calibri" pitchFamily="34" charset="-122"/>
                <a:cs typeface="Calibri" pitchFamily="34" charset="-120"/>
              </a:rPr>
              <a:t>top class-differentiating features (ANOVA-ranked) — all four surface classes</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bg>
      <p:bgPr>
        <a:solidFill>
          <a:srgbClr val="002451"/>
        </a:solidFill>
        <a:effectLst/>
      </p:bgPr>
    </p:bg>
    <p:spTree>
      <p:nvGrpSpPr>
        <p:cNvPr id="1" name=""/>
        <p:cNvGrpSpPr/>
        <p:nvPr/>
      </p:nvGrpSpPr>
      <p:grpSpPr>
        <a:xfrm>
          <a:off x="0" y="0"/>
          <a:ext cx="0" cy="0"/>
          <a:chOff x="0" y="0"/>
          <a:chExt cx="0" cy="0"/>
        </a:xfrm>
      </p:grpSpPr>
      <p:sp>
        <p:nvSpPr>
          <p:cNvPr id="2" name="Shape 0"/>
          <p:cNvSpPr/>
          <p:nvPr/>
        </p:nvSpPr>
        <p:spPr>
          <a:xfrm>
            <a:off x="640080" y="502920"/>
            <a:ext cx="384048" cy="384048"/>
          </a:xfrm>
          <a:prstGeom prst="roundRect">
            <a:avLst>
              <a:gd name="adj" fmla="val 14286"/>
            </a:avLst>
          </a:prstGeom>
          <a:solidFill>
            <a:srgbClr val="8A9A95"/>
          </a:solidFill>
          <a:ln/>
        </p:spPr>
        <p:txBody>
          <a:bodyPr/>
          <a:lstStyle/>
          <a:p>
            <a:endParaRPr/>
          </a:p>
        </p:txBody>
      </p:sp>
      <p:sp>
        <p:nvSpPr>
          <p:cNvPr id="3" name="Text 1"/>
          <p:cNvSpPr txBox="1"/>
          <p:nvPr/>
        </p:nvSpPr>
        <p:spPr>
          <a:xfrm>
            <a:off x="640080" y="50292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06</a:t>
            </a:r>
            <a:endParaRPr lang="en-US" sz="1500" dirty="0"/>
          </a:p>
        </p:txBody>
      </p:sp>
      <p:sp>
        <p:nvSpPr>
          <p:cNvPr id="4" name="Text 2"/>
          <p:cNvSpPr txBox="1"/>
          <p:nvPr/>
        </p:nvSpPr>
        <p:spPr>
          <a:xfrm>
            <a:off x="1115568" y="502920"/>
            <a:ext cx="8229600" cy="384048"/>
          </a:xfrm>
          <a:prstGeom prst="rect">
            <a:avLst/>
          </a:prstGeom>
          <a:noFill/>
          <a:ln/>
        </p:spPr>
        <p:txBody>
          <a:bodyPr wrap="square" lIns="0" tIns="0" rIns="0" bIns="0" rtlCol="0" anchor="ctr"/>
          <a:lstStyle/>
          <a:p>
            <a:pPr marL="0" indent="0" algn="l">
              <a:buNone/>
            </a:pPr>
            <a:r>
              <a:rPr lang="en-US" sz="1300" b="1" kern="0" spc="200" dirty="0">
                <a:solidFill>
                  <a:srgbClr val="A9B4B1"/>
                </a:solidFill>
                <a:latin typeface="Calibri" pitchFamily="34" charset="0"/>
                <a:ea typeface="Calibri" pitchFamily="34" charset="-122"/>
                <a:cs typeface="Calibri" pitchFamily="34" charset="-120"/>
              </a:rPr>
              <a:t>MODELS</a:t>
            </a:r>
            <a:endParaRPr lang="en-US" sz="1300" dirty="0"/>
          </a:p>
        </p:txBody>
      </p:sp>
      <p:sp>
        <p:nvSpPr>
          <p:cNvPr id="5" name="Text 3"/>
          <p:cNvSpPr txBox="1"/>
          <p:nvPr/>
        </p:nvSpPr>
        <p:spPr>
          <a:xfrm>
            <a:off x="640080" y="1051560"/>
            <a:ext cx="10881360" cy="731520"/>
          </a:xfrm>
          <a:prstGeom prst="rect">
            <a:avLst/>
          </a:prstGeom>
          <a:noFill/>
          <a:ln/>
        </p:spPr>
        <p:txBody>
          <a:bodyPr wrap="square" lIns="0" tIns="0" rIns="0" bIns="0" rtlCol="0" anchor="ctr"/>
          <a:lstStyle/>
          <a:p>
            <a:pPr marL="0" indent="0" algn="l">
              <a:buNone/>
            </a:pPr>
            <a:r>
              <a:rPr lang="en-US" sz="3000" b="1" dirty="0">
                <a:solidFill>
                  <a:srgbClr val="FFFFFF"/>
                </a:solidFill>
                <a:latin typeface="Cambria" pitchFamily="34" charset="0"/>
                <a:ea typeface="Cambria" pitchFamily="34" charset="-122"/>
                <a:cs typeface="Cambria" pitchFamily="34" charset="-120"/>
              </a:rPr>
              <a:t>How well the models separate surfaces</a:t>
            </a:r>
            <a:endParaRPr lang="en-US" sz="3000" dirty="0"/>
          </a:p>
        </p:txBody>
      </p:sp>
      <p:sp>
        <p:nvSpPr>
          <p:cNvPr id="6" name="Shape 4"/>
          <p:cNvSpPr/>
          <p:nvPr/>
        </p:nvSpPr>
        <p:spPr>
          <a:xfrm>
            <a:off x="640080" y="1783080"/>
            <a:ext cx="3470613" cy="3063240"/>
          </a:xfrm>
          <a:prstGeom prst="roundRect">
            <a:avLst>
              <a:gd name="adj" fmla="val 1493"/>
            </a:avLst>
          </a:prstGeom>
          <a:solidFill>
            <a:srgbClr val="FFFFFF"/>
          </a:solidFill>
          <a:ln w="12700">
            <a:solidFill>
              <a:srgbClr val="DCE3E1"/>
            </a:solidFill>
            <a:prstDash val="solid"/>
          </a:ln>
        </p:spPr>
        <p:txBody>
          <a:bodyPr/>
          <a:lstStyle/>
          <a:p>
            <a:endParaRPr/>
          </a:p>
        </p:txBody>
      </p:sp>
      <p:sp>
        <p:nvSpPr>
          <p:cNvPr id="8" name="Text 5"/>
          <p:cNvSpPr txBox="1"/>
          <p:nvPr/>
        </p:nvSpPr>
        <p:spPr>
          <a:xfrm>
            <a:off x="640080" y="4572000"/>
            <a:ext cx="3470613" cy="237744"/>
          </a:xfrm>
          <a:prstGeom prst="rect">
            <a:avLst/>
          </a:prstGeom>
          <a:noFill/>
          <a:ln/>
        </p:spPr>
        <p:txBody>
          <a:bodyPr wrap="square" lIns="0" tIns="0" rIns="0" bIns="0" rtlCol="0" anchor="ctr"/>
          <a:lstStyle/>
          <a:p>
            <a:pPr marL="0" indent="0" algn="ctr">
              <a:buNone/>
            </a:pPr>
            <a:r>
              <a:rPr lang="en-US" sz="1050" i="1" dirty="0">
                <a:solidFill>
                  <a:srgbClr val="6B7772"/>
                </a:solidFill>
                <a:latin typeface="Calibri" pitchFamily="34" charset="0"/>
                <a:ea typeface="Calibri" pitchFamily="34" charset="-122"/>
                <a:cs typeface="Calibri" pitchFamily="34" charset="-120"/>
              </a:rPr>
              <a:t>2-class · soft vs hard — 87.9%</a:t>
            </a:r>
            <a:endParaRPr lang="en-US" sz="1050" dirty="0"/>
          </a:p>
        </p:txBody>
      </p:sp>
      <p:sp>
        <p:nvSpPr>
          <p:cNvPr id="9" name="Shape 6"/>
          <p:cNvSpPr/>
          <p:nvPr/>
        </p:nvSpPr>
        <p:spPr>
          <a:xfrm>
            <a:off x="4360693" y="1783080"/>
            <a:ext cx="3470613" cy="3063240"/>
          </a:xfrm>
          <a:prstGeom prst="roundRect">
            <a:avLst>
              <a:gd name="adj" fmla="val 1493"/>
            </a:avLst>
          </a:prstGeom>
          <a:solidFill>
            <a:srgbClr val="FFFFFF"/>
          </a:solidFill>
          <a:ln w="12700">
            <a:solidFill>
              <a:srgbClr val="DCE3E1"/>
            </a:solidFill>
            <a:prstDash val="solid"/>
          </a:ln>
        </p:spPr>
        <p:txBody>
          <a:bodyPr/>
          <a:lstStyle/>
          <a:p>
            <a:endParaRPr/>
          </a:p>
        </p:txBody>
      </p:sp>
      <p:sp>
        <p:nvSpPr>
          <p:cNvPr id="11" name="Text 7"/>
          <p:cNvSpPr txBox="1"/>
          <p:nvPr/>
        </p:nvSpPr>
        <p:spPr>
          <a:xfrm>
            <a:off x="4360693" y="4572000"/>
            <a:ext cx="3470613" cy="237744"/>
          </a:xfrm>
          <a:prstGeom prst="rect">
            <a:avLst/>
          </a:prstGeom>
          <a:noFill/>
          <a:ln/>
        </p:spPr>
        <p:txBody>
          <a:bodyPr wrap="square" lIns="0" tIns="0" rIns="0" bIns="0" rtlCol="0" anchor="ctr"/>
          <a:lstStyle/>
          <a:p>
            <a:pPr marL="0" indent="0" algn="ctr">
              <a:buNone/>
            </a:pPr>
            <a:r>
              <a:rPr lang="en-US" sz="1050" i="1" dirty="0">
                <a:solidFill>
                  <a:srgbClr val="6B7772"/>
                </a:solidFill>
                <a:latin typeface="Calibri" pitchFamily="34" charset="0"/>
                <a:ea typeface="Calibri" pitchFamily="34" charset="-122"/>
                <a:cs typeface="Calibri" pitchFamily="34" charset="-120"/>
              </a:rPr>
              <a:t>3-class · grass/loose/paved — 78.7%</a:t>
            </a:r>
            <a:endParaRPr lang="en-US" sz="1050" dirty="0"/>
          </a:p>
        </p:txBody>
      </p:sp>
      <p:sp>
        <p:nvSpPr>
          <p:cNvPr id="12" name="Shape 8"/>
          <p:cNvSpPr/>
          <p:nvPr/>
        </p:nvSpPr>
        <p:spPr>
          <a:xfrm>
            <a:off x="640080" y="5029200"/>
            <a:ext cx="10908792" cy="1234440"/>
          </a:xfrm>
          <a:prstGeom prst="roundRect">
            <a:avLst>
              <a:gd name="adj" fmla="val 4444"/>
            </a:avLst>
          </a:prstGeom>
          <a:solidFill>
            <a:srgbClr val="F3F6F5"/>
          </a:solidFill>
          <a:ln/>
        </p:spPr>
        <p:txBody>
          <a:bodyPr/>
          <a:lstStyle/>
          <a:p>
            <a:endParaRPr/>
          </a:p>
        </p:txBody>
      </p:sp>
      <p:sp>
        <p:nvSpPr>
          <p:cNvPr id="13" name="Shape 9"/>
          <p:cNvSpPr/>
          <p:nvPr/>
        </p:nvSpPr>
        <p:spPr>
          <a:xfrm>
            <a:off x="914400" y="5212080"/>
            <a:ext cx="256032" cy="256032"/>
          </a:xfrm>
          <a:prstGeom prst="roundRect">
            <a:avLst>
              <a:gd name="adj" fmla="val 17857"/>
            </a:avLst>
          </a:prstGeom>
          <a:solidFill>
            <a:srgbClr val="2E7D32"/>
          </a:solidFill>
          <a:ln/>
        </p:spPr>
        <p:txBody>
          <a:bodyPr/>
          <a:lstStyle/>
          <a:p>
            <a:endParaRPr/>
          </a:p>
        </p:txBody>
      </p:sp>
      <p:sp>
        <p:nvSpPr>
          <p:cNvPr id="14" name="Text 10"/>
          <p:cNvSpPr txBox="1"/>
          <p:nvPr/>
        </p:nvSpPr>
        <p:spPr>
          <a:xfrm>
            <a:off x="1280160" y="5175504"/>
            <a:ext cx="3108960" cy="365760"/>
          </a:xfrm>
          <a:prstGeom prst="rect">
            <a:avLst/>
          </a:prstGeom>
          <a:noFill/>
          <a:ln/>
        </p:spPr>
        <p:txBody>
          <a:bodyPr wrap="square" lIns="0" tIns="0" rIns="0" bIns="0" rtlCol="0" anchor="ctr"/>
          <a:lstStyle/>
          <a:p>
            <a:pPr marL="0" indent="0" algn="l">
              <a:buNone/>
            </a:pPr>
            <a:r>
              <a:rPr lang="en-US" sz="1250" b="1" dirty="0">
                <a:solidFill>
                  <a:srgbClr val="1B2A30"/>
                </a:solidFill>
                <a:latin typeface="Calibri" pitchFamily="34" charset="0"/>
                <a:ea typeface="Calibri" pitchFamily="34" charset="-122"/>
                <a:cs typeface="Calibri" pitchFamily="34" charset="-120"/>
              </a:rPr>
              <a:t>Soft vs. hard is the robust split</a:t>
            </a:r>
            <a:endParaRPr lang="en-US" sz="1250" dirty="0"/>
          </a:p>
        </p:txBody>
      </p:sp>
      <p:sp>
        <p:nvSpPr>
          <p:cNvPr id="15" name="Text 11"/>
          <p:cNvSpPr txBox="1"/>
          <p:nvPr/>
        </p:nvSpPr>
        <p:spPr>
          <a:xfrm>
            <a:off x="1280160" y="5486400"/>
            <a:ext cx="2880360" cy="731520"/>
          </a:xfrm>
          <a:prstGeom prst="rect">
            <a:avLst/>
          </a:prstGeom>
          <a:noFill/>
          <a:ln/>
        </p:spPr>
        <p:txBody>
          <a:bodyPr wrap="square" lIns="0" tIns="0" rIns="0" bIns="0" rtlCol="0" anchor="t"/>
          <a:lstStyle/>
          <a:p>
            <a:pPr marL="0" indent="0" algn="l">
              <a:lnSpc>
                <a:spcPct val="105000"/>
              </a:lnSpc>
              <a:buNone/>
            </a:pPr>
            <a:r>
              <a:rPr lang="en-US" sz="1150" dirty="0">
                <a:solidFill>
                  <a:srgbClr val="6B7772"/>
                </a:solidFill>
                <a:latin typeface="Calibri" pitchFamily="34" charset="0"/>
                <a:ea typeface="Calibri" pitchFamily="34" charset="-122"/>
                <a:cs typeface="Calibri" pitchFamily="34" charset="-120"/>
              </a:rPr>
              <a:t>88% — the sensor reads how the ground gives.</a:t>
            </a:r>
            <a:endParaRPr lang="en-US" sz="1150" dirty="0"/>
          </a:p>
        </p:txBody>
      </p:sp>
      <p:sp>
        <p:nvSpPr>
          <p:cNvPr id="16" name="Shape 12"/>
          <p:cNvSpPr/>
          <p:nvPr/>
        </p:nvSpPr>
        <p:spPr>
          <a:xfrm>
            <a:off x="4526280" y="5212080"/>
            <a:ext cx="256032" cy="256032"/>
          </a:xfrm>
          <a:prstGeom prst="roundRect">
            <a:avLst>
              <a:gd name="adj" fmla="val 17857"/>
            </a:avLst>
          </a:prstGeom>
          <a:solidFill>
            <a:srgbClr val="C0392B"/>
          </a:solidFill>
          <a:ln/>
        </p:spPr>
        <p:txBody>
          <a:bodyPr/>
          <a:lstStyle/>
          <a:p>
            <a:endParaRPr/>
          </a:p>
        </p:txBody>
      </p:sp>
      <p:sp>
        <p:nvSpPr>
          <p:cNvPr id="17" name="Text 13"/>
          <p:cNvSpPr txBox="1"/>
          <p:nvPr/>
        </p:nvSpPr>
        <p:spPr>
          <a:xfrm>
            <a:off x="4892040" y="5175504"/>
            <a:ext cx="3108960" cy="365760"/>
          </a:xfrm>
          <a:prstGeom prst="rect">
            <a:avLst/>
          </a:prstGeom>
          <a:noFill/>
          <a:ln/>
        </p:spPr>
        <p:txBody>
          <a:bodyPr wrap="square" lIns="0" tIns="0" rIns="0" bIns="0" rtlCol="0" anchor="ctr"/>
          <a:lstStyle/>
          <a:p>
            <a:pPr marL="0" indent="0" algn="l">
              <a:buNone/>
            </a:pPr>
            <a:r>
              <a:rPr lang="en-US" sz="1250" b="1" dirty="0">
                <a:solidFill>
                  <a:srgbClr val="1B2A30"/>
                </a:solidFill>
                <a:latin typeface="Calibri" pitchFamily="34" charset="0"/>
                <a:ea typeface="Calibri" pitchFamily="34" charset="-122"/>
                <a:cs typeface="Calibri" pitchFamily="34" charset="-120"/>
              </a:rPr>
              <a:t>Loose is the hard case</a:t>
            </a:r>
            <a:endParaRPr lang="en-US" sz="1250" dirty="0"/>
          </a:p>
        </p:txBody>
      </p:sp>
      <p:sp>
        <p:nvSpPr>
          <p:cNvPr id="18" name="Text 14"/>
          <p:cNvSpPr txBox="1"/>
          <p:nvPr/>
        </p:nvSpPr>
        <p:spPr>
          <a:xfrm>
            <a:off x="4892040" y="5486400"/>
            <a:ext cx="2880360" cy="731520"/>
          </a:xfrm>
          <a:prstGeom prst="rect">
            <a:avLst/>
          </a:prstGeom>
          <a:noFill/>
          <a:ln/>
        </p:spPr>
        <p:txBody>
          <a:bodyPr wrap="square" lIns="0" tIns="0" rIns="0" bIns="0" rtlCol="0" anchor="t"/>
          <a:lstStyle/>
          <a:p>
            <a:pPr marL="0" indent="0" algn="l">
              <a:lnSpc>
                <a:spcPct val="105000"/>
              </a:lnSpc>
              <a:buNone/>
            </a:pPr>
            <a:r>
              <a:rPr lang="en-US" sz="1150" dirty="0">
                <a:solidFill>
                  <a:srgbClr val="6B7772"/>
                </a:solidFill>
                <a:latin typeface="Calibri" pitchFamily="34" charset="0"/>
                <a:ea typeface="Calibri" pitchFamily="34" charset="-122"/>
                <a:cs typeface="Calibri" pitchFamily="34" charset="-120"/>
              </a:rPr>
              <a:t>only 36% of loose steps are correct; most are mistaken for paved — the two firm surfaces overlap.</a:t>
            </a:r>
            <a:endParaRPr lang="en-US" sz="1150" dirty="0"/>
          </a:p>
        </p:txBody>
      </p:sp>
      <p:sp>
        <p:nvSpPr>
          <p:cNvPr id="19" name="Shape 15"/>
          <p:cNvSpPr/>
          <p:nvPr/>
        </p:nvSpPr>
        <p:spPr>
          <a:xfrm>
            <a:off x="8138160" y="5212080"/>
            <a:ext cx="256032" cy="256032"/>
          </a:xfrm>
          <a:prstGeom prst="roundRect">
            <a:avLst>
              <a:gd name="adj" fmla="val 17857"/>
            </a:avLst>
          </a:prstGeom>
          <a:solidFill>
            <a:srgbClr val="8D6E63"/>
          </a:solidFill>
          <a:ln/>
        </p:spPr>
        <p:txBody>
          <a:bodyPr/>
          <a:lstStyle/>
          <a:p>
            <a:endParaRPr/>
          </a:p>
        </p:txBody>
      </p:sp>
      <p:sp>
        <p:nvSpPr>
          <p:cNvPr id="20" name="Text 16"/>
          <p:cNvSpPr txBox="1"/>
          <p:nvPr/>
        </p:nvSpPr>
        <p:spPr>
          <a:xfrm>
            <a:off x="8503920" y="5175504"/>
            <a:ext cx="2880360" cy="365760"/>
          </a:xfrm>
          <a:prstGeom prst="rect">
            <a:avLst/>
          </a:prstGeom>
          <a:noFill/>
          <a:ln/>
        </p:spPr>
        <p:txBody>
          <a:bodyPr wrap="square" lIns="0" tIns="0" rIns="0" bIns="0" rtlCol="0" anchor="ctr"/>
          <a:lstStyle/>
          <a:p>
            <a:pPr marL="0" indent="0" algn="l">
              <a:buNone/>
            </a:pPr>
            <a:r>
              <a:rPr lang="en-US" sz="1250" b="1" dirty="0">
                <a:solidFill>
                  <a:srgbClr val="1B2A30"/>
                </a:solidFill>
                <a:latin typeface="Calibri" pitchFamily="34" charset="0"/>
                <a:ea typeface="Calibri" pitchFamily="34" charset="-122"/>
                <a:cs typeface="Calibri" pitchFamily="34" charset="-120"/>
              </a:rPr>
              <a:t>Modular paved is new &amp; early</a:t>
            </a:r>
            <a:endParaRPr lang="en-US" sz="1250" dirty="0"/>
          </a:p>
        </p:txBody>
      </p:sp>
      <p:sp>
        <p:nvSpPr>
          <p:cNvPr id="21" name="Text 17"/>
          <p:cNvSpPr txBox="1"/>
          <p:nvPr/>
        </p:nvSpPr>
        <p:spPr>
          <a:xfrm>
            <a:off x="8503920" y="5486400"/>
            <a:ext cx="2880360" cy="731520"/>
          </a:xfrm>
          <a:prstGeom prst="rect">
            <a:avLst/>
          </a:prstGeom>
          <a:noFill/>
          <a:ln/>
        </p:spPr>
        <p:txBody>
          <a:bodyPr wrap="square" lIns="0" tIns="0" rIns="0" bIns="0" rtlCol="0" anchor="t"/>
          <a:lstStyle/>
          <a:p>
            <a:pPr marL="0" indent="0" algn="l">
              <a:lnSpc>
                <a:spcPct val="105000"/>
              </a:lnSpc>
              <a:buNone/>
            </a:pPr>
            <a:r>
              <a:rPr lang="en-US" sz="1150" dirty="0">
                <a:solidFill>
                  <a:srgbClr val="6B7772"/>
                </a:solidFill>
                <a:latin typeface="Calibri" pitchFamily="34" charset="0"/>
                <a:ea typeface="Calibri" pitchFamily="34" charset="-122"/>
                <a:cs typeface="Calibri" pitchFamily="34" charset="-120"/>
              </a:rPr>
              <a:t>the 4-class model splits out cobblestone/uneven brick; only 19% correct so far — data collection ongoing.</a:t>
            </a:r>
            <a:endParaRPr lang="en-US" sz="1150" dirty="0"/>
          </a:p>
        </p:txBody>
      </p:sp>
      <p:sp>
        <p:nvSpPr>
          <p:cNvPr id="22" name="Rounded Rectangle 21"/>
          <p:cNvSpPr/>
          <p:nvPr/>
        </p:nvSpPr>
        <p:spPr>
          <a:xfrm>
            <a:off x="8081306" y="1783080"/>
            <a:ext cx="3470613" cy="3063240"/>
          </a:xfrm>
          <a:prstGeom prst="round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Screenshot 2026-09-21 095615.png"/>
          <p:cNvPicPr>
            <a:picLocks noChangeAspect="1"/>
          </p:cNvPicPr>
          <p:nvPr/>
        </p:nvPicPr>
        <p:blipFill>
          <a:blip r:embed="rId3"/>
          <a:stretch>
            <a:fillRect/>
          </a:stretch>
        </p:blipFill>
        <p:spPr>
          <a:xfrm>
            <a:off x="898994" y="1933080"/>
            <a:ext cx="2952784" cy="2333240"/>
          </a:xfrm>
          <a:prstGeom prst="rect">
            <a:avLst/>
          </a:prstGeom>
        </p:spPr>
      </p:pic>
      <p:pic>
        <p:nvPicPr>
          <p:cNvPr id="24" name="Picture 23" descr="Screenshot 2026-09-21 095537.png"/>
          <p:cNvPicPr>
            <a:picLocks noChangeAspect="1"/>
          </p:cNvPicPr>
          <p:nvPr/>
        </p:nvPicPr>
        <p:blipFill>
          <a:blip r:embed="rId4"/>
          <a:stretch>
            <a:fillRect/>
          </a:stretch>
        </p:blipFill>
        <p:spPr>
          <a:xfrm>
            <a:off x="4523847" y="1933080"/>
            <a:ext cx="3144305" cy="2333240"/>
          </a:xfrm>
          <a:prstGeom prst="rect">
            <a:avLst/>
          </a:prstGeom>
        </p:spPr>
      </p:pic>
      <p:pic>
        <p:nvPicPr>
          <p:cNvPr id="25" name="Picture 24" descr="Screenshot 2026-09-21 095721.png"/>
          <p:cNvPicPr>
            <a:picLocks noChangeAspect="1"/>
          </p:cNvPicPr>
          <p:nvPr/>
        </p:nvPicPr>
        <p:blipFill>
          <a:blip r:embed="rId5"/>
          <a:stretch>
            <a:fillRect/>
          </a:stretch>
        </p:blipFill>
        <p:spPr>
          <a:xfrm>
            <a:off x="8221306" y="2088012"/>
            <a:ext cx="3190613" cy="2023376"/>
          </a:xfrm>
          <a:prstGeom prst="rect">
            <a:avLst/>
          </a:prstGeom>
        </p:spPr>
      </p:pic>
      <p:sp>
        <p:nvSpPr>
          <p:cNvPr id="26" name="TextBox 25"/>
          <p:cNvSpPr txBox="1"/>
          <p:nvPr/>
        </p:nvSpPr>
        <p:spPr>
          <a:xfrm>
            <a:off x="8081306" y="4572000"/>
            <a:ext cx="3126177" cy="261610"/>
          </a:xfrm>
          <a:prstGeom prst="rect">
            <a:avLst/>
          </a:prstGeom>
          <a:noFill/>
        </p:spPr>
        <p:txBody>
          <a:bodyPr wrap="none" lIns="91440" tIns="45720" rIns="91440" bIns="45720" anchor="t">
            <a:spAutoFit/>
          </a:bodyPr>
          <a:lstStyle/>
          <a:p>
            <a:r>
              <a:rPr lang="en-US" sz="1100" dirty="0">
                <a:solidFill>
                  <a:srgbClr val="555555"/>
                </a:solidFill>
              </a:rPr>
              <a:t>                  </a:t>
            </a:r>
            <a:r>
              <a:rPr sz="1100" dirty="0">
                <a:solidFill>
                  <a:srgbClr val="555555"/>
                </a:solidFill>
              </a:rPr>
              <a:t>4-class · +modular paved — 76.5% (early)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9">
    <p:bg>
      <p:bgPr>
        <a:solidFill>
          <a:srgbClr val="002451"/>
        </a:solidFill>
        <a:effectLst/>
      </p:bgPr>
    </p:bg>
    <p:spTree>
      <p:nvGrpSpPr>
        <p:cNvPr id="1" name=""/>
        <p:cNvGrpSpPr/>
        <p:nvPr/>
      </p:nvGrpSpPr>
      <p:grpSpPr>
        <a:xfrm>
          <a:off x="0" y="0"/>
          <a:ext cx="0" cy="0"/>
          <a:chOff x="0" y="0"/>
          <a:chExt cx="0" cy="0"/>
        </a:xfrm>
      </p:grpSpPr>
      <p:sp>
        <p:nvSpPr>
          <p:cNvPr id="2" name="Shape 0"/>
          <p:cNvSpPr/>
          <p:nvPr/>
        </p:nvSpPr>
        <p:spPr>
          <a:xfrm>
            <a:off x="640080" y="502920"/>
            <a:ext cx="384048" cy="384048"/>
          </a:xfrm>
          <a:prstGeom prst="roundRect">
            <a:avLst>
              <a:gd name="adj" fmla="val 14286"/>
            </a:avLst>
          </a:prstGeom>
          <a:solidFill>
            <a:srgbClr val="8A9A95"/>
          </a:solidFill>
          <a:ln/>
        </p:spPr>
        <p:txBody>
          <a:bodyPr/>
          <a:lstStyle/>
          <a:p>
            <a:endParaRPr/>
          </a:p>
        </p:txBody>
      </p:sp>
      <p:sp>
        <p:nvSpPr>
          <p:cNvPr id="3" name="Text 1"/>
          <p:cNvSpPr txBox="1"/>
          <p:nvPr/>
        </p:nvSpPr>
        <p:spPr>
          <a:xfrm>
            <a:off x="640080" y="50292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06</a:t>
            </a:r>
            <a:endParaRPr lang="en-US" sz="1500" dirty="0"/>
          </a:p>
        </p:txBody>
      </p:sp>
      <p:sp>
        <p:nvSpPr>
          <p:cNvPr id="4" name="Text 2"/>
          <p:cNvSpPr txBox="1"/>
          <p:nvPr/>
        </p:nvSpPr>
        <p:spPr>
          <a:xfrm>
            <a:off x="1115568" y="502920"/>
            <a:ext cx="8229600" cy="384048"/>
          </a:xfrm>
          <a:prstGeom prst="rect">
            <a:avLst/>
          </a:prstGeom>
          <a:noFill/>
          <a:ln/>
        </p:spPr>
        <p:txBody>
          <a:bodyPr wrap="square" lIns="0" tIns="0" rIns="0" bIns="0" rtlCol="0" anchor="ctr"/>
          <a:lstStyle/>
          <a:p>
            <a:pPr marL="0" indent="0" algn="l">
              <a:buNone/>
            </a:pPr>
            <a:r>
              <a:rPr lang="en-US" sz="1300" b="1" kern="0" spc="200" dirty="0">
                <a:solidFill>
                  <a:srgbClr val="A9B4B1"/>
                </a:solidFill>
                <a:latin typeface="Calibri" pitchFamily="34" charset="0"/>
                <a:ea typeface="Calibri" pitchFamily="34" charset="-122"/>
                <a:cs typeface="Calibri" pitchFamily="34" charset="-120"/>
              </a:rPr>
              <a:t>MODELS</a:t>
            </a:r>
            <a:endParaRPr lang="en-US" sz="1300" dirty="0"/>
          </a:p>
        </p:txBody>
      </p:sp>
      <p:sp>
        <p:nvSpPr>
          <p:cNvPr id="5" name="Text 3"/>
          <p:cNvSpPr txBox="1"/>
          <p:nvPr/>
        </p:nvSpPr>
        <p:spPr>
          <a:xfrm>
            <a:off x="640080" y="1051560"/>
            <a:ext cx="10881360" cy="731520"/>
          </a:xfrm>
          <a:prstGeom prst="rect">
            <a:avLst/>
          </a:prstGeom>
          <a:noFill/>
          <a:ln/>
        </p:spPr>
        <p:txBody>
          <a:bodyPr wrap="square" lIns="0" tIns="0" rIns="0" bIns="0" rtlCol="0" anchor="ctr"/>
          <a:lstStyle/>
          <a:p>
            <a:pPr marL="0" indent="0" algn="l">
              <a:buNone/>
            </a:pPr>
            <a:r>
              <a:rPr lang="en-US" sz="3000" b="1" dirty="0">
                <a:solidFill>
                  <a:srgbClr val="FFFFFF"/>
                </a:solidFill>
                <a:latin typeface="Cambria" pitchFamily="34" charset="0"/>
                <a:ea typeface="Cambria" pitchFamily="34" charset="-122"/>
                <a:cs typeface="Cambria" pitchFamily="34" charset="-120"/>
              </a:rPr>
              <a:t>The same tasks with a 1D-CNN</a:t>
            </a:r>
            <a:endParaRPr lang="en-US" sz="3000" dirty="0"/>
          </a:p>
        </p:txBody>
      </p:sp>
      <p:sp>
        <p:nvSpPr>
          <p:cNvPr id="6" name="Shape 4"/>
          <p:cNvSpPr/>
          <p:nvPr/>
        </p:nvSpPr>
        <p:spPr>
          <a:xfrm>
            <a:off x="640080" y="1783080"/>
            <a:ext cx="3470613" cy="3063240"/>
          </a:xfrm>
          <a:prstGeom prst="roundRect">
            <a:avLst>
              <a:gd name="adj" fmla="val 1493"/>
            </a:avLst>
          </a:prstGeom>
          <a:solidFill>
            <a:srgbClr val="FFFFFF"/>
          </a:solidFill>
          <a:ln w="12700">
            <a:solidFill>
              <a:srgbClr val="DCE3E1"/>
            </a:solidFill>
            <a:prstDash val="solid"/>
          </a:ln>
        </p:spPr>
        <p:txBody>
          <a:bodyPr/>
          <a:lstStyle/>
          <a:p>
            <a:endParaRPr/>
          </a:p>
        </p:txBody>
      </p:sp>
      <p:sp>
        <p:nvSpPr>
          <p:cNvPr id="8" name="Text 5"/>
          <p:cNvSpPr txBox="1"/>
          <p:nvPr/>
        </p:nvSpPr>
        <p:spPr>
          <a:xfrm>
            <a:off x="640080" y="4572000"/>
            <a:ext cx="3470613" cy="237744"/>
          </a:xfrm>
          <a:prstGeom prst="rect">
            <a:avLst/>
          </a:prstGeom>
          <a:noFill/>
          <a:ln/>
        </p:spPr>
        <p:txBody>
          <a:bodyPr wrap="square" lIns="0" tIns="0" rIns="0" bIns="0" rtlCol="0" anchor="ctr"/>
          <a:lstStyle/>
          <a:p>
            <a:pPr marL="0" indent="0" algn="ctr">
              <a:buNone/>
            </a:pPr>
            <a:r>
              <a:rPr lang="en-US" sz="1050" i="1" dirty="0">
                <a:solidFill>
                  <a:srgbClr val="6B7772"/>
                </a:solidFill>
                <a:latin typeface="Calibri" pitchFamily="34" charset="0"/>
                <a:ea typeface="Calibri" pitchFamily="34" charset="-122"/>
                <a:cs typeface="Calibri" pitchFamily="34" charset="-120"/>
              </a:rPr>
              <a:t>2-class CNN · soft vs hard — 92.3%</a:t>
            </a:r>
            <a:endParaRPr lang="en-US" sz="1050" dirty="0"/>
          </a:p>
        </p:txBody>
      </p:sp>
      <p:sp>
        <p:nvSpPr>
          <p:cNvPr id="9" name="Shape 6"/>
          <p:cNvSpPr/>
          <p:nvPr/>
        </p:nvSpPr>
        <p:spPr>
          <a:xfrm>
            <a:off x="4360693" y="1783080"/>
            <a:ext cx="3470613" cy="3063240"/>
          </a:xfrm>
          <a:prstGeom prst="roundRect">
            <a:avLst>
              <a:gd name="adj" fmla="val 1493"/>
            </a:avLst>
          </a:prstGeom>
          <a:solidFill>
            <a:srgbClr val="FFFFFF"/>
          </a:solidFill>
          <a:ln w="12700">
            <a:solidFill>
              <a:srgbClr val="DCE3E1"/>
            </a:solidFill>
            <a:prstDash val="solid"/>
          </a:ln>
        </p:spPr>
        <p:txBody>
          <a:bodyPr/>
          <a:lstStyle/>
          <a:p>
            <a:endParaRPr/>
          </a:p>
        </p:txBody>
      </p:sp>
      <p:sp>
        <p:nvSpPr>
          <p:cNvPr id="11" name="Text 7"/>
          <p:cNvSpPr txBox="1"/>
          <p:nvPr/>
        </p:nvSpPr>
        <p:spPr>
          <a:xfrm>
            <a:off x="4360693" y="4572000"/>
            <a:ext cx="3470613" cy="237744"/>
          </a:xfrm>
          <a:prstGeom prst="rect">
            <a:avLst/>
          </a:prstGeom>
          <a:noFill/>
          <a:ln/>
        </p:spPr>
        <p:txBody>
          <a:bodyPr wrap="square" lIns="0" tIns="0" rIns="0" bIns="0" rtlCol="0" anchor="ctr"/>
          <a:lstStyle/>
          <a:p>
            <a:pPr marL="0" indent="0" algn="ctr">
              <a:buNone/>
            </a:pPr>
            <a:r>
              <a:rPr lang="en-US" sz="1050" i="1" dirty="0">
                <a:solidFill>
                  <a:srgbClr val="6B7772"/>
                </a:solidFill>
                <a:latin typeface="Calibri" pitchFamily="34" charset="0"/>
                <a:ea typeface="Calibri" pitchFamily="34" charset="-122"/>
                <a:cs typeface="Calibri" pitchFamily="34" charset="-120"/>
              </a:rPr>
              <a:t>3-class CNN · grass/loose/paved — 86.3%</a:t>
            </a:r>
            <a:endParaRPr lang="en-US" sz="1050" dirty="0"/>
          </a:p>
        </p:txBody>
      </p:sp>
      <p:sp>
        <p:nvSpPr>
          <p:cNvPr id="12" name="Shape 8"/>
          <p:cNvSpPr/>
          <p:nvPr/>
        </p:nvSpPr>
        <p:spPr>
          <a:xfrm>
            <a:off x="640080" y="5029200"/>
            <a:ext cx="10908792" cy="1234440"/>
          </a:xfrm>
          <a:prstGeom prst="roundRect">
            <a:avLst>
              <a:gd name="adj" fmla="val 4444"/>
            </a:avLst>
          </a:prstGeom>
          <a:solidFill>
            <a:srgbClr val="F3F6F5"/>
          </a:solidFill>
          <a:ln/>
        </p:spPr>
        <p:txBody>
          <a:bodyPr/>
          <a:lstStyle/>
          <a:p>
            <a:endParaRPr/>
          </a:p>
        </p:txBody>
      </p:sp>
      <p:sp>
        <p:nvSpPr>
          <p:cNvPr id="13" name="Shape 9"/>
          <p:cNvSpPr/>
          <p:nvPr/>
        </p:nvSpPr>
        <p:spPr>
          <a:xfrm>
            <a:off x="914400" y="5212080"/>
            <a:ext cx="256032" cy="256032"/>
          </a:xfrm>
          <a:prstGeom prst="roundRect">
            <a:avLst>
              <a:gd name="adj" fmla="val 17857"/>
            </a:avLst>
          </a:prstGeom>
          <a:solidFill>
            <a:srgbClr val="2E7D32"/>
          </a:solidFill>
          <a:ln/>
        </p:spPr>
        <p:txBody>
          <a:bodyPr/>
          <a:lstStyle/>
          <a:p>
            <a:endParaRPr/>
          </a:p>
        </p:txBody>
      </p:sp>
      <p:sp>
        <p:nvSpPr>
          <p:cNvPr id="14" name="Text 10"/>
          <p:cNvSpPr txBox="1"/>
          <p:nvPr/>
        </p:nvSpPr>
        <p:spPr>
          <a:xfrm>
            <a:off x="1280160" y="5175504"/>
            <a:ext cx="3108960" cy="365760"/>
          </a:xfrm>
          <a:prstGeom prst="rect">
            <a:avLst/>
          </a:prstGeom>
          <a:noFill/>
          <a:ln/>
        </p:spPr>
        <p:txBody>
          <a:bodyPr wrap="square" lIns="0" tIns="0" rIns="0" bIns="0" rtlCol="0" anchor="ctr"/>
          <a:lstStyle/>
          <a:p>
            <a:pPr marL="0" indent="0" algn="l">
              <a:buNone/>
            </a:pPr>
            <a:r>
              <a:rPr lang="en-US" sz="1250" b="1" dirty="0">
                <a:solidFill>
                  <a:srgbClr val="1B2A30"/>
                </a:solidFill>
                <a:latin typeface="Calibri" pitchFamily="34" charset="0"/>
                <a:ea typeface="Calibri" pitchFamily="34" charset="-122"/>
                <a:cs typeface="Calibri" pitchFamily="34" charset="-120"/>
              </a:rPr>
              <a:t>CNN is an alternative to XGBoost</a:t>
            </a:r>
            <a:endParaRPr lang="en-US" sz="1250" dirty="0"/>
          </a:p>
        </p:txBody>
      </p:sp>
      <p:sp>
        <p:nvSpPr>
          <p:cNvPr id="15" name="Text 11"/>
          <p:cNvSpPr txBox="1"/>
          <p:nvPr/>
        </p:nvSpPr>
        <p:spPr>
          <a:xfrm>
            <a:off x="1280160" y="5486400"/>
            <a:ext cx="2880360" cy="731520"/>
          </a:xfrm>
          <a:prstGeom prst="rect">
            <a:avLst/>
          </a:prstGeom>
          <a:noFill/>
          <a:ln/>
        </p:spPr>
        <p:txBody>
          <a:bodyPr wrap="square" lIns="0" tIns="0" rIns="0" bIns="0" rtlCol="0" anchor="t"/>
          <a:lstStyle/>
          <a:p>
            <a:pPr marL="0" indent="0" algn="l">
              <a:lnSpc>
                <a:spcPct val="105000"/>
              </a:lnSpc>
              <a:buNone/>
            </a:pPr>
            <a:r>
              <a:rPr lang="en-US" sz="1150" dirty="0">
                <a:solidFill>
                  <a:srgbClr val="6B7772"/>
                </a:solidFill>
                <a:latin typeface="Calibri" pitchFamily="34" charset="0"/>
                <a:ea typeface="Calibri" pitchFamily="34" charset="-122"/>
                <a:cs typeface="Calibri" pitchFamily="34" charset="-120"/>
              </a:rPr>
              <a:t>A 1D-CNN reaches similar or better scores on the same step features.</a:t>
            </a:r>
            <a:endParaRPr lang="en-US" sz="1150" dirty="0"/>
          </a:p>
        </p:txBody>
      </p:sp>
      <p:sp>
        <p:nvSpPr>
          <p:cNvPr id="16" name="Shape 12"/>
          <p:cNvSpPr/>
          <p:nvPr/>
        </p:nvSpPr>
        <p:spPr>
          <a:xfrm>
            <a:off x="4526280" y="5212080"/>
            <a:ext cx="256032" cy="256032"/>
          </a:xfrm>
          <a:prstGeom prst="roundRect">
            <a:avLst>
              <a:gd name="adj" fmla="val 17857"/>
            </a:avLst>
          </a:prstGeom>
          <a:solidFill>
            <a:srgbClr val="C0392B"/>
          </a:solidFill>
          <a:ln/>
        </p:spPr>
        <p:txBody>
          <a:bodyPr/>
          <a:lstStyle/>
          <a:p>
            <a:endParaRPr/>
          </a:p>
        </p:txBody>
      </p:sp>
      <p:sp>
        <p:nvSpPr>
          <p:cNvPr id="17" name="Text 13"/>
          <p:cNvSpPr txBox="1"/>
          <p:nvPr/>
        </p:nvSpPr>
        <p:spPr>
          <a:xfrm>
            <a:off x="4892040" y="5175504"/>
            <a:ext cx="3108960" cy="365760"/>
          </a:xfrm>
          <a:prstGeom prst="rect">
            <a:avLst/>
          </a:prstGeom>
          <a:noFill/>
          <a:ln/>
        </p:spPr>
        <p:txBody>
          <a:bodyPr wrap="square" lIns="0" tIns="0" rIns="0" bIns="0" rtlCol="0" anchor="ctr"/>
          <a:lstStyle/>
          <a:p>
            <a:pPr marL="0" indent="0" algn="l">
              <a:buNone/>
            </a:pPr>
            <a:r>
              <a:rPr lang="en-US" sz="1250" b="1" dirty="0">
                <a:solidFill>
                  <a:srgbClr val="1B2A30"/>
                </a:solidFill>
                <a:latin typeface="Calibri" pitchFamily="34" charset="0"/>
                <a:ea typeface="Calibri" pitchFamily="34" charset="-122"/>
                <a:cs typeface="Calibri" pitchFamily="34" charset="-120"/>
              </a:rPr>
              <a:t>Not directly comparable to XGBoost</a:t>
            </a:r>
            <a:endParaRPr lang="en-US" sz="1250" dirty="0"/>
          </a:p>
        </p:txBody>
      </p:sp>
      <p:sp>
        <p:nvSpPr>
          <p:cNvPr id="18" name="Text 14"/>
          <p:cNvSpPr txBox="1"/>
          <p:nvPr/>
        </p:nvSpPr>
        <p:spPr>
          <a:xfrm>
            <a:off x="4892040" y="5486400"/>
            <a:ext cx="2880360" cy="731520"/>
          </a:xfrm>
          <a:prstGeom prst="rect">
            <a:avLst/>
          </a:prstGeom>
          <a:noFill/>
          <a:ln/>
        </p:spPr>
        <p:txBody>
          <a:bodyPr wrap="square" lIns="0" tIns="0" rIns="0" bIns="0" rtlCol="0" anchor="t"/>
          <a:lstStyle/>
          <a:p>
            <a:pPr marL="0" indent="0" algn="l">
              <a:lnSpc>
                <a:spcPct val="105000"/>
              </a:lnSpc>
              <a:buNone/>
            </a:pPr>
            <a:r>
              <a:rPr lang="en-US" sz="1150" dirty="0">
                <a:solidFill>
                  <a:srgbClr val="6B7772"/>
                </a:solidFill>
                <a:latin typeface="Calibri" pitchFamily="34" charset="0"/>
                <a:ea typeface="Calibri" pitchFamily="34" charset="-122"/>
                <a:cs typeface="Calibri" pitchFamily="34" charset="-120"/>
              </a:rPr>
              <a:t>CNN numbers use grouped (leave-user-out) CV; the XGBoost figures do not, so the accuracies are not head-to-head.</a:t>
            </a:r>
            <a:endParaRPr lang="en-US" sz="1150" dirty="0"/>
          </a:p>
        </p:txBody>
      </p:sp>
      <p:sp>
        <p:nvSpPr>
          <p:cNvPr id="19" name="Shape 15"/>
          <p:cNvSpPr/>
          <p:nvPr/>
        </p:nvSpPr>
        <p:spPr>
          <a:xfrm>
            <a:off x="8138160" y="5212080"/>
            <a:ext cx="256032" cy="256032"/>
          </a:xfrm>
          <a:prstGeom prst="roundRect">
            <a:avLst>
              <a:gd name="adj" fmla="val 17857"/>
            </a:avLst>
          </a:prstGeom>
          <a:solidFill>
            <a:srgbClr val="8D6E63"/>
          </a:solidFill>
          <a:ln/>
        </p:spPr>
        <p:txBody>
          <a:bodyPr/>
          <a:lstStyle/>
          <a:p>
            <a:endParaRPr/>
          </a:p>
        </p:txBody>
      </p:sp>
      <p:sp>
        <p:nvSpPr>
          <p:cNvPr id="20" name="Text 16"/>
          <p:cNvSpPr txBox="1"/>
          <p:nvPr/>
        </p:nvSpPr>
        <p:spPr>
          <a:xfrm>
            <a:off x="8503920" y="5175504"/>
            <a:ext cx="2880360" cy="365760"/>
          </a:xfrm>
          <a:prstGeom prst="rect">
            <a:avLst/>
          </a:prstGeom>
          <a:noFill/>
          <a:ln/>
        </p:spPr>
        <p:txBody>
          <a:bodyPr wrap="square" lIns="0" tIns="0" rIns="0" bIns="0" rtlCol="0" anchor="ctr"/>
          <a:lstStyle/>
          <a:p>
            <a:pPr marL="0" indent="0" algn="l">
              <a:buNone/>
            </a:pPr>
            <a:r>
              <a:rPr lang="en-US" sz="1250" b="1" dirty="0">
                <a:solidFill>
                  <a:srgbClr val="1B2A30"/>
                </a:solidFill>
                <a:latin typeface="Calibri" pitchFamily="34" charset="0"/>
                <a:ea typeface="Calibri" pitchFamily="34" charset="-122"/>
                <a:cs typeface="Calibri" pitchFamily="34" charset="-120"/>
              </a:rPr>
              <a:t>Modular paved is new &amp; early</a:t>
            </a:r>
            <a:endParaRPr lang="en-US" sz="1250" dirty="0"/>
          </a:p>
        </p:txBody>
      </p:sp>
      <p:sp>
        <p:nvSpPr>
          <p:cNvPr id="21" name="Text 17"/>
          <p:cNvSpPr txBox="1"/>
          <p:nvPr/>
        </p:nvSpPr>
        <p:spPr>
          <a:xfrm>
            <a:off x="8503920" y="5486400"/>
            <a:ext cx="2880360" cy="731520"/>
          </a:xfrm>
          <a:prstGeom prst="rect">
            <a:avLst/>
          </a:prstGeom>
          <a:noFill/>
          <a:ln/>
        </p:spPr>
        <p:txBody>
          <a:bodyPr wrap="square" lIns="0" tIns="0" rIns="0" bIns="0" rtlCol="0" anchor="t"/>
          <a:lstStyle/>
          <a:p>
            <a:pPr marL="0" indent="0" algn="l">
              <a:lnSpc>
                <a:spcPct val="105000"/>
              </a:lnSpc>
              <a:buNone/>
            </a:pPr>
            <a:r>
              <a:rPr lang="en-US" sz="1150" dirty="0">
                <a:solidFill>
                  <a:srgbClr val="6B7772"/>
                </a:solidFill>
                <a:latin typeface="Calibri" pitchFamily="34" charset="0"/>
                <a:ea typeface="Calibri" pitchFamily="34" charset="-122"/>
                <a:cs typeface="Calibri" pitchFamily="34" charset="-120"/>
              </a:rPr>
              <a:t>loose still confuses with paved and modular paved is data-starved — the CNN does not fix these.</a:t>
            </a:r>
            <a:endParaRPr lang="en-US" sz="1150" dirty="0"/>
          </a:p>
        </p:txBody>
      </p:sp>
      <p:sp>
        <p:nvSpPr>
          <p:cNvPr id="22" name="Rounded Rectangle 21"/>
          <p:cNvSpPr/>
          <p:nvPr/>
        </p:nvSpPr>
        <p:spPr>
          <a:xfrm>
            <a:off x="8081306" y="1783080"/>
            <a:ext cx="3470613" cy="3063240"/>
          </a:xfrm>
          <a:prstGeom prst="round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Screenshot 2026-09-21 095615.png"/>
          <p:cNvPicPr>
            <a:picLocks noChangeAspect="1"/>
          </p:cNvPicPr>
          <p:nvPr/>
        </p:nvPicPr>
        <p:blipFill>
          <a:blip r:embed="rId2"/>
          <a:stretch>
            <a:fillRect/>
          </a:stretch>
        </p:blipFill>
        <p:spPr>
          <a:xfrm>
            <a:off x="1026427" y="1933080"/>
            <a:ext cx="2697919" cy="2333240"/>
          </a:xfrm>
          <a:prstGeom prst="rect">
            <a:avLst/>
          </a:prstGeom>
        </p:spPr>
      </p:pic>
      <p:pic>
        <p:nvPicPr>
          <p:cNvPr id="24" name="Picture 23" descr="Screenshot 2026-09-21 095537.png"/>
          <p:cNvPicPr>
            <a:picLocks noChangeAspect="1"/>
          </p:cNvPicPr>
          <p:nvPr/>
        </p:nvPicPr>
        <p:blipFill>
          <a:blip r:embed="rId3"/>
          <a:stretch>
            <a:fillRect/>
          </a:stretch>
        </p:blipFill>
        <p:spPr>
          <a:xfrm>
            <a:off x="4748580" y="1933080"/>
            <a:ext cx="2694839" cy="2333240"/>
          </a:xfrm>
          <a:prstGeom prst="rect">
            <a:avLst/>
          </a:prstGeom>
        </p:spPr>
      </p:pic>
      <p:pic>
        <p:nvPicPr>
          <p:cNvPr id="25" name="Picture 24" descr="Screenshot 2026-09-21 095721.png"/>
          <p:cNvPicPr>
            <a:picLocks noChangeAspect="1"/>
          </p:cNvPicPr>
          <p:nvPr/>
        </p:nvPicPr>
        <p:blipFill>
          <a:blip r:embed="rId4"/>
          <a:stretch>
            <a:fillRect/>
          </a:stretch>
        </p:blipFill>
        <p:spPr>
          <a:xfrm>
            <a:off x="8346821" y="1933080"/>
            <a:ext cx="2939582" cy="2333240"/>
          </a:xfrm>
          <a:prstGeom prst="rect">
            <a:avLst/>
          </a:prstGeom>
        </p:spPr>
      </p:pic>
      <p:sp>
        <p:nvSpPr>
          <p:cNvPr id="26" name="TextBox 25"/>
          <p:cNvSpPr txBox="1"/>
          <p:nvPr/>
        </p:nvSpPr>
        <p:spPr>
          <a:xfrm>
            <a:off x="8081306" y="4572000"/>
            <a:ext cx="3352200" cy="261610"/>
          </a:xfrm>
          <a:prstGeom prst="rect">
            <a:avLst/>
          </a:prstGeom>
          <a:noFill/>
        </p:spPr>
        <p:txBody>
          <a:bodyPr wrap="none" lIns="91440" tIns="45720" rIns="91440" bIns="45720" anchor="t">
            <a:spAutoFit/>
          </a:bodyPr>
          <a:lstStyle/>
          <a:p>
            <a:r>
              <a:rPr lang="en-US" sz="1100" dirty="0">
                <a:solidFill>
                  <a:srgbClr val="555555"/>
                </a:solidFill>
              </a:rPr>
              <a:t>             </a:t>
            </a:r>
            <a:r>
              <a:rPr sz="1100" dirty="0">
                <a:solidFill>
                  <a:srgbClr val="555555"/>
                </a:solidFill>
              </a:rPr>
              <a:t>4-class CNN · +modular paved — 77.5% (early)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0">
    <p:bg>
      <p:bgPr>
        <a:solidFill>
          <a:srgbClr val="002451"/>
        </a:solidFill>
        <a:effectLst/>
      </p:bgPr>
    </p:bg>
    <p:spTree>
      <p:nvGrpSpPr>
        <p:cNvPr id="1" name=""/>
        <p:cNvGrpSpPr/>
        <p:nvPr/>
      </p:nvGrpSpPr>
      <p:grpSpPr>
        <a:xfrm>
          <a:off x="0" y="0"/>
          <a:ext cx="0" cy="0"/>
          <a:chOff x="0" y="0"/>
          <a:chExt cx="0" cy="0"/>
        </a:xfrm>
      </p:grpSpPr>
      <p:sp>
        <p:nvSpPr>
          <p:cNvPr id="2" name="Shape 0"/>
          <p:cNvSpPr/>
          <p:nvPr/>
        </p:nvSpPr>
        <p:spPr>
          <a:xfrm>
            <a:off x="640080" y="502920"/>
            <a:ext cx="384048" cy="384048"/>
          </a:xfrm>
          <a:prstGeom prst="roundRect">
            <a:avLst>
              <a:gd name="adj" fmla="val 14286"/>
            </a:avLst>
          </a:prstGeom>
          <a:solidFill>
            <a:srgbClr val="8A9A95"/>
          </a:solidFill>
          <a:ln/>
        </p:spPr>
      </p:sp>
      <p:sp>
        <p:nvSpPr>
          <p:cNvPr id="3" name="Text 1"/>
          <p:cNvSpPr txBox="1"/>
          <p:nvPr/>
        </p:nvSpPr>
        <p:spPr>
          <a:xfrm>
            <a:off x="640080" y="50292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06</a:t>
            </a:r>
            <a:endParaRPr lang="en-US" sz="1500" dirty="0"/>
          </a:p>
        </p:txBody>
      </p:sp>
      <p:sp>
        <p:nvSpPr>
          <p:cNvPr id="4" name="Text 2"/>
          <p:cNvSpPr txBox="1"/>
          <p:nvPr/>
        </p:nvSpPr>
        <p:spPr>
          <a:xfrm>
            <a:off x="1115568" y="502920"/>
            <a:ext cx="8229600" cy="384048"/>
          </a:xfrm>
          <a:prstGeom prst="rect">
            <a:avLst/>
          </a:prstGeom>
          <a:noFill/>
          <a:ln/>
        </p:spPr>
        <p:txBody>
          <a:bodyPr wrap="square" lIns="0" tIns="0" rIns="0" bIns="0" rtlCol="0" anchor="ctr"/>
          <a:lstStyle/>
          <a:p>
            <a:pPr marL="0" indent="0" algn="l">
              <a:buNone/>
            </a:pPr>
            <a:r>
              <a:rPr lang="en-US" sz="1300" b="1" kern="0" spc="200" dirty="0">
                <a:solidFill>
                  <a:srgbClr val="A9B4B1"/>
                </a:solidFill>
                <a:latin typeface="Calibri" pitchFamily="34" charset="0"/>
                <a:ea typeface="Calibri" pitchFamily="34" charset="-122"/>
                <a:cs typeface="Calibri" pitchFamily="34" charset="-120"/>
              </a:rPr>
              <a:t>MODELS</a:t>
            </a:r>
            <a:endParaRPr lang="en-US" sz="1300" dirty="0"/>
          </a:p>
        </p:txBody>
      </p:sp>
      <p:sp>
        <p:nvSpPr>
          <p:cNvPr id="5" name="Text 3"/>
          <p:cNvSpPr txBox="1"/>
          <p:nvPr/>
        </p:nvSpPr>
        <p:spPr>
          <a:xfrm>
            <a:off x="640080" y="1051560"/>
            <a:ext cx="10881360" cy="731520"/>
          </a:xfrm>
          <a:prstGeom prst="rect">
            <a:avLst/>
          </a:prstGeom>
          <a:noFill/>
          <a:ln/>
        </p:spPr>
        <p:txBody>
          <a:bodyPr wrap="square" lIns="0" tIns="0" rIns="0" bIns="0" rtlCol="0" anchor="ctr"/>
          <a:lstStyle/>
          <a:p>
            <a:pPr marL="0" indent="0" algn="l">
              <a:buNone/>
            </a:pPr>
            <a:r>
              <a:rPr lang="en-US" sz="3000" b="1" dirty="0">
                <a:solidFill>
                  <a:srgbClr val="FFFFFF"/>
                </a:solidFill>
                <a:latin typeface="Cambria" pitchFamily="34" charset="0"/>
                <a:ea typeface="Cambria" pitchFamily="34" charset="-122"/>
                <a:cs typeface="Cambria" pitchFamily="34" charset="-120"/>
              </a:rPr>
              <a:t>Scoring smoothness: evenness &amp; hardness</a:t>
            </a:r>
            <a:endParaRPr lang="en-US" sz="3000" dirty="0"/>
          </a:p>
        </p:txBody>
      </p:sp>
      <p:sp>
        <p:nvSpPr>
          <p:cNvPr id="6" name="Shape 4"/>
          <p:cNvSpPr/>
          <p:nvPr/>
        </p:nvSpPr>
        <p:spPr>
          <a:xfrm>
            <a:off x="640080" y="2011680"/>
            <a:ext cx="10908792" cy="3291840"/>
          </a:xfrm>
          <a:prstGeom prst="roundRect">
            <a:avLst>
              <a:gd name="adj" fmla="val 1389"/>
            </a:avLst>
          </a:prstGeom>
          <a:solidFill>
            <a:srgbClr val="FFFFFF"/>
          </a:solidFill>
          <a:ln w="12700">
            <a:solidFill>
              <a:srgbClr val="DCE3E1"/>
            </a:solidFill>
            <a:prstDash val="solid"/>
          </a:ln>
        </p:spPr>
      </p:sp>
      <p:pic>
        <p:nvPicPr>
          <p:cNvPr id="7" name="Image 0" descr="/mnt/user-data/uploads/scales_populations.png"/>
          <p:cNvPicPr>
            <a:picLocks noChangeAspect="1"/>
          </p:cNvPicPr>
          <p:nvPr/>
        </p:nvPicPr>
        <p:blipFill>
          <a:blip r:embed="rId3"/>
          <a:stretch>
            <a:fillRect/>
          </a:stretch>
        </p:blipFill>
        <p:spPr>
          <a:xfrm>
            <a:off x="1608247" y="2157984"/>
            <a:ext cx="8972459" cy="2706624"/>
          </a:xfrm>
          <a:prstGeom prst="rect">
            <a:avLst/>
          </a:prstGeom>
        </p:spPr>
      </p:pic>
      <p:sp>
        <p:nvSpPr>
          <p:cNvPr id="8" name="Text 5"/>
          <p:cNvSpPr txBox="1"/>
          <p:nvPr/>
        </p:nvSpPr>
        <p:spPr>
          <a:xfrm>
            <a:off x="640080" y="5029200"/>
            <a:ext cx="10908792" cy="237744"/>
          </a:xfrm>
          <a:prstGeom prst="rect">
            <a:avLst/>
          </a:prstGeom>
          <a:noFill/>
          <a:ln/>
        </p:spPr>
        <p:txBody>
          <a:bodyPr wrap="square" lIns="0" tIns="0" rIns="0" bIns="0" rtlCol="0" anchor="ctr"/>
          <a:lstStyle/>
          <a:p>
            <a:pPr marL="0" indent="0" algn="ctr">
              <a:buNone/>
            </a:pPr>
            <a:r>
              <a:rPr lang="en-US" sz="1050" i="1" dirty="0">
                <a:solidFill>
                  <a:srgbClr val="6B7772"/>
                </a:solidFill>
                <a:latin typeface="Calibri" pitchFamily="34" charset="0"/>
                <a:ea typeface="Calibri" pitchFamily="34" charset="-122"/>
                <a:cs typeface="Calibri" pitchFamily="34" charset="-120"/>
              </a:rPr>
              <a:t>per-surface hardness &amp; evenness, and the two scores together</a:t>
            </a:r>
            <a:endParaRPr lang="en-US" sz="1050" dirty="0"/>
          </a:p>
        </p:txBody>
      </p:sp>
      <p:sp>
        <p:nvSpPr>
          <p:cNvPr id="9" name="Text 6"/>
          <p:cNvSpPr txBox="1"/>
          <p:nvPr/>
        </p:nvSpPr>
        <p:spPr>
          <a:xfrm>
            <a:off x="640080" y="5486400"/>
            <a:ext cx="10881360" cy="640080"/>
          </a:xfrm>
          <a:prstGeom prst="rect">
            <a:avLst/>
          </a:prstGeom>
          <a:noFill/>
          <a:ln/>
        </p:spPr>
        <p:txBody>
          <a:bodyPr wrap="square" lIns="0" tIns="0" rIns="0" bIns="0" rtlCol="0" anchor="t"/>
          <a:lstStyle/>
          <a:p>
            <a:pPr marL="0" indent="0" algn="l">
              <a:lnSpc>
                <a:spcPct val="110000"/>
              </a:lnSpc>
              <a:buNone/>
            </a:pPr>
            <a:r>
              <a:rPr lang="en-US" sz="1300" b="1" dirty="0">
                <a:solidFill>
                  <a:srgbClr val="FFFFFF"/>
                </a:solidFill>
                <a:latin typeface="Calibri" pitchFamily="34" charset="0"/>
                <a:ea typeface="Calibri" pitchFamily="34" charset="-122"/>
                <a:cs typeface="Calibri" pitchFamily="34" charset="-120"/>
              </a:rPr>
              <a:t>Evenness (unsupervised) and hardness (supervised P(firm)) score each step 0-100.  </a:t>
            </a:r>
            <a:r>
              <a:rPr lang="en-US" sz="1300" dirty="0">
                <a:solidFill>
                  <a:srgbClr val="A9B4B1"/>
                </a:solidFill>
                <a:latin typeface="Calibri" pitchFamily="34" charset="0"/>
                <a:ea typeface="Calibri" pitchFamily="34" charset="-122"/>
                <a:cs typeface="Calibri" pitchFamily="34" charset="-120"/>
              </a:rPr>
              <a:t>Grass is soft and uneven; firm surfaces score higher on both — but paved and loose overlap, the same limit the classifier hits.</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1">
    <p:bg>
      <p:bgPr>
        <a:solidFill>
          <a:srgbClr val="002451"/>
        </a:solidFill>
        <a:effectLst/>
      </p:bgPr>
    </p:bg>
    <p:spTree>
      <p:nvGrpSpPr>
        <p:cNvPr id="1" name=""/>
        <p:cNvGrpSpPr/>
        <p:nvPr/>
      </p:nvGrpSpPr>
      <p:grpSpPr>
        <a:xfrm>
          <a:off x="0" y="0"/>
          <a:ext cx="0" cy="0"/>
          <a:chOff x="0" y="0"/>
          <a:chExt cx="0" cy="0"/>
        </a:xfrm>
      </p:grpSpPr>
      <p:sp>
        <p:nvSpPr>
          <p:cNvPr id="2" name="Shape 0"/>
          <p:cNvSpPr/>
          <p:nvPr/>
        </p:nvSpPr>
        <p:spPr>
          <a:xfrm>
            <a:off x="640080" y="502920"/>
            <a:ext cx="384048" cy="384048"/>
          </a:xfrm>
          <a:prstGeom prst="roundRect">
            <a:avLst>
              <a:gd name="adj" fmla="val 14286"/>
            </a:avLst>
          </a:prstGeom>
          <a:solidFill>
            <a:srgbClr val="8A9A95"/>
          </a:solidFill>
          <a:ln/>
        </p:spPr>
      </p:sp>
      <p:sp>
        <p:nvSpPr>
          <p:cNvPr id="3" name="Text 1"/>
          <p:cNvSpPr txBox="1"/>
          <p:nvPr/>
        </p:nvSpPr>
        <p:spPr>
          <a:xfrm>
            <a:off x="640080" y="50292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06</a:t>
            </a:r>
            <a:endParaRPr lang="en-US" sz="1500" dirty="0"/>
          </a:p>
        </p:txBody>
      </p:sp>
      <p:sp>
        <p:nvSpPr>
          <p:cNvPr id="4" name="Text 2"/>
          <p:cNvSpPr txBox="1"/>
          <p:nvPr/>
        </p:nvSpPr>
        <p:spPr>
          <a:xfrm>
            <a:off x="1115568" y="502920"/>
            <a:ext cx="8229600" cy="384048"/>
          </a:xfrm>
          <a:prstGeom prst="rect">
            <a:avLst/>
          </a:prstGeom>
          <a:noFill/>
          <a:ln/>
        </p:spPr>
        <p:txBody>
          <a:bodyPr wrap="square" lIns="0" tIns="0" rIns="0" bIns="0" rtlCol="0" anchor="ctr"/>
          <a:lstStyle/>
          <a:p>
            <a:pPr marL="0" indent="0" algn="l">
              <a:buNone/>
            </a:pPr>
            <a:r>
              <a:rPr lang="en-US" sz="1300" b="1" kern="0" spc="200" dirty="0">
                <a:solidFill>
                  <a:srgbClr val="A9B4B1"/>
                </a:solidFill>
                <a:latin typeface="Calibri" pitchFamily="34" charset="0"/>
                <a:ea typeface="Calibri" pitchFamily="34" charset="-122"/>
                <a:cs typeface="Calibri" pitchFamily="34" charset="-120"/>
              </a:rPr>
              <a:t>MODELS</a:t>
            </a:r>
            <a:endParaRPr lang="en-US" sz="1300" dirty="0"/>
          </a:p>
        </p:txBody>
      </p:sp>
      <p:sp>
        <p:nvSpPr>
          <p:cNvPr id="5" name="Text 3"/>
          <p:cNvSpPr txBox="1"/>
          <p:nvPr/>
        </p:nvSpPr>
        <p:spPr>
          <a:xfrm>
            <a:off x="640080" y="1051560"/>
            <a:ext cx="10881360" cy="731520"/>
          </a:xfrm>
          <a:prstGeom prst="rect">
            <a:avLst/>
          </a:prstGeom>
          <a:noFill/>
          <a:ln/>
        </p:spPr>
        <p:txBody>
          <a:bodyPr wrap="square" lIns="0" tIns="0" rIns="0" bIns="0" rtlCol="0" anchor="ctr"/>
          <a:lstStyle/>
          <a:p>
            <a:pPr marL="0" indent="0" algn="l">
              <a:buNone/>
            </a:pPr>
            <a:r>
              <a:rPr lang="en-US" sz="3000" b="1" dirty="0">
                <a:solidFill>
                  <a:srgbClr val="FFFFFF"/>
                </a:solidFill>
                <a:latin typeface="Cambria" pitchFamily="34" charset="0"/>
                <a:ea typeface="Cambria" pitchFamily="34" charset="-122"/>
                <a:cs typeface="Cambria" pitchFamily="34" charset="-120"/>
              </a:rPr>
              <a:t>Map data is an unreliable guide to the ground</a:t>
            </a:r>
            <a:endParaRPr lang="en-US" sz="3000" dirty="0"/>
          </a:p>
        </p:txBody>
      </p:sp>
      <p:sp>
        <p:nvSpPr>
          <p:cNvPr id="6" name="Shape 4"/>
          <p:cNvSpPr/>
          <p:nvPr/>
        </p:nvSpPr>
        <p:spPr>
          <a:xfrm>
            <a:off x="640080" y="2011680"/>
            <a:ext cx="3566160" cy="3566160"/>
          </a:xfrm>
          <a:prstGeom prst="roundRect">
            <a:avLst>
              <a:gd name="adj" fmla="val 1795"/>
            </a:avLst>
          </a:prstGeom>
          <a:solidFill>
            <a:srgbClr val="0C3466"/>
          </a:solidFill>
          <a:ln/>
          <a:effectLst>
            <a:outerShdw blurRad="76200" dist="25400" dir="5400000" algn="bl" rotWithShape="0">
              <a:srgbClr val="A9B4B1">
                <a:alpha val="28000"/>
              </a:srgbClr>
            </a:outerShdw>
          </a:effectLst>
        </p:spPr>
      </p:sp>
      <p:sp>
        <p:nvSpPr>
          <p:cNvPr id="7" name="Text 5"/>
          <p:cNvSpPr txBox="1"/>
          <p:nvPr/>
        </p:nvSpPr>
        <p:spPr>
          <a:xfrm>
            <a:off x="640080" y="2606040"/>
            <a:ext cx="3566160" cy="914400"/>
          </a:xfrm>
          <a:prstGeom prst="rect">
            <a:avLst/>
          </a:prstGeom>
          <a:noFill/>
          <a:ln/>
        </p:spPr>
        <p:txBody>
          <a:bodyPr wrap="square" lIns="0" tIns="0" rIns="0" bIns="0" rtlCol="0" anchor="ctr"/>
          <a:lstStyle/>
          <a:p>
            <a:pPr marL="0" indent="0" algn="ctr">
              <a:buNone/>
            </a:pPr>
            <a:r>
              <a:rPr lang="en-US" sz="5600" b="1" dirty="0">
                <a:solidFill>
                  <a:srgbClr val="FFFFFF"/>
                </a:solidFill>
                <a:latin typeface="Cambria" pitchFamily="34" charset="0"/>
                <a:ea typeface="Cambria" pitchFamily="34" charset="-122"/>
                <a:cs typeface="Cambria" pitchFamily="34" charset="-120"/>
              </a:rPr>
              <a:t>48%</a:t>
            </a:r>
            <a:endParaRPr lang="en-US" sz="5600" dirty="0"/>
          </a:p>
        </p:txBody>
      </p:sp>
      <p:sp>
        <p:nvSpPr>
          <p:cNvPr id="8" name="Text 6"/>
          <p:cNvSpPr txBox="1"/>
          <p:nvPr/>
        </p:nvSpPr>
        <p:spPr>
          <a:xfrm>
            <a:off x="868680" y="3611880"/>
            <a:ext cx="3108960" cy="914400"/>
          </a:xfrm>
          <a:prstGeom prst="rect">
            <a:avLst/>
          </a:prstGeom>
          <a:noFill/>
          <a:ln/>
        </p:spPr>
        <p:txBody>
          <a:bodyPr wrap="square" lIns="0" tIns="0" rIns="0" bIns="0" rtlCol="0" anchor="t"/>
          <a:lstStyle/>
          <a:p>
            <a:pPr marL="0" indent="0" algn="ctr">
              <a:lnSpc>
                <a:spcPct val="115000"/>
              </a:lnSpc>
              <a:buNone/>
            </a:pPr>
            <a:r>
              <a:rPr lang="en-US" sz="1300" i="1" dirty="0">
                <a:solidFill>
                  <a:srgbClr val="CBD6D2"/>
                </a:solidFill>
                <a:latin typeface="Calibri" pitchFamily="34" charset="0"/>
                <a:ea typeface="Calibri" pitchFamily="34" charset="-122"/>
                <a:cs typeface="Calibri" pitchFamily="34" charset="-120"/>
              </a:rPr>
              <a:t>of steps where the GIS map agreed with the ground truth on one walk</a:t>
            </a:r>
            <a:endParaRPr lang="en-US" sz="1300" dirty="0"/>
          </a:p>
        </p:txBody>
      </p:sp>
      <p:sp>
        <p:nvSpPr>
          <p:cNvPr id="9" name="Shape 7"/>
          <p:cNvSpPr/>
          <p:nvPr/>
        </p:nvSpPr>
        <p:spPr>
          <a:xfrm>
            <a:off x="4434840" y="2011680"/>
            <a:ext cx="7114032" cy="3566160"/>
          </a:xfrm>
          <a:prstGeom prst="roundRect">
            <a:avLst>
              <a:gd name="adj" fmla="val 1795"/>
            </a:avLst>
          </a:prstGeom>
          <a:solidFill>
            <a:srgbClr val="F3F6F5"/>
          </a:solidFill>
          <a:ln/>
          <a:effectLst>
            <a:outerShdw blurRad="76200" dist="25400" dir="5400000" algn="bl" rotWithShape="0">
              <a:srgbClr val="A9B4B1">
                <a:alpha val="28000"/>
              </a:srgbClr>
            </a:outerShdw>
          </a:effectLst>
        </p:spPr>
      </p:sp>
      <p:sp>
        <p:nvSpPr>
          <p:cNvPr id="10" name="Text 8"/>
          <p:cNvSpPr txBox="1"/>
          <p:nvPr/>
        </p:nvSpPr>
        <p:spPr>
          <a:xfrm>
            <a:off x="4709160" y="2240280"/>
            <a:ext cx="6583680" cy="411480"/>
          </a:xfrm>
          <a:prstGeom prst="rect">
            <a:avLst/>
          </a:prstGeom>
          <a:noFill/>
          <a:ln/>
        </p:spPr>
        <p:txBody>
          <a:bodyPr wrap="square" lIns="0" tIns="0" rIns="0" bIns="0" rtlCol="0" anchor="ctr"/>
          <a:lstStyle/>
          <a:p>
            <a:pPr marL="0" indent="0" algn="l">
              <a:buNone/>
            </a:pPr>
            <a:r>
              <a:rPr lang="en-US" sz="1800" b="1" dirty="0">
                <a:solidFill>
                  <a:srgbClr val="1B2A30"/>
                </a:solidFill>
                <a:latin typeface="Cambria" pitchFamily="34" charset="0"/>
                <a:ea typeface="Cambria" pitchFamily="34" charset="-122"/>
                <a:cs typeface="Cambria" pitchFamily="34" charset="-120"/>
              </a:rPr>
              <a:t>Why the map falls short</a:t>
            </a:r>
            <a:endParaRPr lang="en-US" sz="1800" dirty="0"/>
          </a:p>
        </p:txBody>
      </p:sp>
      <p:sp>
        <p:nvSpPr>
          <p:cNvPr id="17" name="Text 15"/>
          <p:cNvSpPr txBox="1"/>
          <p:nvPr/>
        </p:nvSpPr>
        <p:spPr>
          <a:xfrm>
            <a:off x="640080" y="5806440"/>
            <a:ext cx="10881360" cy="457200"/>
          </a:xfrm>
          <a:prstGeom prst="rect">
            <a:avLst/>
          </a:prstGeom>
          <a:noFill/>
          <a:ln/>
        </p:spPr>
        <p:txBody>
          <a:bodyPr wrap="square" lIns="0" tIns="0" rIns="0" bIns="0" rtlCol="0" anchor="ctr"/>
          <a:lstStyle/>
          <a:p>
            <a:pPr marL="0" indent="0" algn="l">
              <a:buNone/>
            </a:pPr>
            <a:r>
              <a:rPr lang="en-US" sz="1350" b="1" i="1" dirty="0">
                <a:solidFill>
                  <a:srgbClr val="CBD6D2"/>
                </a:solidFill>
                <a:latin typeface="Calibri" pitchFamily="34" charset="0"/>
                <a:ea typeface="Calibri" pitchFamily="34" charset="-122"/>
                <a:cs typeface="Calibri" pitchFamily="34" charset="-120"/>
              </a:rPr>
              <a:t>So the map can’t stand in for measured ground type — the case for instrumented walking.</a:t>
            </a:r>
            <a:endParaRPr lang="en-US" sz="1350" dirty="0"/>
          </a:p>
        </p:txBody>
      </p:sp>
      <p:sp>
        <p:nvSpPr>
          <p:cNvPr id="11" name="Text 3"/>
          <p:cNvSpPr txBox="1"/>
          <p:nvPr/>
        </p:nvSpPr>
        <p:spPr>
          <a:xfrm>
            <a:off x="4709160" y="2788920"/>
            <a:ext cx="6583680" cy="2377440"/>
          </a:xfrm>
          <a:prstGeom prst="rect">
            <a:avLst/>
          </a:prstGeom>
          <a:noFill/>
          <a:ln/>
        </p:spPr>
        <p:txBody>
          <a:bodyPr wrap="square" lIns="0" tIns="0" rIns="0" bIns="0" rtlCol="0" anchor="t"/>
          <a:lstStyle/>
          <a:p>
            <a:pPr marL="0" indent="0" algn="l">
              <a:lnSpc>
                <a:spcPct val="150000"/>
              </a:lnSpc>
              <a:buNone/>
            </a:pPr>
            <a:r>
              <a:rPr lang="en-US" sz="1400" dirty="0">
                <a:solidFill>
                  <a:srgbClr val="6B7772"/>
                </a:solidFill>
                <a:latin typeface="Calibri" pitchFamily="34" charset="0"/>
                <a:ea typeface="Calibri" pitchFamily="34" charset="-122"/>
                <a:cs typeface="Calibri" pitchFamily="34" charset="-120"/>
              </a:rPr>
              <a:t>Land cover is canopy-blind: it sees the tree tops rather than the path underneath. Sidewalk material comes in broad codes, with large “unknown” gaps wherever a route leaves the sidewalk grid. And the city layers lag real conditions by years, so even a surface that is recorded correctly may no longer be the surface that is there.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2">
    <p:bg>
      <p:bgPr>
        <a:solidFill>
          <a:srgbClr val="002451"/>
        </a:solidFill>
        <a:effectLst/>
      </p:bgPr>
    </p:bg>
    <p:spTree>
      <p:nvGrpSpPr>
        <p:cNvPr id="1" name=""/>
        <p:cNvGrpSpPr/>
        <p:nvPr/>
      </p:nvGrpSpPr>
      <p:grpSpPr>
        <a:xfrm>
          <a:off x="0" y="0"/>
          <a:ext cx="0" cy="0"/>
          <a:chOff x="0" y="0"/>
          <a:chExt cx="0" cy="0"/>
        </a:xfrm>
      </p:grpSpPr>
      <p:sp>
        <p:nvSpPr>
          <p:cNvPr id="2" name="Shape 0"/>
          <p:cNvSpPr/>
          <p:nvPr/>
        </p:nvSpPr>
        <p:spPr>
          <a:xfrm>
            <a:off x="640080" y="502920"/>
            <a:ext cx="384048" cy="384048"/>
          </a:xfrm>
          <a:prstGeom prst="roundRect">
            <a:avLst>
              <a:gd name="adj" fmla="val 14286"/>
            </a:avLst>
          </a:prstGeom>
          <a:solidFill>
            <a:srgbClr val="607D8B"/>
          </a:solidFill>
          <a:ln/>
        </p:spPr>
      </p:sp>
      <p:sp>
        <p:nvSpPr>
          <p:cNvPr id="3" name="Text 1"/>
          <p:cNvSpPr txBox="1"/>
          <p:nvPr/>
        </p:nvSpPr>
        <p:spPr>
          <a:xfrm>
            <a:off x="640080" y="50292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07</a:t>
            </a:r>
            <a:endParaRPr lang="en-US" sz="1500" dirty="0"/>
          </a:p>
        </p:txBody>
      </p:sp>
      <p:sp>
        <p:nvSpPr>
          <p:cNvPr id="4" name="Text 2"/>
          <p:cNvSpPr txBox="1"/>
          <p:nvPr/>
        </p:nvSpPr>
        <p:spPr>
          <a:xfrm>
            <a:off x="1115568" y="502920"/>
            <a:ext cx="8229600" cy="384048"/>
          </a:xfrm>
          <a:prstGeom prst="rect">
            <a:avLst/>
          </a:prstGeom>
          <a:noFill/>
          <a:ln/>
        </p:spPr>
        <p:txBody>
          <a:bodyPr wrap="square" lIns="0" tIns="0" rIns="0" bIns="0" rtlCol="0" anchor="ctr"/>
          <a:lstStyle/>
          <a:p>
            <a:pPr marL="0" indent="0" algn="l">
              <a:buNone/>
            </a:pPr>
            <a:r>
              <a:rPr lang="en-US" sz="1300" b="1" kern="0" spc="200" dirty="0">
                <a:solidFill>
                  <a:srgbClr val="A9B4B1"/>
                </a:solidFill>
                <a:latin typeface="Calibri" pitchFamily="34" charset="0"/>
                <a:ea typeface="Calibri" pitchFamily="34" charset="-122"/>
                <a:cs typeface="Calibri" pitchFamily="34" charset="-120"/>
              </a:rPr>
              <a:t>VISUALIZATIONS</a:t>
            </a:r>
            <a:endParaRPr lang="en-US" sz="1300" dirty="0"/>
          </a:p>
        </p:txBody>
      </p:sp>
      <p:sp>
        <p:nvSpPr>
          <p:cNvPr id="5" name="Text 3"/>
          <p:cNvSpPr txBox="1"/>
          <p:nvPr/>
        </p:nvSpPr>
        <p:spPr>
          <a:xfrm>
            <a:off x="640080" y="1051560"/>
            <a:ext cx="10881360" cy="731520"/>
          </a:xfrm>
          <a:prstGeom prst="rect">
            <a:avLst/>
          </a:prstGeom>
          <a:noFill/>
          <a:ln/>
        </p:spPr>
        <p:txBody>
          <a:bodyPr wrap="square" lIns="0" tIns="0" rIns="0" bIns="0" rtlCol="0" anchor="ctr"/>
          <a:lstStyle/>
          <a:p>
            <a:pPr marL="0" indent="0" algn="l">
              <a:buNone/>
            </a:pPr>
            <a:r>
              <a:rPr lang="en-US" sz="3000" b="1" dirty="0">
                <a:solidFill>
                  <a:srgbClr val="FFFFFF"/>
                </a:solidFill>
                <a:latin typeface="Cambria" pitchFamily="34" charset="0"/>
                <a:ea typeface="Cambria" pitchFamily="34" charset="-122"/>
                <a:cs typeface="Cambria" pitchFamily="34" charset="-120"/>
              </a:rPr>
              <a:t>Seeing it all at once</a:t>
            </a:r>
            <a:endParaRPr lang="en-US" sz="3000" dirty="0"/>
          </a:p>
        </p:txBody>
      </p:sp>
      <p:sp>
        <p:nvSpPr>
          <p:cNvPr id="6" name="Text 4"/>
          <p:cNvSpPr txBox="1"/>
          <p:nvPr/>
        </p:nvSpPr>
        <p:spPr>
          <a:xfrm>
            <a:off x="640080" y="1691640"/>
            <a:ext cx="10881360" cy="548640"/>
          </a:xfrm>
          <a:prstGeom prst="rect">
            <a:avLst/>
          </a:prstGeom>
          <a:noFill/>
          <a:ln/>
        </p:spPr>
        <p:txBody>
          <a:bodyPr wrap="square" lIns="0" tIns="0" rIns="0" bIns="0" rtlCol="0" anchor="t"/>
          <a:lstStyle/>
          <a:p>
            <a:pPr marL="0" indent="0" algn="l">
              <a:lnSpc>
                <a:spcPct val="110000"/>
              </a:lnSpc>
              <a:buNone/>
            </a:pPr>
            <a:r>
              <a:rPr lang="en-US" sz="1350" dirty="0">
                <a:solidFill>
                  <a:srgbClr val="A9B4B1"/>
                </a:solidFill>
                <a:latin typeface="Calibri" pitchFamily="34" charset="0"/>
                <a:ea typeface="Calibri" pitchFamily="34" charset="-122"/>
                <a:cs typeface="Calibri" pitchFamily="34" charset="-120"/>
              </a:rPr>
              <a:t>Per walk, six aligned lines over the route and as a step timeline — ground truth, the GIS map, the 3-class and 2-class predictions, and the evenness &amp; hardness gradients. Hover a line to locate it on the map.</a:t>
            </a:r>
            <a:endParaRPr lang="en-US" sz="1350" dirty="0"/>
          </a:p>
        </p:txBody>
      </p:sp>
      <p:sp>
        <p:nvSpPr>
          <p:cNvPr id="7" name="Shape 5"/>
          <p:cNvSpPr/>
          <p:nvPr/>
        </p:nvSpPr>
        <p:spPr>
          <a:xfrm>
            <a:off x="640080" y="2331720"/>
            <a:ext cx="10908792" cy="4023360"/>
          </a:xfrm>
          <a:prstGeom prst="roundRect">
            <a:avLst>
              <a:gd name="adj" fmla="val 1136"/>
            </a:avLst>
          </a:prstGeom>
          <a:solidFill>
            <a:srgbClr val="FFFFFF"/>
          </a:solidFill>
          <a:ln w="12700">
            <a:solidFill>
              <a:srgbClr val="DCE3E1"/>
            </a:solidFill>
            <a:prstDash val="solid"/>
          </a:ln>
        </p:spPr>
      </p:sp>
      <p:pic>
        <p:nvPicPr>
          <p:cNvPr id="8" name="Image 0" descr="/mnt/user-data/uploads/Screenshot_2026-09-01_145345.png"/>
          <p:cNvPicPr>
            <a:picLocks noChangeAspect="1"/>
          </p:cNvPicPr>
          <p:nvPr/>
        </p:nvPicPr>
        <p:blipFill>
          <a:blip r:embed="rId3"/>
          <a:stretch>
            <a:fillRect/>
          </a:stretch>
        </p:blipFill>
        <p:spPr>
          <a:xfrm>
            <a:off x="2388157" y="2478024"/>
            <a:ext cx="7412638" cy="3438144"/>
          </a:xfrm>
          <a:prstGeom prst="rect">
            <a:avLst/>
          </a:prstGeom>
        </p:spPr>
      </p:pic>
      <p:sp>
        <p:nvSpPr>
          <p:cNvPr id="9" name="Text 6"/>
          <p:cNvSpPr txBox="1"/>
          <p:nvPr/>
        </p:nvSpPr>
        <p:spPr>
          <a:xfrm>
            <a:off x="640080" y="6080760"/>
            <a:ext cx="10908792" cy="237744"/>
          </a:xfrm>
          <a:prstGeom prst="rect">
            <a:avLst/>
          </a:prstGeom>
          <a:noFill/>
          <a:ln/>
        </p:spPr>
        <p:txBody>
          <a:bodyPr wrap="square" lIns="0" tIns="0" rIns="0" bIns="0" rtlCol="0" anchor="ctr"/>
          <a:lstStyle/>
          <a:p>
            <a:pPr marL="0" indent="0" algn="ctr">
              <a:buNone/>
            </a:pPr>
            <a:r>
              <a:rPr lang="en-US" sz="1050" i="1" dirty="0">
                <a:solidFill>
                  <a:srgbClr val="6B7772"/>
                </a:solidFill>
                <a:latin typeface="Calibri" pitchFamily="34" charset="0"/>
                <a:ea typeface="Calibri" pitchFamily="34" charset="-122"/>
                <a:cs typeface="Calibri" pitchFamily="34" charset="-120"/>
              </a:rPr>
              <a:t>per-walk comparison map + step timeline (REC_20260519_161001)</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3">
    <p:bg>
      <p:bgPr>
        <a:solidFill>
          <a:srgbClr val="002451"/>
        </a:solidFill>
        <a:effectLst/>
      </p:bgPr>
    </p:bg>
    <p:spTree>
      <p:nvGrpSpPr>
        <p:cNvPr id="1" name=""/>
        <p:cNvGrpSpPr/>
        <p:nvPr/>
      </p:nvGrpSpPr>
      <p:grpSpPr>
        <a:xfrm>
          <a:off x="0" y="0"/>
          <a:ext cx="0" cy="0"/>
          <a:chOff x="0" y="0"/>
          <a:chExt cx="0" cy="0"/>
        </a:xfrm>
      </p:grpSpPr>
      <p:sp>
        <p:nvSpPr>
          <p:cNvPr id="2" name="Text 0"/>
          <p:cNvSpPr txBox="1"/>
          <p:nvPr/>
        </p:nvSpPr>
        <p:spPr>
          <a:xfrm>
            <a:off x="822960" y="640080"/>
            <a:ext cx="10058400" cy="822960"/>
          </a:xfrm>
          <a:prstGeom prst="rect">
            <a:avLst/>
          </a:prstGeom>
          <a:noFill/>
          <a:ln/>
        </p:spPr>
        <p:txBody>
          <a:bodyPr wrap="square" lIns="0" tIns="0" rIns="0" bIns="0" rtlCol="0" anchor="ctr"/>
          <a:lstStyle/>
          <a:p>
            <a:pPr marL="0" indent="0" algn="l">
              <a:buNone/>
            </a:pPr>
            <a:r>
              <a:rPr lang="en-US" sz="3400" b="1" dirty="0">
                <a:solidFill>
                  <a:srgbClr val="FFFFFF"/>
                </a:solidFill>
                <a:latin typeface="Cambria" pitchFamily="34" charset="0"/>
                <a:ea typeface="Cambria" pitchFamily="34" charset="-122"/>
                <a:cs typeface="Cambria" pitchFamily="34" charset="-120"/>
              </a:rPr>
              <a:t>What’s next</a:t>
            </a:r>
            <a:endParaRPr lang="en-US" sz="3400" dirty="0"/>
          </a:p>
        </p:txBody>
      </p:sp>
      <p:sp>
        <p:nvSpPr>
          <p:cNvPr id="3" name="Oval 2"/>
          <p:cNvSpPr/>
          <p:nvPr/>
        </p:nvSpPr>
        <p:spPr>
          <a:xfrm>
            <a:off x="640080" y="1900000"/>
            <a:ext cx="360000" cy="360000"/>
          </a:xfrm>
          <a:prstGeom prst="ellipse">
            <a:avLst/>
          </a:prstGeom>
          <a:solidFill>
            <a:srgbClr val="37474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FFFFFF"/>
                </a:solidFill>
              </a:rPr>
              <a:t>1</a:t>
            </a:r>
          </a:p>
        </p:txBody>
      </p:sp>
      <p:sp>
        <p:nvSpPr>
          <p:cNvPr id="4" name="TextBox 3"/>
          <p:cNvSpPr txBox="1"/>
          <p:nvPr/>
        </p:nvSpPr>
        <p:spPr>
          <a:xfrm>
            <a:off x="1100080" y="1860000"/>
            <a:ext cx="4790000" cy="1350000"/>
          </a:xfrm>
          <a:prstGeom prst="rect">
            <a:avLst/>
          </a:prstGeom>
          <a:noFill/>
        </p:spPr>
        <p:txBody>
          <a:bodyPr wrap="square">
            <a:spAutoFit/>
          </a:bodyPr>
          <a:lstStyle/>
          <a:p>
            <a:r>
              <a:rPr sz="1400" b="1">
                <a:solidFill>
                  <a:srgbClr val="FFFFFF"/>
                </a:solidFill>
              </a:rPr>
              <a:t>Physicalization</a:t>
            </a:r>
          </a:p>
          <a:p>
            <a:r>
              <a:rPr sz="1100">
                <a:solidFill>
                  <a:srgbClr val="C5CED8"/>
                </a:solidFill>
              </a:rPr>
              <a:t>A tactile 3D 'ground print' comparing how an uneven route feels vs. an even one.</a:t>
            </a:r>
          </a:p>
        </p:txBody>
      </p:sp>
      <p:sp>
        <p:nvSpPr>
          <p:cNvPr id="5" name="Oval 4"/>
          <p:cNvSpPr/>
          <p:nvPr/>
        </p:nvSpPr>
        <p:spPr>
          <a:xfrm>
            <a:off x="640080" y="3400000"/>
            <a:ext cx="360000" cy="360000"/>
          </a:xfrm>
          <a:prstGeom prst="ellipse">
            <a:avLst/>
          </a:prstGeom>
          <a:solidFill>
            <a:srgbClr val="37474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FFFFFF"/>
                </a:solidFill>
              </a:rPr>
              <a:t>2</a:t>
            </a:r>
          </a:p>
        </p:txBody>
      </p:sp>
      <p:sp>
        <p:nvSpPr>
          <p:cNvPr id="6" name="TextBox 5"/>
          <p:cNvSpPr txBox="1"/>
          <p:nvPr/>
        </p:nvSpPr>
        <p:spPr>
          <a:xfrm>
            <a:off x="1100080" y="3360000"/>
            <a:ext cx="4790000" cy="1350000"/>
          </a:xfrm>
          <a:prstGeom prst="rect">
            <a:avLst/>
          </a:prstGeom>
          <a:noFill/>
        </p:spPr>
        <p:txBody>
          <a:bodyPr wrap="square">
            <a:spAutoFit/>
          </a:bodyPr>
          <a:lstStyle/>
          <a:p>
            <a:r>
              <a:rPr sz="1400" b="1">
                <a:solidFill>
                  <a:srgbClr val="FFFFFF"/>
                </a:solidFill>
              </a:rPr>
              <a:t>More 4th-class data</a:t>
            </a:r>
          </a:p>
          <a:p>
            <a:r>
              <a:rPr sz="1100">
                <a:solidFill>
                  <a:srgbClr val="C5CED8"/>
                </a:solidFill>
              </a:rPr>
              <a:t>Build each user to ~750–850 steps on modular paved (cobblestone/uneven brick).</a:t>
            </a:r>
          </a:p>
        </p:txBody>
      </p:sp>
      <p:sp>
        <p:nvSpPr>
          <p:cNvPr id="7" name="Oval 6"/>
          <p:cNvSpPr/>
          <p:nvPr/>
        </p:nvSpPr>
        <p:spPr>
          <a:xfrm>
            <a:off x="640080" y="4900000"/>
            <a:ext cx="360000" cy="360000"/>
          </a:xfrm>
          <a:prstGeom prst="ellipse">
            <a:avLst/>
          </a:prstGeom>
          <a:solidFill>
            <a:srgbClr val="37474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FFFFFF"/>
                </a:solidFill>
              </a:rPr>
              <a:t>3</a:t>
            </a:r>
          </a:p>
        </p:txBody>
      </p:sp>
      <p:sp>
        <p:nvSpPr>
          <p:cNvPr id="8" name="TextBox 7"/>
          <p:cNvSpPr txBox="1"/>
          <p:nvPr/>
        </p:nvSpPr>
        <p:spPr>
          <a:xfrm>
            <a:off x="1100080" y="4860000"/>
            <a:ext cx="4790000" cy="1350000"/>
          </a:xfrm>
          <a:prstGeom prst="rect">
            <a:avLst/>
          </a:prstGeom>
          <a:noFill/>
        </p:spPr>
        <p:txBody>
          <a:bodyPr wrap="square">
            <a:spAutoFit/>
          </a:bodyPr>
          <a:lstStyle/>
          <a:p>
            <a:r>
              <a:rPr sz="1400" b="1">
                <a:solidFill>
                  <a:srgbClr val="FFFFFF"/>
                </a:solidFill>
              </a:rPr>
              <a:t>More data from Samantha</a:t>
            </a:r>
          </a:p>
          <a:p>
            <a:r>
              <a:rPr sz="1100">
                <a:solidFill>
                  <a:srgbClr val="C5CED8"/>
                </a:solidFill>
              </a:rPr>
              <a:t>Grow her step count — friendly step-count competition between walkers encouraged.</a:t>
            </a:r>
          </a:p>
        </p:txBody>
      </p:sp>
      <p:sp>
        <p:nvSpPr>
          <p:cNvPr id="9" name="Oval 8"/>
          <p:cNvSpPr/>
          <p:nvPr/>
        </p:nvSpPr>
        <p:spPr>
          <a:xfrm>
            <a:off x="6300000" y="1900000"/>
            <a:ext cx="360000" cy="360000"/>
          </a:xfrm>
          <a:prstGeom prst="ellipse">
            <a:avLst/>
          </a:prstGeom>
          <a:solidFill>
            <a:srgbClr val="37474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FFFFFF"/>
                </a:solidFill>
              </a:rPr>
              <a:t>4</a:t>
            </a:r>
          </a:p>
        </p:txBody>
      </p:sp>
      <p:sp>
        <p:nvSpPr>
          <p:cNvPr id="10" name="TextBox 9"/>
          <p:cNvSpPr txBox="1"/>
          <p:nvPr/>
        </p:nvSpPr>
        <p:spPr>
          <a:xfrm>
            <a:off x="6760000" y="1860000"/>
            <a:ext cx="4790000" cy="1350000"/>
          </a:xfrm>
          <a:prstGeom prst="rect">
            <a:avLst/>
          </a:prstGeom>
          <a:noFill/>
        </p:spPr>
        <p:txBody>
          <a:bodyPr wrap="square">
            <a:spAutoFit/>
          </a:bodyPr>
          <a:lstStyle/>
          <a:p>
            <a:r>
              <a:rPr sz="1400" b="1">
                <a:solidFill>
                  <a:srgbClr val="FFFFFF"/>
                </a:solidFill>
              </a:rPr>
              <a:t>Freedom Trail proof-of-concept</a:t>
            </a:r>
          </a:p>
          <a:p>
            <a:r>
              <a:rPr sz="1100">
                <a:solidFill>
                  <a:srgbClr val="C5CED8"/>
                </a:solidFill>
              </a:rPr>
              <a:t>Multiple users walk the same route; compare their steps to each other and to GIS.</a:t>
            </a:r>
          </a:p>
        </p:txBody>
      </p:sp>
      <p:sp>
        <p:nvSpPr>
          <p:cNvPr id="11" name="Oval 10"/>
          <p:cNvSpPr/>
          <p:nvPr/>
        </p:nvSpPr>
        <p:spPr>
          <a:xfrm>
            <a:off x="6300000" y="3400000"/>
            <a:ext cx="360000" cy="360000"/>
          </a:xfrm>
          <a:prstGeom prst="ellipse">
            <a:avLst/>
          </a:prstGeom>
          <a:solidFill>
            <a:srgbClr val="37474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FFFFFF"/>
                </a:solidFill>
              </a:rPr>
              <a:t>5</a:t>
            </a:r>
          </a:p>
        </p:txBody>
      </p:sp>
      <p:sp>
        <p:nvSpPr>
          <p:cNvPr id="12" name="TextBox 11"/>
          <p:cNvSpPr txBox="1"/>
          <p:nvPr/>
        </p:nvSpPr>
        <p:spPr>
          <a:xfrm>
            <a:off x="6760000" y="3360000"/>
            <a:ext cx="4790000" cy="1350000"/>
          </a:xfrm>
          <a:prstGeom prst="rect">
            <a:avLst/>
          </a:prstGeom>
          <a:noFill/>
        </p:spPr>
        <p:txBody>
          <a:bodyPr wrap="square">
            <a:spAutoFit/>
          </a:bodyPr>
          <a:lstStyle/>
          <a:p>
            <a:r>
              <a:rPr sz="1400" b="1">
                <a:solidFill>
                  <a:srgbClr val="FFFFFF"/>
                </a:solidFill>
              </a:rPr>
              <a:t>Paper — ACM IMWUT</a:t>
            </a:r>
          </a:p>
          <a:p>
            <a:r>
              <a:rPr sz="1100">
                <a:solidFill>
                  <a:srgbClr val="C5CED8"/>
                </a:solidFill>
              </a:rPr>
              <a:t>Target a submission to IMWUT, deadline November 1.</a:t>
            </a:r>
          </a:p>
        </p:txBody>
      </p:sp>
      <p:sp>
        <p:nvSpPr>
          <p:cNvPr id="13" name="Oval 12"/>
          <p:cNvSpPr/>
          <p:nvPr/>
        </p:nvSpPr>
        <p:spPr>
          <a:xfrm>
            <a:off x="6300000" y="4900000"/>
            <a:ext cx="360000" cy="360000"/>
          </a:xfrm>
          <a:prstGeom prst="ellipse">
            <a:avLst/>
          </a:prstGeom>
          <a:solidFill>
            <a:srgbClr val="37474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FFFFFF"/>
                </a:solidFill>
              </a:rPr>
              <a:t>6</a:t>
            </a:r>
          </a:p>
        </p:txBody>
      </p:sp>
      <p:sp>
        <p:nvSpPr>
          <p:cNvPr id="14" name="TextBox 13"/>
          <p:cNvSpPr txBox="1"/>
          <p:nvPr/>
        </p:nvSpPr>
        <p:spPr>
          <a:xfrm>
            <a:off x="6760000" y="4860000"/>
            <a:ext cx="4790000" cy="1350000"/>
          </a:xfrm>
          <a:prstGeom prst="rect">
            <a:avLst/>
          </a:prstGeom>
          <a:noFill/>
        </p:spPr>
        <p:txBody>
          <a:bodyPr wrap="square">
            <a:spAutoFit/>
          </a:bodyPr>
          <a:lstStyle/>
          <a:p>
            <a:r>
              <a:rPr sz="1400" b="1">
                <a:solidFill>
                  <a:srgbClr val="FFFFFF"/>
                </a:solidFill>
              </a:rPr>
              <a:t>Walking-type research</a:t>
            </a:r>
          </a:p>
          <a:p>
            <a:r>
              <a:rPr sz="1100">
                <a:solidFill>
                  <a:srgbClr val="C5CED8"/>
                </a:solidFill>
              </a:rPr>
              <a:t>Whether an individual's walking style shapes their pressure data &amp; tendencies across surfaces.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18</Slides>
  <Notes>17</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5</cp:revision>
  <dcterms:created xsi:type="dcterms:W3CDTF">2026-09-01T19:47:03Z</dcterms:created>
  <dcterms:modified xsi:type="dcterms:W3CDTF">2026-09-21T14:45:35Z</dcterms:modified>
</cp:coreProperties>
</file>