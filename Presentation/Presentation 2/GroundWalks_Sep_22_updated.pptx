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 id="2147483648" r:id="rId2"/>
  </p:sldMasterIdLst>
  <p:notesMasterIdLst>
    <p:notesMasterId r:id="rId26"/>
  </p:notesMasterIdLst>
  <p:sldIdLst>
    <p:sldId id="256" r:id="rId3"/>
    <p:sldId id="269" r:id="rId4"/>
    <p:sldId id="270" r:id="rId5"/>
    <p:sldId id="271" r:id="rId6"/>
    <p:sldId id="257" r:id="rId7"/>
    <p:sldId id="272" r:id="rId8"/>
    <p:sldId id="258" r:id="rId9"/>
    <p:sldId id="276" r:id="rId10"/>
    <p:sldId id="259" r:id="rId11"/>
    <p:sldId id="280" r:id="rId12"/>
    <p:sldId id="260" r:id="rId13"/>
    <p:sldId id="281" r:id="rId14"/>
    <p:sldId id="261" r:id="rId15"/>
    <p:sldId id="262" r:id="rId16"/>
    <p:sldId id="263" r:id="rId17"/>
    <p:sldId id="264" r:id="rId18"/>
    <p:sldId id="273" r:id="rId19"/>
    <p:sldId id="265" r:id="rId20"/>
    <p:sldId id="266" r:id="rId21"/>
    <p:sldId id="267" r:id="rId22"/>
    <p:sldId id="278" r:id="rId23"/>
    <p:sldId id="274" r:id="rId24"/>
    <p:sldId id="268"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8D6E63"/>
    <a:srgbClr val="0024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FED79C-3898-DA2E-EC5A-032852E31E2F}" v="452" dt="2026-09-21T19:47:56.961"/>
    <p1510:client id="{57A28641-FF65-7227-078E-1CC785382F78}" v="201" dt="2026-09-22T17:21:26.445"/>
    <p1510:client id="{85EFC0BA-22C4-E6F8-A420-0C677F010D4A}" v="26" dt="2026-09-21T14:45:31.830"/>
    <p1510:client id="{A8FAC53A-7842-34F6-81F6-83D2F42C4458}" v="4" dt="2026-09-21T17:19:38.1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Grass</c:v>
                </c:pt>
              </c:strCache>
            </c:strRef>
          </c:tx>
          <c:spPr>
            <a:solidFill>
              <a:srgbClr val="4CAF50"/>
            </a:solidFill>
            <a:effectLst/>
          </c:spPr>
          <c:invertIfNegative val="0"/>
          <c:cat>
            <c:strRef>
              <c:f>Sheet1!$A$2:$A$5</c:f>
              <c:strCache>
                <c:ptCount val="4"/>
                <c:pt idx="0">
                  <c:v>Kristian</c:v>
                </c:pt>
                <c:pt idx="1">
                  <c:v>Sam</c:v>
                </c:pt>
                <c:pt idx="2">
                  <c:v>Catherine</c:v>
                </c:pt>
                <c:pt idx="3">
                  <c:v>Samantha</c:v>
                </c:pt>
              </c:strCache>
            </c:strRef>
          </c:cat>
          <c:val>
            <c:numRef>
              <c:f>Sheet1!$B$2:$B$5</c:f>
              <c:numCache>
                <c:formatCode>General</c:formatCode>
                <c:ptCount val="4"/>
                <c:pt idx="0">
                  <c:v>1760</c:v>
                </c:pt>
                <c:pt idx="1">
                  <c:v>1642</c:v>
                </c:pt>
                <c:pt idx="2">
                  <c:v>187</c:v>
                </c:pt>
                <c:pt idx="3">
                  <c:v>32</c:v>
                </c:pt>
              </c:numCache>
            </c:numRef>
          </c:val>
          <c:extLst>
            <c:ext xmlns:c16="http://schemas.microsoft.com/office/drawing/2014/chart" uri="{C3380CC4-5D6E-409C-BE32-E72D297353CC}">
              <c16:uniqueId val="{00000000-76D9-4DBA-B3DC-B55E8B3B3F4E}"/>
            </c:ext>
          </c:extLst>
        </c:ser>
        <c:ser>
          <c:idx val="1"/>
          <c:order val="1"/>
          <c:tx>
            <c:strRef>
              <c:f>Sheet1!$C$1</c:f>
              <c:strCache>
                <c:ptCount val="1"/>
                <c:pt idx="0">
                  <c:v>Loose</c:v>
                </c:pt>
              </c:strCache>
            </c:strRef>
          </c:tx>
          <c:spPr>
            <a:solidFill>
              <a:srgbClr val="8D6E63"/>
            </a:solidFill>
            <a:effectLst/>
          </c:spPr>
          <c:invertIfNegative val="0"/>
          <c:cat>
            <c:strRef>
              <c:f>Sheet1!$A$2:$A$5</c:f>
              <c:strCache>
                <c:ptCount val="4"/>
                <c:pt idx="0">
                  <c:v>Kristian</c:v>
                </c:pt>
                <c:pt idx="1">
                  <c:v>Sam</c:v>
                </c:pt>
                <c:pt idx="2">
                  <c:v>Catherine</c:v>
                </c:pt>
                <c:pt idx="3">
                  <c:v>Samantha</c:v>
                </c:pt>
              </c:strCache>
            </c:strRef>
          </c:cat>
          <c:val>
            <c:numRef>
              <c:f>Sheet1!$C$2:$C$5</c:f>
              <c:numCache>
                <c:formatCode>General</c:formatCode>
                <c:ptCount val="4"/>
                <c:pt idx="0">
                  <c:v>892</c:v>
                </c:pt>
                <c:pt idx="1">
                  <c:v>1053</c:v>
                </c:pt>
                <c:pt idx="2">
                  <c:v>57</c:v>
                </c:pt>
                <c:pt idx="3">
                  <c:v>0</c:v>
                </c:pt>
              </c:numCache>
            </c:numRef>
          </c:val>
          <c:extLst>
            <c:ext xmlns:c16="http://schemas.microsoft.com/office/drawing/2014/chart" uri="{C3380CC4-5D6E-409C-BE32-E72D297353CC}">
              <c16:uniqueId val="{00000001-76D9-4DBA-B3DC-B55E8B3B3F4E}"/>
            </c:ext>
          </c:extLst>
        </c:ser>
        <c:ser>
          <c:idx val="2"/>
          <c:order val="2"/>
          <c:tx>
            <c:strRef>
              <c:f>Sheet1!$D$1</c:f>
              <c:strCache>
                <c:ptCount val="1"/>
                <c:pt idx="0">
                  <c:v>Continuous Paved</c:v>
                </c:pt>
              </c:strCache>
            </c:strRef>
          </c:tx>
          <c:spPr>
            <a:solidFill>
              <a:srgbClr val="607D8B"/>
            </a:solidFill>
            <a:effectLst/>
          </c:spPr>
          <c:invertIfNegative val="0"/>
          <c:cat>
            <c:strRef>
              <c:f>Sheet1!$A$2:$A$5</c:f>
              <c:strCache>
                <c:ptCount val="4"/>
                <c:pt idx="0">
                  <c:v>Kristian</c:v>
                </c:pt>
                <c:pt idx="1">
                  <c:v>Sam</c:v>
                </c:pt>
                <c:pt idx="2">
                  <c:v>Catherine</c:v>
                </c:pt>
                <c:pt idx="3">
                  <c:v>Samantha</c:v>
                </c:pt>
              </c:strCache>
            </c:strRef>
          </c:cat>
          <c:val>
            <c:numRef>
              <c:f>Sheet1!$D$2:$D$5</c:f>
              <c:numCache>
                <c:formatCode>General</c:formatCode>
                <c:ptCount val="4"/>
                <c:pt idx="0">
                  <c:v>3249</c:v>
                </c:pt>
                <c:pt idx="1">
                  <c:v>4390</c:v>
                </c:pt>
                <c:pt idx="2">
                  <c:v>854</c:v>
                </c:pt>
                <c:pt idx="3">
                  <c:v>477</c:v>
                </c:pt>
              </c:numCache>
            </c:numRef>
          </c:val>
          <c:extLst>
            <c:ext xmlns:c16="http://schemas.microsoft.com/office/drawing/2014/chart" uri="{C3380CC4-5D6E-409C-BE32-E72D297353CC}">
              <c16:uniqueId val="{00000002-76D9-4DBA-B3DC-B55E8B3B3F4E}"/>
            </c:ext>
          </c:extLst>
        </c:ser>
        <c:ser>
          <c:idx val="3"/>
          <c:order val="3"/>
          <c:tx>
            <c:strRef>
              <c:f>Sheet1!$E$1</c:f>
              <c:strCache>
                <c:ptCount val="1"/>
                <c:pt idx="0">
                  <c:v>Modular Paved</c:v>
                </c:pt>
              </c:strCache>
            </c:strRef>
          </c:tx>
          <c:spPr>
            <a:solidFill>
              <a:srgbClr val="B0468E"/>
            </a:solidFill>
            <a:effectLst/>
          </c:spPr>
          <c:invertIfNegative val="0"/>
          <c:cat>
            <c:strRef>
              <c:f>Sheet1!$A$2:$A$5</c:f>
              <c:strCache>
                <c:ptCount val="4"/>
                <c:pt idx="0">
                  <c:v>Kristian</c:v>
                </c:pt>
                <c:pt idx="1">
                  <c:v>Sam</c:v>
                </c:pt>
                <c:pt idx="2">
                  <c:v>Catherine</c:v>
                </c:pt>
                <c:pt idx="3">
                  <c:v>Samantha</c:v>
                </c:pt>
              </c:strCache>
            </c:strRef>
          </c:cat>
          <c:val>
            <c:numRef>
              <c:f>Sheet1!$E$2:$E$5</c:f>
              <c:numCache>
                <c:formatCode>General</c:formatCode>
                <c:ptCount val="4"/>
                <c:pt idx="0">
                  <c:v>0</c:v>
                </c:pt>
                <c:pt idx="1">
                  <c:v>362</c:v>
                </c:pt>
                <c:pt idx="2">
                  <c:v>0</c:v>
                </c:pt>
                <c:pt idx="3">
                  <c:v>0</c:v>
                </c:pt>
              </c:numCache>
            </c:numRef>
          </c:val>
          <c:extLst>
            <c:ext xmlns:c16="http://schemas.microsoft.com/office/drawing/2014/chart" uri="{C3380CC4-5D6E-409C-BE32-E72D297353CC}">
              <c16:uniqueId val="{00000003-76D9-4DBA-B3DC-B55E8B3B3F4E}"/>
            </c:ext>
          </c:extLst>
        </c:ser>
        <c:dLbls>
          <c:showLegendKey val="0"/>
          <c:showVal val="0"/>
          <c:showCatName val="0"/>
          <c:showSerName val="0"/>
          <c:showPercent val="0"/>
          <c:showBubbleSize val="0"/>
        </c:dLbls>
        <c:gapWidth val="50"/>
        <c:overlap val="-2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A9B4B1"/>
            </a:solidFill>
            <a:prstDash val="solid"/>
            <a:round/>
          </a:ln>
        </c:spPr>
        <c:txPr>
          <a:bodyPr/>
          <a:lstStyle/>
          <a:p>
            <a:pPr>
              <a:defRPr sz="1200" b="0" i="0" u="none" strike="noStrike">
                <a:solidFill>
                  <a:srgbClr val="FFFFFF"/>
                </a:solidFill>
                <a:latin typeface="Calibri"/>
              </a:defRPr>
            </a:pPr>
            <a:endParaRPr lang="en-US"/>
          </a:p>
        </c:txPr>
        <c:crossAx val="2094734552"/>
        <c:crosses val="autoZero"/>
        <c:auto val="1"/>
        <c:lblAlgn val="ctr"/>
        <c:lblOffset val="100"/>
        <c:noMultiLvlLbl val="1"/>
      </c:catAx>
      <c:valAx>
        <c:axId val="2094734552"/>
        <c:scaling>
          <c:orientation val="minMax"/>
          <c:max val="7000"/>
        </c:scaling>
        <c:delete val="0"/>
        <c:axPos val="l"/>
        <c:majorGridlines>
          <c:spPr>
            <a:ln w="12700" cap="flat">
              <a:solidFill>
                <a:srgbClr val="17457F"/>
              </a:solidFill>
              <a:prstDash val="solid"/>
              <a:round/>
            </a:ln>
          </c:spPr>
        </c:majorGridlines>
        <c:numFmt formatCode="General" sourceLinked="0"/>
        <c:majorTickMark val="out"/>
        <c:minorTickMark val="none"/>
        <c:tickLblPos val="nextTo"/>
        <c:spPr>
          <a:ln w="12700" cap="flat">
            <a:solidFill>
              <a:srgbClr val="A9B4B1"/>
            </a:solidFill>
            <a:prstDash val="solid"/>
            <a:round/>
          </a:ln>
        </c:spPr>
        <c:txPr>
          <a:bodyPr/>
          <a:lstStyle/>
          <a:p>
            <a:pPr>
              <a:defRPr sz="1000" b="0" i="0" u="none" strike="noStrike">
                <a:solidFill>
                  <a:srgbClr val="A9B4B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A9B4B1"/>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8207B69-D84C-4383-8EAE-6CEAA2309DE2}" type="datetimeFigureOut">
              <a:t>9/22/2026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EEA91EF-BDF1-4605-8DE0-D3CC3670CE7B}" type="slidenum">
              <a:t>‹#›</a:t>
            </a:fld>
            <a:endParaRPr lang="en-US"/>
          </a:p>
        </p:txBody>
      </p:sp>
    </p:spTree>
    <p:extLst>
      <p:ext uri="{BB962C8B-B14F-4D97-AF65-F5344CB8AC3E}">
        <p14:creationId xmlns:p14="http://schemas.microsoft.com/office/powerpoint/2010/main" val="2352889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Swatches removed; surface colours still used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from the August deck. Walking as the most accessible physical activity; health outcomes it is associated with; the two framing quotes.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Walkability is now a design and policy target, but existing measures (Walk Score, Walk Friendly Communities, Pedestrians First, Boston Walking City Trails) score proximity and infrastructure from map data, not the ground itself. Sets up the GIS-unreliability slide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The foot as the interface between body and urban ground, and the three 'what if' questions that became the project objectives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project objectives. #1 is the modelling focus; #2 and #3 are broader/exploratory.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The gait cycle: stance ~60%, swing ~40%. Maps each gait event onto the features the models use. Add the source citation for the diagram.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dropped the resolution row and footnote. Diagram is the manual pressure-sensor layout (Screenshot 152305).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recorded signal replaces the abstract flow. Left = per-sensor pressure lines L/R; right = pressure heatmaps. Shows the periodic gait signal the models read.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Taxonomy updated: paved currently includes even + uneven; planned 4th modular-paved class for brick/cobblestone, plus sand/rocks. Footnote removed.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walkers now: Kristian 5,902; Sam 6,153; Catherine 1,098 (grass 187/loose 57/paved 854). Total 13,153. Cadence note removed; growth note explains the 4th class + new surfaces + Samantha.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share one step-feature extractor. Evenness = unsupervised scoring model; hardness = supervised P(firm).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feature_distributions.png (grass/loose/paved). Explains the basis the classifiers learn from. Swap for the hard/soft version if you prefer.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matrices explain model performance. 2-class 89%; 3-class 79% with loose confused with paved (34% correct). Brick-as-own-class history added. These reinforce that firm-vs-firm is the hard split.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scales_populations.png (grass/loose/paved). Evenness + hardness by surface + scatter. Paved/loose overlap visible.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Reframed: GIS/map data unreliably predicts ground type. 48% agreement from the per-walk map. Bullets: canopy-blind land cover, coarse material codes + unknown gaps, stale data. Motivates measuring.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per-walk comparison map (Screenshot 145345): route with six coloured lines + linked step timeline. Ties the whole pipeline together.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Retitled What’s next. Future directions: dataset growth (4th class + new surfaces + walkers), better ground truth than GIS, and the health/walkability aims.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00197760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190625" y="1151930"/>
            <a:ext cx="9810750" cy="2321719"/>
          </a:xfrm>
          <a:prstGeom prst="rect">
            <a:avLst/>
          </a:prstGeom>
        </p:spPr>
        <p:txBody>
          <a:bodyPr anchor="b"/>
          <a:lstStyle/>
          <a:p>
            <a:r>
              <a:t>Title Text</a:t>
            </a:r>
          </a:p>
        </p:txBody>
      </p:sp>
      <p:sp>
        <p:nvSpPr>
          <p:cNvPr id="12" name="Body Level One…"/>
          <p:cNvSpPr txBox="1">
            <a:spLocks noGrp="1"/>
          </p:cNvSpPr>
          <p:nvPr>
            <p:ph type="body" sz="quarter" idx="1"/>
          </p:nvPr>
        </p:nvSpPr>
        <p:spPr>
          <a:xfrm>
            <a:off x="1190625" y="3536156"/>
            <a:ext cx="9810750" cy="794742"/>
          </a:xfrm>
          <a:prstGeom prst="rect">
            <a:avLst/>
          </a:prstGeom>
        </p:spPr>
        <p:txBody>
          <a:bodyPr anchor="t"/>
          <a:lstStyle>
            <a:lvl1pPr marL="0" indent="0" algn="ctr">
              <a:spcBef>
                <a:spcPts val="0"/>
              </a:spcBef>
              <a:buSzTx/>
              <a:buNone/>
              <a:defRPr sz="2250"/>
            </a:lvl1pPr>
            <a:lvl2pPr marL="0" indent="160729" algn="ctr">
              <a:spcBef>
                <a:spcPts val="0"/>
              </a:spcBef>
              <a:buSzTx/>
              <a:buNone/>
              <a:defRPr sz="2250"/>
            </a:lvl2pPr>
            <a:lvl3pPr marL="0" indent="321457" algn="ctr">
              <a:spcBef>
                <a:spcPts val="0"/>
              </a:spcBef>
              <a:buSzTx/>
              <a:buNone/>
              <a:defRPr sz="2250"/>
            </a:lvl3pPr>
            <a:lvl4pPr marL="0" indent="482186" algn="ctr">
              <a:spcBef>
                <a:spcPts val="0"/>
              </a:spcBef>
              <a:buSzTx/>
              <a:buNone/>
              <a:defRPr sz="2250"/>
            </a:lvl4pPr>
            <a:lvl5pPr marL="0" indent="642915" algn="ctr">
              <a:spcBef>
                <a:spcPts val="0"/>
              </a:spcBef>
              <a:buSzTx/>
              <a:buNone/>
              <a:defRPr sz="225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6086154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21"/>
          </p:nvPr>
        </p:nvSpPr>
        <p:spPr>
          <a:xfrm>
            <a:off x="-607218" y="348258"/>
            <a:ext cx="11596688" cy="4318972"/>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190625" y="4723805"/>
            <a:ext cx="9810750" cy="1000125"/>
          </a:xfrm>
          <a:prstGeom prst="rect">
            <a:avLst/>
          </a:prstGeom>
        </p:spPr>
        <p:txBody>
          <a:bodyPr/>
          <a:lstStyle/>
          <a:p>
            <a:r>
              <a:t>Title Text</a:t>
            </a:r>
          </a:p>
        </p:txBody>
      </p:sp>
      <p:sp>
        <p:nvSpPr>
          <p:cNvPr id="22" name="Body Level One…"/>
          <p:cNvSpPr txBox="1">
            <a:spLocks noGrp="1"/>
          </p:cNvSpPr>
          <p:nvPr>
            <p:ph type="body" sz="quarter" idx="1"/>
          </p:nvPr>
        </p:nvSpPr>
        <p:spPr>
          <a:xfrm>
            <a:off x="1190625" y="5759649"/>
            <a:ext cx="9810750" cy="794742"/>
          </a:xfrm>
          <a:prstGeom prst="rect">
            <a:avLst/>
          </a:prstGeom>
        </p:spPr>
        <p:txBody>
          <a:bodyPr anchor="t"/>
          <a:lstStyle>
            <a:lvl1pPr marL="0" indent="0" algn="ctr">
              <a:spcBef>
                <a:spcPts val="0"/>
              </a:spcBef>
              <a:buSzTx/>
              <a:buNone/>
              <a:defRPr sz="2250"/>
            </a:lvl1pPr>
            <a:lvl2pPr marL="0" indent="160729" algn="ctr">
              <a:spcBef>
                <a:spcPts val="0"/>
              </a:spcBef>
              <a:buSzTx/>
              <a:buNone/>
              <a:defRPr sz="2250"/>
            </a:lvl2pPr>
            <a:lvl3pPr marL="0" indent="321457" algn="ctr">
              <a:spcBef>
                <a:spcPts val="0"/>
              </a:spcBef>
              <a:buSzTx/>
              <a:buNone/>
              <a:defRPr sz="2250"/>
            </a:lvl3pPr>
            <a:lvl4pPr marL="0" indent="482186" algn="ctr">
              <a:spcBef>
                <a:spcPts val="0"/>
              </a:spcBef>
              <a:buSzTx/>
              <a:buNone/>
              <a:defRPr sz="2250"/>
            </a:lvl4pPr>
            <a:lvl5pPr marL="0" indent="642915" algn="ctr">
              <a:spcBef>
                <a:spcPts val="0"/>
              </a:spcBef>
              <a:buSzTx/>
              <a:buNone/>
              <a:defRPr sz="225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2904287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190625" y="2268141"/>
            <a:ext cx="9810750" cy="2321719"/>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1093914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idx="21"/>
          </p:nvPr>
        </p:nvSpPr>
        <p:spPr>
          <a:xfrm>
            <a:off x="2304042" y="-97382"/>
            <a:ext cx="12660590" cy="6330295"/>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892969" y="446484"/>
            <a:ext cx="5000625" cy="2803922"/>
          </a:xfrm>
          <a:prstGeom prst="rect">
            <a:avLst/>
          </a:prstGeom>
        </p:spPr>
        <p:txBody>
          <a:bodyPr anchor="b"/>
          <a:lstStyle>
            <a:lvl1pPr>
              <a:defRPr sz="4219"/>
            </a:lvl1pPr>
          </a:lstStyle>
          <a:p>
            <a:r>
              <a:t>Title Text</a:t>
            </a:r>
          </a:p>
        </p:txBody>
      </p:sp>
      <p:sp>
        <p:nvSpPr>
          <p:cNvPr id="40" name="Body Level One…"/>
          <p:cNvSpPr txBox="1">
            <a:spLocks noGrp="1"/>
          </p:cNvSpPr>
          <p:nvPr>
            <p:ph type="body" sz="quarter" idx="1"/>
          </p:nvPr>
        </p:nvSpPr>
        <p:spPr>
          <a:xfrm>
            <a:off x="892969" y="3348633"/>
            <a:ext cx="5000625" cy="2893219"/>
          </a:xfrm>
          <a:prstGeom prst="rect">
            <a:avLst/>
          </a:prstGeom>
        </p:spPr>
        <p:txBody>
          <a:bodyPr anchor="t"/>
          <a:lstStyle>
            <a:lvl1pPr marL="0" indent="0" algn="ctr">
              <a:spcBef>
                <a:spcPts val="0"/>
              </a:spcBef>
              <a:buSzTx/>
              <a:buNone/>
              <a:defRPr sz="2250"/>
            </a:lvl1pPr>
            <a:lvl2pPr marL="0" indent="160729" algn="ctr">
              <a:spcBef>
                <a:spcPts val="0"/>
              </a:spcBef>
              <a:buSzTx/>
              <a:buNone/>
              <a:defRPr sz="2250"/>
            </a:lvl2pPr>
            <a:lvl3pPr marL="0" indent="321457" algn="ctr">
              <a:spcBef>
                <a:spcPts val="0"/>
              </a:spcBef>
              <a:buSzTx/>
              <a:buNone/>
              <a:defRPr sz="2250"/>
            </a:lvl3pPr>
            <a:lvl4pPr marL="0" indent="482186" algn="ctr">
              <a:spcBef>
                <a:spcPts val="0"/>
              </a:spcBef>
              <a:buSzTx/>
              <a:buNone/>
              <a:defRPr sz="2250"/>
            </a:lvl4pPr>
            <a:lvl5pPr marL="0" indent="642915" algn="ctr">
              <a:spcBef>
                <a:spcPts val="0"/>
              </a:spcBef>
              <a:buSzTx/>
              <a:buNone/>
              <a:defRPr sz="225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3077391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3360139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6225786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idx="21"/>
          </p:nvPr>
        </p:nvSpPr>
        <p:spPr>
          <a:xfrm>
            <a:off x="4193976" y="1428750"/>
            <a:ext cx="9644063" cy="4822031"/>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92969" y="1821656"/>
            <a:ext cx="5000625" cy="4420195"/>
          </a:xfrm>
          <a:prstGeom prst="rect">
            <a:avLst/>
          </a:prstGeom>
        </p:spPr>
        <p:txBody>
          <a:bodyPr/>
          <a:lstStyle>
            <a:lvl1pPr marL="241093" indent="-241093">
              <a:spcBef>
                <a:spcPts val="2250"/>
              </a:spcBef>
              <a:defRPr sz="1969"/>
            </a:lvl1pPr>
            <a:lvl2pPr marL="482186" indent="-241093">
              <a:spcBef>
                <a:spcPts val="2250"/>
              </a:spcBef>
              <a:defRPr sz="1969"/>
            </a:lvl2pPr>
            <a:lvl3pPr marL="866149" indent="-241093">
              <a:spcBef>
                <a:spcPts val="2250"/>
              </a:spcBef>
              <a:defRPr sz="1969"/>
            </a:lvl3pPr>
            <a:lvl4pPr marL="1178677" indent="-241093">
              <a:spcBef>
                <a:spcPts val="2250"/>
              </a:spcBef>
              <a:defRPr sz="1969"/>
            </a:lvl4pPr>
            <a:lvl5pPr marL="1491205" indent="-241093">
              <a:spcBef>
                <a:spcPts val="2250"/>
              </a:spcBef>
              <a:defRPr sz="1969"/>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3437719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92969" y="892969"/>
            <a:ext cx="10406063" cy="50720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00440318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21"/>
          </p:nvPr>
        </p:nvSpPr>
        <p:spPr>
          <a:xfrm>
            <a:off x="6024562" y="3491508"/>
            <a:ext cx="5518547" cy="2759273"/>
          </a:xfrm>
          <a:prstGeom prst="rect">
            <a:avLst/>
          </a:prstGeom>
        </p:spPr>
        <p:txBody>
          <a:bodyPr lIns="91439" tIns="45719" rIns="91439" bIns="45719" anchor="t">
            <a:noAutofit/>
          </a:bodyPr>
          <a:lstStyle/>
          <a:p>
            <a:endParaRPr/>
          </a:p>
        </p:txBody>
      </p:sp>
      <p:sp>
        <p:nvSpPr>
          <p:cNvPr id="84" name="Image"/>
          <p:cNvSpPr>
            <a:spLocks noGrp="1"/>
          </p:cNvSpPr>
          <p:nvPr>
            <p:ph type="pic" sz="quarter" idx="22"/>
          </p:nvPr>
        </p:nvSpPr>
        <p:spPr>
          <a:xfrm>
            <a:off x="6316266" y="449461"/>
            <a:ext cx="5512594" cy="2756297"/>
          </a:xfrm>
          <a:prstGeom prst="rect">
            <a:avLst/>
          </a:prstGeom>
        </p:spPr>
        <p:txBody>
          <a:bodyPr lIns="91439" tIns="45719" rIns="91439" bIns="45719" anchor="t">
            <a:noAutofit/>
          </a:bodyPr>
          <a:lstStyle/>
          <a:p>
            <a:endParaRPr/>
          </a:p>
        </p:txBody>
      </p:sp>
      <p:sp>
        <p:nvSpPr>
          <p:cNvPr id="85" name="Image"/>
          <p:cNvSpPr>
            <a:spLocks noGrp="1"/>
          </p:cNvSpPr>
          <p:nvPr>
            <p:ph type="pic" idx="23"/>
          </p:nvPr>
        </p:nvSpPr>
        <p:spPr>
          <a:xfrm>
            <a:off x="-3187898" y="-89297"/>
            <a:ext cx="12680156" cy="6340078"/>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089859498"/>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21"/>
          </p:nvPr>
        </p:nvSpPr>
        <p:spPr>
          <a:xfrm>
            <a:off x="1190625" y="4473774"/>
            <a:ext cx="9810750" cy="362215"/>
          </a:xfrm>
          <a:prstGeom prst="rect">
            <a:avLst/>
          </a:prstGeom>
        </p:spPr>
        <p:txBody>
          <a:bodyPr wrap="square" anchor="t">
            <a:spAutoFit/>
          </a:bodyPr>
          <a:lstStyle>
            <a:lvl1pPr marL="0" indent="0" algn="ctr">
              <a:spcBef>
                <a:spcPts val="0"/>
              </a:spcBef>
              <a:buSzTx/>
              <a:buNone/>
              <a:defRPr sz="1687" i="1"/>
            </a:lvl1pPr>
          </a:lstStyle>
          <a:p>
            <a:r>
              <a:t>–Johnny Appleseed</a:t>
            </a:r>
          </a:p>
        </p:txBody>
      </p:sp>
      <p:sp>
        <p:nvSpPr>
          <p:cNvPr id="94" name="“Type a quote here.”"/>
          <p:cNvSpPr>
            <a:spLocks noGrp="1"/>
          </p:cNvSpPr>
          <p:nvPr>
            <p:ph type="body" sz="quarter" idx="22"/>
          </p:nvPr>
        </p:nvSpPr>
        <p:spPr>
          <a:xfrm>
            <a:off x="1190625" y="2897793"/>
            <a:ext cx="9810750" cy="687368"/>
          </a:xfrm>
          <a:prstGeom prst="rect">
            <a:avLst/>
          </a:prstGeom>
        </p:spPr>
        <p:txBody>
          <a:bodyPr wrap="square">
            <a:spAutoFit/>
          </a:bodyPr>
          <a:lstStyle>
            <a:lvl1pPr marL="0" indent="0" algn="ctr">
              <a:spcBef>
                <a:spcPts val="0"/>
              </a:spcBef>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1475721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21"/>
          </p:nvPr>
        </p:nvSpPr>
        <p:spPr>
          <a:xfrm>
            <a:off x="-874482" y="-8929"/>
            <a:ext cx="15517291" cy="7758645"/>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89853423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7640620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mp; Subtitle">
    <p:bg>
      <p:bgPr>
        <a:solidFill>
          <a:srgbClr val="FFFFFF"/>
        </a:solidFill>
        <a:effectLst/>
      </p:bgPr>
    </p:bg>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1190625" y="1151930"/>
            <a:ext cx="9810750" cy="2321719"/>
          </a:xfrm>
          <a:prstGeom prst="rect">
            <a:avLst/>
          </a:prstGeom>
        </p:spPr>
        <p:txBody>
          <a:bodyPr anchor="b"/>
          <a:lstStyle>
            <a:lvl1pPr>
              <a:defRPr>
                <a:solidFill>
                  <a:srgbClr val="000000"/>
                </a:solidFill>
              </a:defRPr>
            </a:lvl1pPr>
          </a:lstStyle>
          <a:p>
            <a:r>
              <a:t>Title Text</a:t>
            </a:r>
          </a:p>
        </p:txBody>
      </p:sp>
      <p:sp>
        <p:nvSpPr>
          <p:cNvPr id="118" name="Body Level One…"/>
          <p:cNvSpPr txBox="1">
            <a:spLocks noGrp="1"/>
          </p:cNvSpPr>
          <p:nvPr>
            <p:ph type="body" sz="quarter" idx="1"/>
          </p:nvPr>
        </p:nvSpPr>
        <p:spPr>
          <a:xfrm>
            <a:off x="1190625" y="3536156"/>
            <a:ext cx="9810750" cy="794742"/>
          </a:xfrm>
          <a:prstGeom prst="rect">
            <a:avLst/>
          </a:prstGeom>
        </p:spPr>
        <p:txBody>
          <a:bodyPr anchor="t"/>
          <a:lstStyle>
            <a:lvl1pPr marL="0" indent="0" algn="ctr">
              <a:spcBef>
                <a:spcPts val="0"/>
              </a:spcBef>
              <a:buSzTx/>
              <a:buNone/>
              <a:defRPr sz="2250">
                <a:solidFill>
                  <a:srgbClr val="000000"/>
                </a:solidFill>
              </a:defRPr>
            </a:lvl1pPr>
            <a:lvl2pPr marL="0" indent="160729" algn="ctr">
              <a:spcBef>
                <a:spcPts val="0"/>
              </a:spcBef>
              <a:buSzTx/>
              <a:buNone/>
              <a:defRPr sz="2250">
                <a:solidFill>
                  <a:srgbClr val="000000"/>
                </a:solidFill>
              </a:defRPr>
            </a:lvl2pPr>
            <a:lvl3pPr marL="0" indent="321457" algn="ctr">
              <a:spcBef>
                <a:spcPts val="0"/>
              </a:spcBef>
              <a:buSzTx/>
              <a:buNone/>
              <a:defRPr sz="2250">
                <a:solidFill>
                  <a:srgbClr val="000000"/>
                </a:solidFill>
              </a:defRPr>
            </a:lvl3pPr>
            <a:lvl4pPr marL="0" indent="482186" algn="ctr">
              <a:spcBef>
                <a:spcPts val="0"/>
              </a:spcBef>
              <a:buSzTx/>
              <a:buNone/>
              <a:defRPr sz="2250">
                <a:solidFill>
                  <a:srgbClr val="000000"/>
                </a:solidFill>
              </a:defRPr>
            </a:lvl4pPr>
            <a:lvl5pPr marL="0" indent="642915" algn="ctr">
              <a:spcBef>
                <a:spcPts val="0"/>
              </a:spcBef>
              <a:buSzTx/>
              <a:buNone/>
              <a:defRPr sz="225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xfrm>
            <a:off x="5917310" y="6505277"/>
            <a:ext cx="345473" cy="267891"/>
          </a:xfrm>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232748127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solidFill>
        <a:effectLst/>
      </p:bgPr>
    </p:bg>
    <p:spTree>
      <p:nvGrpSpPr>
        <p:cNvPr id="1" name=""/>
        <p:cNvGrpSpPr/>
        <p:nvPr/>
      </p:nvGrpSpPr>
      <p:grpSpPr>
        <a:xfrm>
          <a:off x="0" y="0"/>
          <a:ext cx="0" cy="0"/>
          <a:chOff x="0" y="0"/>
          <a:chExt cx="0" cy="0"/>
        </a:xfrm>
      </p:grpSpPr>
      <p:sp>
        <p:nvSpPr>
          <p:cNvPr id="126" name="Slide Number"/>
          <p:cNvSpPr txBox="1">
            <a:spLocks noGrp="1"/>
          </p:cNvSpPr>
          <p:nvPr>
            <p:ph type="sldNum" sz="quarter" idx="2"/>
          </p:nvPr>
        </p:nvSpPr>
        <p:spPr>
          <a:xfrm>
            <a:off x="5917310" y="6505277"/>
            <a:ext cx="345473" cy="267891"/>
          </a:xfrm>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2309886570"/>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theme" Target="../theme/theme2.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92969" y="178594"/>
            <a:ext cx="10406063" cy="15180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892969" y="1821656"/>
            <a:ext cx="10406063" cy="44201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5917310" y="6509742"/>
            <a:ext cx="345473" cy="297389"/>
          </a:xfrm>
          <a:prstGeom prst="rect">
            <a:avLst/>
          </a:prstGeom>
          <a:ln w="12700">
            <a:miter lim="400000"/>
          </a:ln>
        </p:spPr>
        <p:txBody>
          <a:bodyPr wrap="square" lIns="50800" tIns="50800" rIns="50800" bIns="50800">
            <a:spAutoFit/>
          </a:bodyPr>
          <a:lstStyle>
            <a:lvl1pPr>
              <a:defRPr sz="1266"/>
            </a:lvl1pPr>
          </a:lstStyle>
          <a:p>
            <a:fld id="{86CB4B4D-7CA3-9044-876B-883B54F8677D}" type="slidenum">
              <a:t>‹#›</a:t>
            </a:fld>
            <a:endParaRPr/>
          </a:p>
        </p:txBody>
      </p:sp>
    </p:spTree>
    <p:extLst>
      <p:ext uri="{BB962C8B-B14F-4D97-AF65-F5344CB8AC3E}">
        <p14:creationId xmlns:p14="http://schemas.microsoft.com/office/powerpoint/2010/main" val="2855204597"/>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Helvetica Light"/>
        </a:defRPr>
      </a:lvl9pPr>
    </p:titleStyle>
    <p:bodyStyle>
      <a:lvl1pPr marL="4445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1pPr>
      <a:lvl2pPr marL="8890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2pPr>
      <a:lvl3pPr marL="13335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3pPr>
      <a:lvl4pPr marL="17780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4pPr>
      <a:lvl5pPr marL="22225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5pPr>
      <a:lvl6pPr marL="26670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6pPr>
      <a:lvl7pPr marL="31115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7pPr>
      <a:lvl8pPr marL="35560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8pPr>
      <a:lvl9pPr marL="4000500" marR="0" indent="-444500" algn="l" defTabSz="584200" rtl="0" latinLnBrk="0">
        <a:lnSpc>
          <a:spcPct val="100000"/>
        </a:lnSpc>
        <a:spcBef>
          <a:spcPts val="4200"/>
        </a:spcBef>
        <a:spcAft>
          <a:spcPts val="0"/>
        </a:spcAft>
        <a:buClrTx/>
        <a:buSzPct val="75000"/>
        <a:buFontTx/>
        <a:buChar char="•"/>
        <a:tabLst/>
        <a:defRPr sz="3800" b="0" i="0" u="none" strike="noStrike" cap="none" spc="0" baseline="0">
          <a:solidFill>
            <a:srgbClr val="FFFFFF"/>
          </a:solidFill>
          <a:uFillTx/>
          <a:latin typeface="+mn-lt"/>
          <a:ea typeface="+mn-ea"/>
          <a:cs typeface="+mn-cs"/>
          <a:sym typeface="Helvetica Light"/>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451"/>
        </a:solidFill>
        <a:effectLst/>
      </p:bgPr>
    </p:bg>
    <p:spTree>
      <p:nvGrpSpPr>
        <p:cNvPr id="1" name=""/>
        <p:cNvGrpSpPr/>
        <p:nvPr/>
      </p:nvGrpSpPr>
      <p:grpSpPr>
        <a:xfrm>
          <a:off x="0" y="0"/>
          <a:ext cx="0" cy="0"/>
          <a:chOff x="0" y="0"/>
          <a:chExt cx="0" cy="0"/>
        </a:xfrm>
      </p:grpSpPr>
      <p:sp>
        <p:nvSpPr>
          <p:cNvPr id="2" name="Text 0"/>
          <p:cNvSpPr txBox="1"/>
          <p:nvPr/>
        </p:nvSpPr>
        <p:spPr>
          <a:xfrm>
            <a:off x="822960" y="1874520"/>
            <a:ext cx="10515600" cy="1005840"/>
          </a:xfrm>
          <a:prstGeom prst="rect">
            <a:avLst/>
          </a:prstGeom>
          <a:noFill/>
          <a:ln/>
        </p:spPr>
        <p:txBody>
          <a:bodyPr wrap="square" lIns="0" tIns="0" rIns="0" bIns="0" rtlCol="0" anchor="ctr"/>
          <a:lstStyle/>
          <a:p>
            <a:pPr marL="0" indent="0" algn="l">
              <a:buNone/>
            </a:pPr>
            <a:r>
              <a:rPr lang="en-US" sz="5400" b="1" dirty="0">
                <a:solidFill>
                  <a:srgbClr val="FFFFFF"/>
                </a:solidFill>
                <a:latin typeface="Cambria" pitchFamily="34" charset="0"/>
                <a:ea typeface="Cambria" pitchFamily="34" charset="-122"/>
                <a:cs typeface="Cambria" pitchFamily="34" charset="-120"/>
              </a:rPr>
              <a:t>GroundWalks</a:t>
            </a:r>
            <a:endParaRPr lang="en-US" sz="5400" dirty="0"/>
          </a:p>
        </p:txBody>
      </p:sp>
      <p:sp>
        <p:nvSpPr>
          <p:cNvPr id="3" name="Text 1"/>
          <p:cNvSpPr txBox="1"/>
          <p:nvPr/>
        </p:nvSpPr>
        <p:spPr>
          <a:xfrm>
            <a:off x="841248" y="2926080"/>
            <a:ext cx="9966960" cy="640080"/>
          </a:xfrm>
          <a:prstGeom prst="rect">
            <a:avLst/>
          </a:prstGeom>
          <a:noFill/>
          <a:ln/>
        </p:spPr>
        <p:txBody>
          <a:bodyPr wrap="square" lIns="0" tIns="0" rIns="0" bIns="0" rtlCol="0" anchor="t"/>
          <a:lstStyle/>
          <a:p>
            <a:pPr marL="0" indent="0" algn="l">
              <a:buNone/>
            </a:pPr>
            <a:r>
              <a:rPr lang="en-US" sz="1400" dirty="0">
                <a:solidFill>
                  <a:srgbClr val="CBD6D2"/>
                </a:solidFill>
                <a:latin typeface="Calibri"/>
                <a:ea typeface="Calibri"/>
                <a:cs typeface="Calibri"/>
              </a:rPr>
              <a:t>Understanding the grounds we walk on through next-generation insole pressure sensors</a:t>
            </a:r>
            <a:endParaRPr lang="en-US" sz="1400">
              <a:latin typeface="Calibri"/>
              <a:ea typeface="Calibri"/>
              <a:cs typeface="Calibri"/>
            </a:endParaRPr>
          </a:p>
        </p:txBody>
      </p:sp>
      <p:sp>
        <p:nvSpPr>
          <p:cNvPr id="4" name="Text 2"/>
          <p:cNvSpPr txBox="1"/>
          <p:nvPr/>
        </p:nvSpPr>
        <p:spPr>
          <a:xfrm>
            <a:off x="841248" y="3493008"/>
            <a:ext cx="5486400" cy="320040"/>
          </a:xfrm>
          <a:prstGeom prst="rect">
            <a:avLst/>
          </a:prstGeom>
          <a:noFill/>
          <a:ln/>
        </p:spPr>
        <p:txBody>
          <a:bodyPr wrap="square" lIns="0" tIns="0" rIns="0" bIns="0" rtlCol="0" anchor="ctr"/>
          <a:lstStyle/>
          <a:p>
            <a:pPr marL="0" indent="0" algn="l">
              <a:buNone/>
            </a:pPr>
            <a:r>
              <a:rPr lang="en-US" sz="1250" i="1" dirty="0">
                <a:solidFill>
                  <a:srgbClr val="8A9A95"/>
                </a:solidFill>
                <a:latin typeface="Calibri" pitchFamily="34" charset="0"/>
                <a:ea typeface="Calibri" pitchFamily="34" charset="-122"/>
                <a:cs typeface="Calibri" pitchFamily="34" charset="-120"/>
              </a:rPr>
              <a:t>formerly WalkSensePlace</a:t>
            </a:r>
            <a:endParaRPr lang="en-US" sz="1250" dirty="0"/>
          </a:p>
        </p:txBody>
      </p:sp>
      <p:sp>
        <p:nvSpPr>
          <p:cNvPr id="5" name="Text 3"/>
          <p:cNvSpPr txBox="1"/>
          <p:nvPr/>
        </p:nvSpPr>
        <p:spPr>
          <a:xfrm>
            <a:off x="841248" y="4114800"/>
            <a:ext cx="10607040" cy="1828800"/>
          </a:xfrm>
          <a:prstGeom prst="rect">
            <a:avLst/>
          </a:prstGeom>
          <a:noFill/>
          <a:ln/>
        </p:spPr>
        <p:txBody>
          <a:bodyPr wrap="square" lIns="0" tIns="0" rIns="0" bIns="0" rtlCol="0" anchor="t"/>
          <a:lstStyle/>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Kristian </a:t>
            </a:r>
            <a:r>
              <a:rPr lang="en-US" sz="1250" b="1" dirty="0">
                <a:solidFill>
                  <a:srgbClr val="CBD6D2"/>
                </a:solidFill>
                <a:latin typeface="Calibri" pitchFamily="34" charset="0"/>
                <a:ea typeface="Calibri" pitchFamily="34" charset="-122"/>
                <a:cs typeface="Calibri" pitchFamily="34" charset="-120"/>
              </a:rPr>
              <a:t>Kloeckl</a:t>
            </a:r>
            <a:r>
              <a:rPr lang="en-US" sz="1250" dirty="0">
                <a:solidFill>
                  <a:srgbClr val="9FB0AB"/>
                </a:solidFill>
                <a:latin typeface="Calibri" pitchFamily="34" charset="0"/>
                <a:ea typeface="Calibri" pitchFamily="34" charset="-122"/>
                <a:cs typeface="Calibri" pitchFamily="34" charset="-120"/>
              </a:rPr>
              <a:t> (CAMD, urban interaction design)</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Eric </a:t>
            </a:r>
            <a:r>
              <a:rPr lang="en-US" sz="1250" b="1" dirty="0">
                <a:solidFill>
                  <a:srgbClr val="CBD6D2"/>
                </a:solidFill>
                <a:latin typeface="Calibri" pitchFamily="34" charset="0"/>
                <a:ea typeface="Calibri" pitchFamily="34" charset="-122"/>
                <a:cs typeface="Calibri" pitchFamily="34" charset="-120"/>
              </a:rPr>
              <a:t>Folmar</a:t>
            </a:r>
            <a:r>
              <a:rPr lang="en-US" sz="1250" dirty="0">
                <a:solidFill>
                  <a:srgbClr val="9FB0AB"/>
                </a:solidFill>
                <a:latin typeface="Calibri" pitchFamily="34" charset="0"/>
                <a:ea typeface="Calibri" pitchFamily="34" charset="-122"/>
                <a:cs typeface="Calibri" pitchFamily="34" charset="-120"/>
              </a:rPr>
              <a:t> (Bouvé, physiotherapy and biomechanics)</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Amy </a:t>
            </a:r>
            <a:r>
              <a:rPr lang="en-US" sz="1250" b="1" dirty="0">
                <a:solidFill>
                  <a:srgbClr val="CBD6D2"/>
                </a:solidFill>
                <a:latin typeface="Calibri" pitchFamily="34" charset="0"/>
                <a:ea typeface="Calibri" pitchFamily="34" charset="-122"/>
                <a:cs typeface="Calibri" pitchFamily="34" charset="-120"/>
              </a:rPr>
              <a:t>Lu</a:t>
            </a:r>
            <a:r>
              <a:rPr lang="en-US" sz="1250" dirty="0">
                <a:solidFill>
                  <a:srgbClr val="9FB0AB"/>
                </a:solidFill>
                <a:latin typeface="Calibri" pitchFamily="34" charset="0"/>
                <a:ea typeface="Calibri" pitchFamily="34" charset="-122"/>
                <a:cs typeface="Calibri" pitchFamily="34" charset="-120"/>
              </a:rPr>
              <a:t> (CAMD/Bouvé, health tech and communication)</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RAs Samuel </a:t>
            </a:r>
            <a:r>
              <a:rPr lang="en-US" sz="1250" b="1" dirty="0">
                <a:solidFill>
                  <a:srgbClr val="CBD6D2"/>
                </a:solidFill>
                <a:latin typeface="Calibri" pitchFamily="34" charset="0"/>
                <a:ea typeface="Calibri" pitchFamily="34" charset="-122"/>
                <a:cs typeface="Calibri" pitchFamily="34" charset="-120"/>
              </a:rPr>
              <a:t>Greeman</a:t>
            </a:r>
            <a:r>
              <a:rPr lang="en-US" sz="1250" dirty="0">
                <a:solidFill>
                  <a:srgbClr val="9FB0AB"/>
                </a:solidFill>
                <a:latin typeface="Calibri" pitchFamily="34" charset="0"/>
                <a:ea typeface="Calibri" pitchFamily="34" charset="-122"/>
                <a:cs typeface="Calibri" pitchFamily="34" charset="-120"/>
              </a:rPr>
              <a:t>, Samantha </a:t>
            </a:r>
            <a:r>
              <a:rPr lang="en-US" sz="1250" b="1" dirty="0">
                <a:solidFill>
                  <a:srgbClr val="CBD6D2"/>
                </a:solidFill>
                <a:latin typeface="Calibri" pitchFamily="34" charset="0"/>
                <a:ea typeface="Calibri" pitchFamily="34" charset="-122"/>
                <a:cs typeface="Calibri" pitchFamily="34" charset="-120"/>
              </a:rPr>
              <a:t>Tracey</a:t>
            </a:r>
            <a:r>
              <a:rPr lang="en-US" sz="1250" dirty="0">
                <a:solidFill>
                  <a:srgbClr val="9FB0AB"/>
                </a:solidFill>
                <a:latin typeface="Calibri" pitchFamily="34" charset="0"/>
                <a:ea typeface="Calibri" pitchFamily="34" charset="-122"/>
                <a:cs typeface="Calibri" pitchFamily="34" charset="-120"/>
              </a:rPr>
              <a:t>, Catherine </a:t>
            </a:r>
            <a:r>
              <a:rPr lang="en-US" sz="1250" b="1" dirty="0">
                <a:solidFill>
                  <a:srgbClr val="CBD6D2"/>
                </a:solidFill>
                <a:latin typeface="Calibri" pitchFamily="34" charset="0"/>
                <a:ea typeface="Calibri" pitchFamily="34" charset="-122"/>
                <a:cs typeface="Calibri" pitchFamily="34" charset="-120"/>
              </a:rPr>
              <a:t>Zhou</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Stappone (technology partner)</a:t>
            </a:r>
          </a:p>
        </p:txBody>
      </p:sp>
      <p:pic>
        <p:nvPicPr>
          <p:cNvPr id="6" name="Picture 5" descr="steps on gravel.jpg">
            <a:extLst>
              <a:ext uri="{FF2B5EF4-FFF2-40B4-BE49-F238E27FC236}">
                <a16:creationId xmlns:a16="http://schemas.microsoft.com/office/drawing/2014/main" id="{2BEDBEDF-DF12-4D07-7C6D-2AC347AD3A65}"/>
              </a:ext>
            </a:extLst>
          </p:cNvPr>
          <p:cNvPicPr>
            <a:picLocks noChangeAspect="1"/>
          </p:cNvPicPr>
          <p:nvPr/>
        </p:nvPicPr>
        <p:blipFill>
          <a:blip r:embed="rId3"/>
          <a:stretch>
            <a:fillRect/>
          </a:stretch>
        </p:blipFill>
        <p:spPr>
          <a:xfrm>
            <a:off x="7156039" y="1283"/>
            <a:ext cx="5357855" cy="68651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Motivation - walking">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Walking…</a:t>
            </a:r>
          </a:p>
        </p:txBody>
      </p:sp>
      <p:sp>
        <p:nvSpPr>
          <p:cNvPr id="10" name="Text 11"/>
          <p:cNvSpPr txBox="1"/>
          <p:nvPr/>
        </p:nvSpPr>
        <p:spPr>
          <a:xfrm>
            <a:off x="640080" y="1783080"/>
            <a:ext cx="10058400" cy="1188720"/>
          </a:xfrm>
          <a:prstGeom prst="rect">
            <a:avLst/>
          </a:prstGeom>
          <a:noFill/>
          <a:ln/>
        </p:spPr>
        <p:txBody>
          <a:bodyPr wrap="square" lIns="0" tIns="0" rIns="0" bIns="0" rtlCol="0" anchor="t"/>
          <a:lstStyle/>
          <a:p>
            <a:pPr marL="0" indent="0" algn="l">
              <a:lnSpc>
                <a:spcPct val="125000"/>
              </a:lnSpc>
              <a:buNone/>
            </a:pPr>
            <a:r>
              <a:rPr lang="en-US" sz="2000" dirty="0">
                <a:solidFill>
                  <a:srgbClr val="FFFFFF"/>
                </a:solidFill>
                <a:latin typeface="Cambria" pitchFamily="34" charset="0"/>
                <a:ea typeface="Cambria" pitchFamily="34" charset="-122"/>
                <a:cs typeface="Cambria" pitchFamily="34" charset="-120"/>
              </a:rPr>
              <a:t>One of the most accessible and sustainable forms of physical activity. No specialized equipment and minimal training required.</a:t>
            </a:r>
          </a:p>
        </p:txBody>
      </p:sp>
      <p:sp>
        <p:nvSpPr>
          <p:cNvPr id="12" name="Shape 13"/>
          <p:cNvSpPr/>
          <p:nvPr/>
        </p:nvSpPr>
        <p:spPr>
          <a:xfrm>
            <a:off x="640080" y="3474720"/>
            <a:ext cx="10881360" cy="201168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4" name="Text 15"/>
          <p:cNvSpPr txBox="1"/>
          <p:nvPr/>
        </p:nvSpPr>
        <p:spPr>
          <a:xfrm>
            <a:off x="1097280" y="3749040"/>
            <a:ext cx="9966960" cy="1463040"/>
          </a:xfrm>
          <a:prstGeom prst="rect">
            <a:avLst/>
          </a:prstGeom>
          <a:noFill/>
          <a:ln/>
        </p:spPr>
        <p:txBody>
          <a:bodyPr wrap="square" lIns="0" tIns="0" rIns="0" bIns="0" rtlCol="0" anchor="ctr"/>
          <a:lstStyle/>
          <a:p>
            <a:pPr marL="0" indent="0" algn="l">
              <a:lnSpc>
                <a:spcPct val="145000"/>
              </a:lnSpc>
              <a:buNone/>
            </a:pPr>
            <a:r>
              <a:rPr lang="en-US" sz="1700" dirty="0">
                <a:solidFill>
                  <a:srgbClr val="6B7772"/>
                </a:solidFill>
                <a:latin typeface="Calibri" pitchFamily="34" charset="0"/>
                <a:ea typeface="Calibri" pitchFamily="34" charset="-122"/>
                <a:cs typeface="Calibri" pitchFamily="34" charset="-120"/>
              </a:rPr>
              <a:t>Regular walking improves cardiovascular health, boosts mood and cognitive function, aids weight management and metabolism, enhances joint mobility and strength, and lowers blood sugar and diabetes risk.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Motivation - walkable cities">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Walkable Cities Movement &amp; Public Health</a:t>
            </a:r>
          </a:p>
        </p:txBody>
      </p:sp>
      <p:sp>
        <p:nvSpPr>
          <p:cNvPr id="10" name="Text 11"/>
          <p:cNvSpPr txBox="1"/>
          <p:nvPr/>
        </p:nvSpPr>
        <p:spPr>
          <a:xfrm>
            <a:off x="640080" y="1691640"/>
            <a:ext cx="10881360" cy="54864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Walking can be integrated into daily routines. Even moderate increases in walking can yield significant health gains at the population level.</a:t>
            </a:r>
          </a:p>
        </p:txBody>
      </p:sp>
      <p:sp>
        <p:nvSpPr>
          <p:cNvPr id="12" name="Shape 13"/>
          <p:cNvSpPr/>
          <p:nvPr/>
        </p:nvSpPr>
        <p:spPr>
          <a:xfrm>
            <a:off x="640079" y="2094653"/>
            <a:ext cx="6916140" cy="172833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4" name="Text 15"/>
          <p:cNvSpPr txBox="1"/>
          <p:nvPr/>
        </p:nvSpPr>
        <p:spPr>
          <a:xfrm>
            <a:off x="758895" y="2241973"/>
            <a:ext cx="6798450" cy="876301"/>
          </a:xfrm>
          <a:prstGeom prst="rect">
            <a:avLst/>
          </a:prstGeom>
          <a:noFill/>
          <a:ln/>
        </p:spPr>
        <p:txBody>
          <a:bodyPr wrap="square" lIns="0" tIns="0" rIns="0" bIns="0" rtlCol="0" anchor="t"/>
          <a:lstStyle/>
          <a:p>
            <a:pPr marL="0" indent="0" algn="l">
              <a:lnSpc>
                <a:spcPct val="150000"/>
              </a:lnSpc>
              <a:buNone/>
            </a:pPr>
            <a:r>
              <a:rPr lang="en-US" sz="1100" b="1" dirty="0">
                <a:solidFill>
                  <a:srgbClr val="1B2A30"/>
                </a:solidFill>
                <a:latin typeface="Calibri"/>
                <a:ea typeface="Calibri"/>
                <a:cs typeface="Calibri"/>
              </a:rPr>
              <a:t>Walk Score</a:t>
            </a:r>
            <a:r>
              <a:rPr lang="en-US" sz="1100" dirty="0">
                <a:solidFill>
                  <a:srgbClr val="6B7772"/>
                </a:solidFill>
                <a:latin typeface="Calibri"/>
                <a:ea typeface="Calibri"/>
                <a:cs typeface="Calibri"/>
              </a:rPr>
              <a:t>, </a:t>
            </a:r>
            <a:r>
              <a:rPr lang="en-US" sz="1100" b="1" dirty="0">
                <a:solidFill>
                  <a:srgbClr val="1B2A30"/>
                </a:solidFill>
                <a:latin typeface="Calibri"/>
                <a:ea typeface="Calibri"/>
                <a:cs typeface="Calibri"/>
              </a:rPr>
              <a:t>Walk Friendly Communities</a:t>
            </a:r>
            <a:r>
              <a:rPr lang="en-US" sz="1100" dirty="0">
                <a:solidFill>
                  <a:srgbClr val="6B7772"/>
                </a:solidFill>
                <a:latin typeface="Calibri"/>
                <a:ea typeface="Calibri"/>
                <a:cs typeface="Calibri"/>
              </a:rPr>
              <a:t>, </a:t>
            </a:r>
            <a:r>
              <a:rPr lang="en-US" sz="1100" b="1" dirty="0">
                <a:solidFill>
                  <a:srgbClr val="1B2A30"/>
                </a:solidFill>
                <a:latin typeface="Calibri"/>
                <a:ea typeface="Calibri"/>
                <a:cs typeface="Calibri"/>
              </a:rPr>
              <a:t>Walkable Winston-Salem</a:t>
            </a:r>
            <a:r>
              <a:rPr lang="en-US" sz="1100" dirty="0">
                <a:solidFill>
                  <a:srgbClr val="6B7772"/>
                </a:solidFill>
                <a:latin typeface="Calibri"/>
                <a:ea typeface="Calibri"/>
                <a:cs typeface="Calibri"/>
              </a:rPr>
              <a:t>, </a:t>
            </a:r>
            <a:r>
              <a:rPr lang="en-US" sz="1100" b="1" dirty="0">
                <a:solidFill>
                  <a:srgbClr val="1B2A30"/>
                </a:solidFill>
                <a:latin typeface="Calibri"/>
                <a:ea typeface="Calibri"/>
                <a:cs typeface="Calibri"/>
              </a:rPr>
              <a:t>Natural Walking Cities</a:t>
            </a:r>
            <a:r>
              <a:rPr lang="en-US" sz="1100" dirty="0">
                <a:solidFill>
                  <a:srgbClr val="6B7772"/>
                </a:solidFill>
                <a:latin typeface="Calibri"/>
                <a:ea typeface="Calibri"/>
                <a:cs typeface="Calibri"/>
              </a:rPr>
              <a:t> and </a:t>
            </a:r>
            <a:r>
              <a:rPr lang="en-US" sz="1100" b="1" dirty="0">
                <a:solidFill>
                  <a:srgbClr val="1B2A30"/>
                </a:solidFill>
                <a:latin typeface="Calibri"/>
                <a:ea typeface="Calibri"/>
                <a:cs typeface="Calibri"/>
              </a:rPr>
              <a:t>Boston Walking City Trails</a:t>
            </a:r>
            <a:r>
              <a:rPr lang="en-US" sz="1100" dirty="0">
                <a:solidFill>
                  <a:srgbClr val="6B7772"/>
                </a:solidFill>
                <a:latin typeface="Calibri"/>
                <a:ea typeface="Calibri"/>
                <a:cs typeface="Calibri"/>
              </a:rPr>
              <a:t> all rate places by how well they support walking.</a:t>
            </a:r>
          </a:p>
          <a:p>
            <a:pPr>
              <a:lnSpc>
                <a:spcPct val="150000"/>
              </a:lnSpc>
              <a:spcBef>
                <a:spcPts val="1200"/>
              </a:spcBef>
            </a:pPr>
            <a:r>
              <a:rPr lang="en-US" sz="1100" b="1" dirty="0">
                <a:solidFill>
                  <a:srgbClr val="1B2A30"/>
                </a:solidFill>
                <a:latin typeface="Calibri"/>
                <a:ea typeface="Calibri"/>
                <a:cs typeface="Calibri"/>
              </a:rPr>
              <a:t>Pedestrians First</a:t>
            </a:r>
            <a:r>
              <a:rPr lang="en-US" sz="1100" dirty="0">
                <a:solidFill>
                  <a:srgbClr val="6B7772"/>
                </a:solidFill>
                <a:latin typeface="Calibri"/>
                <a:ea typeface="Calibri"/>
                <a:cs typeface="Calibri"/>
              </a:rPr>
              <a:t> frames it as a mix of infrastructure, activity, and priority: ensure a physical space and design that</a:t>
            </a:r>
            <a:br>
              <a:rPr lang="en-US" dirty="0"/>
            </a:br>
            <a:r>
              <a:rPr lang="en-US" sz="1100" dirty="0">
                <a:solidFill>
                  <a:srgbClr val="6B7772"/>
                </a:solidFill>
                <a:latin typeface="Calibri"/>
                <a:ea typeface="Calibri"/>
                <a:cs typeface="Calibri"/>
              </a:rPr>
              <a:t>promotes walking; bring people and activities close enough to walk in safe and lively environments; and give preference to walking, cycling, and transit over private cars.</a:t>
            </a:r>
          </a:p>
        </p:txBody>
      </p:sp>
      <p:pic>
        <p:nvPicPr>
          <p:cNvPr id="3" name="Picture 2" descr="2224ee24-0a09-4745-8bdd-55ccc316f7b9_625x625.png">
            <a:extLst>
              <a:ext uri="{FF2B5EF4-FFF2-40B4-BE49-F238E27FC236}">
                <a16:creationId xmlns:a16="http://schemas.microsoft.com/office/drawing/2014/main" id="{258484EA-6A2F-89E2-1933-A59A19D3FFF3}"/>
              </a:ext>
            </a:extLst>
          </p:cNvPr>
          <p:cNvPicPr>
            <a:picLocks noChangeAspect="1"/>
          </p:cNvPicPr>
          <p:nvPr/>
        </p:nvPicPr>
        <p:blipFill>
          <a:blip r:embed="rId3"/>
          <a:srcRect r="781" b="-787"/>
          <a:stretch>
            <a:fillRect/>
          </a:stretch>
        </p:blipFill>
        <p:spPr>
          <a:xfrm>
            <a:off x="644702" y="4515908"/>
            <a:ext cx="1913420" cy="1947067"/>
          </a:xfrm>
          <a:prstGeom prst="rect">
            <a:avLst/>
          </a:prstGeom>
        </p:spPr>
      </p:pic>
      <p:pic>
        <p:nvPicPr>
          <p:cNvPr id="5" name="Picture 4" descr="walk-score-logo-large.png">
            <a:extLst>
              <a:ext uri="{FF2B5EF4-FFF2-40B4-BE49-F238E27FC236}">
                <a16:creationId xmlns:a16="http://schemas.microsoft.com/office/drawing/2014/main" id="{080AD572-A106-289F-6D72-469654275D94}"/>
              </a:ext>
            </a:extLst>
          </p:cNvPr>
          <p:cNvPicPr>
            <a:picLocks noChangeAspect="1"/>
          </p:cNvPicPr>
          <p:nvPr/>
        </p:nvPicPr>
        <p:blipFill>
          <a:blip r:embed="rId4"/>
          <a:srcRect l="-86" t="1343" r="124" b="646"/>
          <a:stretch>
            <a:fillRect/>
          </a:stretch>
        </p:blipFill>
        <p:spPr>
          <a:xfrm>
            <a:off x="643407" y="3971355"/>
            <a:ext cx="2139698" cy="403838"/>
          </a:xfrm>
          <a:prstGeom prst="rect">
            <a:avLst/>
          </a:prstGeom>
        </p:spPr>
      </p:pic>
      <p:pic>
        <p:nvPicPr>
          <p:cNvPr id="7" name="Picture 6" descr="wfcheaderlogo.png">
            <a:extLst>
              <a:ext uri="{FF2B5EF4-FFF2-40B4-BE49-F238E27FC236}">
                <a16:creationId xmlns:a16="http://schemas.microsoft.com/office/drawing/2014/main" id="{0B8D7421-1FA0-98E2-188C-3EA272C817BD}"/>
              </a:ext>
            </a:extLst>
          </p:cNvPr>
          <p:cNvPicPr>
            <a:picLocks noChangeAspect="1"/>
          </p:cNvPicPr>
          <p:nvPr/>
        </p:nvPicPr>
        <p:blipFill>
          <a:blip r:embed="rId5"/>
          <a:srcRect b="781"/>
          <a:stretch>
            <a:fillRect/>
          </a:stretch>
        </p:blipFill>
        <p:spPr>
          <a:xfrm>
            <a:off x="2777948" y="4370035"/>
            <a:ext cx="1033993" cy="1087921"/>
          </a:xfrm>
          <a:prstGeom prst="rect">
            <a:avLst/>
          </a:prstGeom>
        </p:spPr>
      </p:pic>
      <p:pic>
        <p:nvPicPr>
          <p:cNvPr id="9" name="Picture 8" descr="Document.jpeg">
            <a:extLst>
              <a:ext uri="{FF2B5EF4-FFF2-40B4-BE49-F238E27FC236}">
                <a16:creationId xmlns:a16="http://schemas.microsoft.com/office/drawing/2014/main" id="{AB1CE0DA-6152-7682-8626-F2D83FBE5309}"/>
              </a:ext>
            </a:extLst>
          </p:cNvPr>
          <p:cNvPicPr>
            <a:picLocks noChangeAspect="1"/>
          </p:cNvPicPr>
          <p:nvPr/>
        </p:nvPicPr>
        <p:blipFill>
          <a:blip r:embed="rId6"/>
          <a:stretch>
            <a:fillRect/>
          </a:stretch>
        </p:blipFill>
        <p:spPr>
          <a:xfrm>
            <a:off x="4099807" y="4849812"/>
            <a:ext cx="1501776" cy="1278820"/>
          </a:xfrm>
          <a:prstGeom prst="rect">
            <a:avLst/>
          </a:prstGeom>
        </p:spPr>
      </p:pic>
      <p:grpSp>
        <p:nvGrpSpPr>
          <p:cNvPr id="11" name="Group">
            <a:extLst>
              <a:ext uri="{FF2B5EF4-FFF2-40B4-BE49-F238E27FC236}">
                <a16:creationId xmlns:a16="http://schemas.microsoft.com/office/drawing/2014/main" id="{27A06D65-A2B2-F8B9-F9AB-6C7D83C47154}"/>
              </a:ext>
            </a:extLst>
          </p:cNvPr>
          <p:cNvGrpSpPr/>
          <p:nvPr/>
        </p:nvGrpSpPr>
        <p:grpSpPr>
          <a:xfrm>
            <a:off x="5854821" y="4716563"/>
            <a:ext cx="2183213" cy="1105555"/>
            <a:chOff x="8620599" y="7708120"/>
            <a:chExt cx="2634767" cy="1331330"/>
          </a:xfrm>
        </p:grpSpPr>
        <p:sp>
          <p:nvSpPr>
            <p:cNvPr id="13" name="Rectangle">
              <a:extLst>
                <a:ext uri="{FF2B5EF4-FFF2-40B4-BE49-F238E27FC236}">
                  <a16:creationId xmlns:a16="http://schemas.microsoft.com/office/drawing/2014/main" id="{FC6E1D82-DE21-2FFB-BAC3-3267D6DFFB07}"/>
                </a:ext>
              </a:extLst>
            </p:cNvPr>
            <p:cNvSpPr/>
            <p:nvPr/>
          </p:nvSpPr>
          <p:spPr>
            <a:xfrm>
              <a:off x="8620599" y="7708120"/>
              <a:ext cx="2634767" cy="1331330"/>
            </a:xfrm>
            <a:prstGeom prst="rect">
              <a:avLst/>
            </a:prstGeom>
            <a:solidFill>
              <a:srgbClr val="FFFFFF"/>
            </a:solidFill>
            <a:ln w="12700" cap="flat">
              <a:noFill/>
              <a:miter lim="400000"/>
            </a:ln>
            <a:effectLst/>
          </p:spPr>
          <p:txBody>
            <a:bodyPr wrap="square" lIns="50800" tIns="50800" rIns="50800" bIns="50800" numCol="1"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pPr>
                <a:defRPr sz="2600"/>
              </a:pPr>
              <a:endParaRPr/>
            </a:p>
          </p:txBody>
        </p:sp>
        <p:pic>
          <p:nvPicPr>
            <p:cNvPr id="15" name="cropped-NaturalWalkingCitiesLOGO-RECTANGLE-LOGO-TITLE-BELOW-PNG-ALT-FONT-3.png">
              <a:extLst>
                <a:ext uri="{FF2B5EF4-FFF2-40B4-BE49-F238E27FC236}">
                  <a16:creationId xmlns:a16="http://schemas.microsoft.com/office/drawing/2014/main" id="{32783B86-E16D-92CE-3CCB-2268D3DF6BFD}"/>
                </a:ext>
              </a:extLst>
            </p:cNvPr>
            <p:cNvPicPr>
              <a:picLocks noChangeAspect="1"/>
            </p:cNvPicPr>
            <p:nvPr/>
          </p:nvPicPr>
          <p:blipFill>
            <a:blip r:embed="rId7"/>
            <a:stretch>
              <a:fillRect/>
            </a:stretch>
          </p:blipFill>
          <p:spPr>
            <a:xfrm>
              <a:off x="8770409" y="7708120"/>
              <a:ext cx="2335145" cy="1331330"/>
            </a:xfrm>
            <a:prstGeom prst="rect">
              <a:avLst/>
            </a:prstGeom>
            <a:ln w="12700" cap="flat">
              <a:noFill/>
              <a:miter lim="400000"/>
            </a:ln>
            <a:effectLst/>
          </p:spPr>
        </p:pic>
      </p:grpSp>
      <p:pic>
        <p:nvPicPr>
          <p:cNvPr id="16" name="Picture 15" descr="servlet.ImageServer.png">
            <a:extLst>
              <a:ext uri="{FF2B5EF4-FFF2-40B4-BE49-F238E27FC236}">
                <a16:creationId xmlns:a16="http://schemas.microsoft.com/office/drawing/2014/main" id="{6149D2E3-4FB0-82B8-AA79-39A63B1769E5}"/>
              </a:ext>
            </a:extLst>
          </p:cNvPr>
          <p:cNvPicPr>
            <a:picLocks noChangeAspect="1"/>
          </p:cNvPicPr>
          <p:nvPr/>
        </p:nvPicPr>
        <p:blipFill>
          <a:blip r:embed="rId8">
            <a:alphaModFix amt="74000"/>
          </a:blip>
          <a:srcRect b="-182"/>
          <a:stretch>
            <a:fillRect/>
          </a:stretch>
        </p:blipFill>
        <p:spPr>
          <a:xfrm>
            <a:off x="8178056" y="1968499"/>
            <a:ext cx="3568776" cy="45562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Motivation - feet as interface">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Feet as dynamic interface</a:t>
            </a:r>
          </a:p>
        </p:txBody>
      </p:sp>
      <p:sp>
        <p:nvSpPr>
          <p:cNvPr id="10" name="Text 11"/>
          <p:cNvSpPr txBox="1"/>
          <p:nvPr/>
        </p:nvSpPr>
        <p:spPr>
          <a:xfrm>
            <a:off x="640080" y="1645920"/>
            <a:ext cx="10881360" cy="41148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between the human body and urban ground</a:t>
            </a:r>
          </a:p>
        </p:txBody>
      </p:sp>
      <p:sp>
        <p:nvSpPr>
          <p:cNvPr id="12" name="Text 13"/>
          <p:cNvSpPr txBox="1"/>
          <p:nvPr/>
        </p:nvSpPr>
        <p:spPr>
          <a:xfrm>
            <a:off x="640080" y="2377440"/>
            <a:ext cx="5943600" cy="365760"/>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What if just by walking we could better understand</a:t>
            </a:r>
          </a:p>
        </p:txBody>
      </p:sp>
      <p:sp>
        <p:nvSpPr>
          <p:cNvPr id="14" name="Shape 15"/>
          <p:cNvSpPr/>
          <p:nvPr/>
        </p:nvSpPr>
        <p:spPr>
          <a:xfrm>
            <a:off x="640080" y="2926080"/>
            <a:ext cx="457200" cy="457200"/>
          </a:xfrm>
          <a:prstGeom prst="roundRect">
            <a:avLst>
              <a:gd name="adj" fmla="val 14000"/>
            </a:avLst>
          </a:prstGeom>
          <a:solidFill>
            <a:srgbClr val="4CAF50"/>
          </a:solidFill>
          <a:ln/>
        </p:spPr>
      </p:sp>
      <p:sp>
        <p:nvSpPr>
          <p:cNvPr id="16" name="Text 17"/>
          <p:cNvSpPr txBox="1"/>
          <p:nvPr/>
        </p:nvSpPr>
        <p:spPr>
          <a:xfrm>
            <a:off x="640080" y="2926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p>
        </p:txBody>
      </p:sp>
      <p:sp>
        <p:nvSpPr>
          <p:cNvPr id="18" name="Text 19"/>
          <p:cNvSpPr txBox="1"/>
          <p:nvPr/>
        </p:nvSpPr>
        <p:spPr>
          <a:xfrm>
            <a:off x="1325880" y="2926080"/>
            <a:ext cx="5029200" cy="457200"/>
          </a:xfrm>
          <a:prstGeom prst="rect">
            <a:avLst/>
          </a:prstGeom>
          <a:noFill/>
          <a:ln/>
        </p:spPr>
        <p:txBody>
          <a:bodyPr wrap="square" lIns="0" tIns="0" rIns="0" bIns="0" rtlCol="0" anchor="ctr"/>
          <a:lstStyle/>
          <a:p>
            <a:pPr marL="0" indent="0" algn="l">
              <a:lnSpc>
                <a:spcPct val="110000"/>
              </a:lnSpc>
              <a:buNone/>
            </a:pPr>
            <a:r>
              <a:rPr lang="en-US" sz="1400" dirty="0">
                <a:solidFill>
                  <a:srgbClr val="FFFFFF"/>
                </a:solidFill>
                <a:latin typeface="Calibri" pitchFamily="34" charset="0"/>
                <a:ea typeface="Calibri" pitchFamily="34" charset="-122"/>
                <a:cs typeface="Calibri" pitchFamily="34" charset="-120"/>
              </a:rPr>
              <a:t>how ground conditions change for urban walkers</a:t>
            </a:r>
          </a:p>
        </p:txBody>
      </p:sp>
      <p:sp>
        <p:nvSpPr>
          <p:cNvPr id="20" name="Shape 21"/>
          <p:cNvSpPr/>
          <p:nvPr/>
        </p:nvSpPr>
        <p:spPr>
          <a:xfrm>
            <a:off x="640080" y="3749040"/>
            <a:ext cx="457200" cy="457200"/>
          </a:xfrm>
          <a:prstGeom prst="roundRect">
            <a:avLst>
              <a:gd name="adj" fmla="val 14000"/>
            </a:avLst>
          </a:prstGeom>
          <a:solidFill>
            <a:srgbClr val="4CAF50"/>
          </a:solidFill>
          <a:ln/>
        </p:spPr>
      </p:sp>
      <p:sp>
        <p:nvSpPr>
          <p:cNvPr id="22" name="Text 23"/>
          <p:cNvSpPr txBox="1"/>
          <p:nvPr/>
        </p:nvSpPr>
        <p:spPr>
          <a:xfrm>
            <a:off x="640080" y="3749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p>
        </p:txBody>
      </p:sp>
      <p:sp>
        <p:nvSpPr>
          <p:cNvPr id="24" name="Text 25"/>
          <p:cNvSpPr txBox="1"/>
          <p:nvPr/>
        </p:nvSpPr>
        <p:spPr>
          <a:xfrm>
            <a:off x="1325880" y="3749040"/>
            <a:ext cx="5029200" cy="457200"/>
          </a:xfrm>
          <a:prstGeom prst="rect">
            <a:avLst/>
          </a:prstGeom>
          <a:noFill/>
          <a:ln/>
        </p:spPr>
        <p:txBody>
          <a:bodyPr wrap="square" lIns="0" tIns="0" rIns="0" bIns="0" rtlCol="0" anchor="ctr"/>
          <a:lstStyle/>
          <a:p>
            <a:pPr marL="0" indent="0" algn="l">
              <a:lnSpc>
                <a:spcPct val="110000"/>
              </a:lnSpc>
              <a:buNone/>
            </a:pPr>
            <a:r>
              <a:rPr lang="en-US" sz="1400" dirty="0">
                <a:solidFill>
                  <a:srgbClr val="FFFFFF"/>
                </a:solidFill>
                <a:latin typeface="Calibri" pitchFamily="34" charset="0"/>
                <a:ea typeface="Calibri" pitchFamily="34" charset="-122"/>
                <a:cs typeface="Calibri" pitchFamily="34" charset="-120"/>
              </a:rPr>
              <a:t>how they impact human health and experience</a:t>
            </a:r>
          </a:p>
        </p:txBody>
      </p:sp>
      <p:sp>
        <p:nvSpPr>
          <p:cNvPr id="26" name="Shape 27"/>
          <p:cNvSpPr/>
          <p:nvPr/>
        </p:nvSpPr>
        <p:spPr>
          <a:xfrm>
            <a:off x="640080" y="4572000"/>
            <a:ext cx="457200" cy="457200"/>
          </a:xfrm>
          <a:prstGeom prst="roundRect">
            <a:avLst>
              <a:gd name="adj" fmla="val 14000"/>
            </a:avLst>
          </a:prstGeom>
          <a:solidFill>
            <a:srgbClr val="4CAF50"/>
          </a:solidFill>
          <a:ln/>
        </p:spPr>
      </p:sp>
      <p:sp>
        <p:nvSpPr>
          <p:cNvPr id="28" name="Text 29"/>
          <p:cNvSpPr txBox="1"/>
          <p:nvPr/>
        </p:nvSpPr>
        <p:spPr>
          <a:xfrm>
            <a:off x="640080" y="45720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p>
        </p:txBody>
      </p:sp>
      <p:sp>
        <p:nvSpPr>
          <p:cNvPr id="30" name="Text 31"/>
          <p:cNvSpPr txBox="1"/>
          <p:nvPr/>
        </p:nvSpPr>
        <p:spPr>
          <a:xfrm>
            <a:off x="1325880" y="4572000"/>
            <a:ext cx="5029200" cy="457200"/>
          </a:xfrm>
          <a:prstGeom prst="rect">
            <a:avLst/>
          </a:prstGeom>
          <a:noFill/>
          <a:ln/>
        </p:spPr>
        <p:txBody>
          <a:bodyPr wrap="square" lIns="0" tIns="0" rIns="0" bIns="0" rtlCol="0" anchor="ctr"/>
          <a:lstStyle/>
          <a:p>
            <a:pPr marL="0" indent="0" algn="l">
              <a:lnSpc>
                <a:spcPct val="110000"/>
              </a:lnSpc>
              <a:buNone/>
            </a:pPr>
            <a:r>
              <a:rPr lang="en-US" sz="1400" dirty="0">
                <a:solidFill>
                  <a:srgbClr val="FFFFFF"/>
                </a:solidFill>
                <a:latin typeface="Calibri" pitchFamily="34" charset="0"/>
                <a:ea typeface="Calibri" pitchFamily="34" charset="-122"/>
                <a:cs typeface="Calibri" pitchFamily="34" charset="-120"/>
              </a:rPr>
              <a:t>how this information can inform the design of urban spaces</a:t>
            </a:r>
          </a:p>
        </p:txBody>
      </p:sp>
      <p:sp>
        <p:nvSpPr>
          <p:cNvPr id="34" name="Text 35"/>
          <p:cNvSpPr txBox="1"/>
          <p:nvPr/>
        </p:nvSpPr>
        <p:spPr>
          <a:xfrm>
            <a:off x="7181709" y="2672927"/>
            <a:ext cx="4389120" cy="320040"/>
          </a:xfrm>
          <a:prstGeom prst="rect">
            <a:avLst/>
          </a:prstGeom>
          <a:noFill/>
          <a:ln/>
        </p:spPr>
        <p:txBody>
          <a:bodyPr wrap="square" lIns="0" tIns="0" rIns="0" bIns="0" rtlCol="0" anchor="ctr"/>
          <a:lstStyle/>
          <a:p>
            <a:pPr marL="0" indent="0" algn="ctr">
              <a:buNone/>
            </a:pPr>
            <a:r>
              <a:rPr lang="en-US" sz="1300" b="1" kern="0" spc="200" dirty="0">
                <a:solidFill>
                  <a:srgbClr val="2E7D32"/>
                </a:solidFill>
                <a:latin typeface="Calibri" pitchFamily="34" charset="0"/>
                <a:ea typeface="Calibri" pitchFamily="34" charset="-122"/>
                <a:cs typeface="Calibri" pitchFamily="34" charset="-120"/>
              </a:rPr>
              <a:t>HUMAN BODY</a:t>
            </a:r>
          </a:p>
        </p:txBody>
      </p:sp>
      <p:sp>
        <p:nvSpPr>
          <p:cNvPr id="36" name="Shape 37"/>
          <p:cNvSpPr/>
          <p:nvPr/>
        </p:nvSpPr>
        <p:spPr>
          <a:xfrm>
            <a:off x="8686800" y="3108960"/>
            <a:ext cx="182880" cy="502920"/>
          </a:xfrm>
          <a:prstGeom prst="upArrow">
            <a:avLst/>
          </a:prstGeom>
          <a:solidFill>
            <a:srgbClr val="607D8B"/>
          </a:solidFill>
          <a:ln/>
        </p:spPr>
      </p:sp>
      <p:sp>
        <p:nvSpPr>
          <p:cNvPr id="38" name="Shape 39"/>
          <p:cNvSpPr/>
          <p:nvPr/>
        </p:nvSpPr>
        <p:spPr>
          <a:xfrm>
            <a:off x="9281160" y="3108960"/>
            <a:ext cx="182880" cy="502920"/>
          </a:xfrm>
          <a:prstGeom prst="upArrow">
            <a:avLst/>
          </a:prstGeom>
          <a:solidFill>
            <a:srgbClr val="607D8B"/>
          </a:solidFill>
          <a:ln/>
        </p:spPr>
      </p:sp>
      <p:sp>
        <p:nvSpPr>
          <p:cNvPr id="40" name="Shape 41"/>
          <p:cNvSpPr/>
          <p:nvPr/>
        </p:nvSpPr>
        <p:spPr>
          <a:xfrm>
            <a:off x="9875520" y="3108960"/>
            <a:ext cx="182880" cy="502920"/>
          </a:xfrm>
          <a:prstGeom prst="upArrow">
            <a:avLst/>
          </a:prstGeom>
          <a:solidFill>
            <a:srgbClr val="607D8B"/>
          </a:solidFill>
          <a:ln/>
        </p:spPr>
      </p:sp>
      <p:sp>
        <p:nvSpPr>
          <p:cNvPr id="44" name="Shape 45"/>
          <p:cNvSpPr/>
          <p:nvPr/>
        </p:nvSpPr>
        <p:spPr>
          <a:xfrm>
            <a:off x="8686800" y="4135120"/>
            <a:ext cx="182880" cy="502920"/>
          </a:xfrm>
          <a:prstGeom prst="downArrow">
            <a:avLst/>
          </a:prstGeom>
          <a:solidFill>
            <a:srgbClr val="607D8B"/>
          </a:solidFill>
          <a:ln/>
        </p:spPr>
      </p:sp>
      <p:sp>
        <p:nvSpPr>
          <p:cNvPr id="46" name="Shape 47"/>
          <p:cNvSpPr/>
          <p:nvPr/>
        </p:nvSpPr>
        <p:spPr>
          <a:xfrm>
            <a:off x="9281160" y="4135120"/>
            <a:ext cx="182880" cy="502920"/>
          </a:xfrm>
          <a:prstGeom prst="downArrow">
            <a:avLst/>
          </a:prstGeom>
          <a:solidFill>
            <a:srgbClr val="607D8B"/>
          </a:solidFill>
          <a:ln/>
        </p:spPr>
      </p:sp>
      <p:sp>
        <p:nvSpPr>
          <p:cNvPr id="48" name="Shape 49"/>
          <p:cNvSpPr/>
          <p:nvPr/>
        </p:nvSpPr>
        <p:spPr>
          <a:xfrm>
            <a:off x="9875520" y="4135120"/>
            <a:ext cx="182880" cy="502920"/>
          </a:xfrm>
          <a:prstGeom prst="downArrow">
            <a:avLst/>
          </a:prstGeom>
          <a:solidFill>
            <a:srgbClr val="607D8B"/>
          </a:solidFill>
          <a:ln/>
        </p:spPr>
      </p:sp>
      <p:sp>
        <p:nvSpPr>
          <p:cNvPr id="50" name="Text 51"/>
          <p:cNvSpPr txBox="1"/>
          <p:nvPr/>
        </p:nvSpPr>
        <p:spPr>
          <a:xfrm>
            <a:off x="7181709" y="4711700"/>
            <a:ext cx="4389120" cy="320040"/>
          </a:xfrm>
          <a:prstGeom prst="rect">
            <a:avLst/>
          </a:prstGeom>
          <a:noFill/>
          <a:ln/>
        </p:spPr>
        <p:txBody>
          <a:bodyPr wrap="square" lIns="0" tIns="0" rIns="0" bIns="0" rtlCol="0" anchor="ctr"/>
          <a:lstStyle/>
          <a:p>
            <a:pPr marL="0" indent="0" algn="ctr">
              <a:buNone/>
            </a:pPr>
            <a:r>
              <a:rPr lang="en-US" sz="1300" b="1" kern="0" spc="200" dirty="0">
                <a:solidFill>
                  <a:srgbClr val="8D6E63"/>
                </a:solidFill>
                <a:latin typeface="Calibri" pitchFamily="34" charset="0"/>
                <a:ea typeface="Calibri" pitchFamily="34" charset="-122"/>
                <a:cs typeface="Calibri" pitchFamily="34" charset="-120"/>
              </a:rPr>
              <a:t>URBAN GROUND</a:t>
            </a:r>
          </a:p>
        </p:txBody>
      </p:sp>
      <p:pic>
        <p:nvPicPr>
          <p:cNvPr id="3" name="Picture 2" descr="pasted-movie.png">
            <a:extLst>
              <a:ext uri="{FF2B5EF4-FFF2-40B4-BE49-F238E27FC236}">
                <a16:creationId xmlns:a16="http://schemas.microsoft.com/office/drawing/2014/main" id="{DF79AB59-F8CF-EDFE-E7AC-C5D301378A0C}"/>
              </a:ext>
            </a:extLst>
          </p:cNvPr>
          <p:cNvPicPr>
            <a:picLocks noChangeAspect="1"/>
          </p:cNvPicPr>
          <p:nvPr/>
        </p:nvPicPr>
        <p:blipFill>
          <a:blip r:embed="rId3">
            <a:alphaModFix amt="43000"/>
          </a:blip>
          <a:srcRect r="-165"/>
          <a:stretch>
            <a:fillRect/>
          </a:stretch>
        </p:blipFill>
        <p:spPr>
          <a:xfrm flipH="1">
            <a:off x="6580542" y="312913"/>
            <a:ext cx="5204530" cy="40661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607D8B"/>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OBJECTIVES</a:t>
            </a:r>
            <a:endParaRPr lang="en-US" sz="1300" dirty="0"/>
          </a:p>
        </p:txBody>
      </p:sp>
      <p:sp>
        <p:nvSpPr>
          <p:cNvPr id="5" name="Text 3"/>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What GroundWalks sets out to explore</a:t>
            </a:r>
            <a:endParaRPr lang="en-US" sz="3000" dirty="0"/>
          </a:p>
        </p:txBody>
      </p:sp>
      <p:sp>
        <p:nvSpPr>
          <p:cNvPr id="6" name="Text 4"/>
          <p:cNvSpPr txBox="1"/>
          <p:nvPr/>
        </p:nvSpPr>
        <p:spPr>
          <a:xfrm>
            <a:off x="640080" y="1691640"/>
            <a:ext cx="10881360" cy="64008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GroundWalks leverages next-generation insole pressure sensors to understand the grounds we walk on, the human experience of walking in cities, and its impact on health and urban design.</a:t>
            </a:r>
            <a:endParaRPr lang="en-US" sz="1400" dirty="0"/>
          </a:p>
        </p:txBody>
      </p:sp>
      <p:sp>
        <p:nvSpPr>
          <p:cNvPr id="7" name="Shape 5"/>
          <p:cNvSpPr/>
          <p:nvPr/>
        </p:nvSpPr>
        <p:spPr>
          <a:xfrm>
            <a:off x="640080" y="2468880"/>
            <a:ext cx="3474720" cy="320040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8" name="Shape 6"/>
          <p:cNvSpPr/>
          <p:nvPr/>
        </p:nvSpPr>
        <p:spPr>
          <a:xfrm>
            <a:off x="896112" y="2743200"/>
            <a:ext cx="457200" cy="457200"/>
          </a:xfrm>
          <a:prstGeom prst="roundRect">
            <a:avLst>
              <a:gd name="adj" fmla="val 14000"/>
            </a:avLst>
          </a:prstGeom>
          <a:solidFill>
            <a:srgbClr val="4CAF50"/>
          </a:solidFill>
          <a:ln/>
        </p:spPr>
      </p:sp>
      <p:sp>
        <p:nvSpPr>
          <p:cNvPr id="9" name="Text 7"/>
          <p:cNvSpPr txBox="1"/>
          <p:nvPr/>
        </p:nvSpPr>
        <p:spPr>
          <a:xfrm>
            <a:off x="896112" y="2743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1508760" y="2798064"/>
            <a:ext cx="2377440" cy="365760"/>
          </a:xfrm>
          <a:prstGeom prst="rect">
            <a:avLst/>
          </a:prstGeom>
          <a:noFill/>
          <a:ln/>
        </p:spPr>
        <p:txBody>
          <a:bodyPr wrap="square" lIns="0" tIns="0" rIns="0" bIns="0" rtlCol="0" anchor="ctr"/>
          <a:lstStyle/>
          <a:p>
            <a:pPr marL="0" indent="0" algn="l">
              <a:buNone/>
            </a:pPr>
            <a:r>
              <a:rPr lang="en-US" sz="1000" b="1" kern="0" spc="150" dirty="0">
                <a:solidFill>
                  <a:srgbClr val="4CAF50"/>
                </a:solidFill>
                <a:latin typeface="Calibri" pitchFamily="34" charset="0"/>
                <a:ea typeface="Calibri" pitchFamily="34" charset="-122"/>
                <a:cs typeface="Calibri" pitchFamily="34" charset="-120"/>
              </a:rPr>
              <a:t>CORE</a:t>
            </a:r>
            <a:endParaRPr lang="en-US" sz="1000" dirty="0"/>
          </a:p>
        </p:txBody>
      </p:sp>
      <p:sp>
        <p:nvSpPr>
          <p:cNvPr id="11" name="Text 9"/>
          <p:cNvSpPr txBox="1"/>
          <p:nvPr/>
        </p:nvSpPr>
        <p:spPr>
          <a:xfrm>
            <a:off x="896112" y="3383280"/>
            <a:ext cx="2962656" cy="731520"/>
          </a:xfrm>
          <a:prstGeom prst="rect">
            <a:avLst/>
          </a:prstGeom>
          <a:noFill/>
          <a:ln/>
        </p:spPr>
        <p:txBody>
          <a:bodyPr wrap="square" lIns="0" tIns="0" rIns="0" bIns="0" rtlCol="0" anchor="t"/>
          <a:lstStyle/>
          <a:p>
            <a:pPr marL="0" indent="0" algn="l">
              <a:buNone/>
            </a:pPr>
            <a:r>
              <a:rPr lang="en-US" sz="1800" b="1" dirty="0">
                <a:solidFill>
                  <a:srgbClr val="1B2A30"/>
                </a:solidFill>
                <a:latin typeface="Cambria" pitchFamily="34" charset="0"/>
                <a:ea typeface="Cambria" pitchFamily="34" charset="-122"/>
                <a:cs typeface="Cambria" pitchFamily="34" charset="-120"/>
              </a:rPr>
              <a:t>Detecting ground conditions</a:t>
            </a:r>
            <a:endParaRPr lang="en-US" sz="1800" dirty="0"/>
          </a:p>
        </p:txBody>
      </p:sp>
      <p:sp>
        <p:nvSpPr>
          <p:cNvPr id="12" name="Text 10"/>
          <p:cNvSpPr txBox="1"/>
          <p:nvPr/>
        </p:nvSpPr>
        <p:spPr>
          <a:xfrm>
            <a:off x="896112" y="4069080"/>
            <a:ext cx="2962656" cy="1371600"/>
          </a:xfrm>
          <a:prstGeom prst="rect">
            <a:avLst/>
          </a:prstGeom>
          <a:noFill/>
          <a:ln/>
        </p:spPr>
        <p:txBody>
          <a:bodyPr wrap="square" lIns="0" tIns="0" rIns="0" bIns="0" rtlCol="0" anchor="t"/>
          <a:lstStyle/>
          <a:p>
            <a:pPr marL="0" indent="0" algn="l">
              <a:lnSpc>
                <a:spcPct val="112000"/>
              </a:lnSpc>
              <a:buNone/>
            </a:pPr>
            <a:r>
              <a:rPr lang="en-US" sz="1350" dirty="0">
                <a:solidFill>
                  <a:srgbClr val="6B7772"/>
                </a:solidFill>
                <a:latin typeface="Calibri" pitchFamily="34" charset="0"/>
                <a:ea typeface="Calibri" pitchFamily="34" charset="-122"/>
                <a:cs typeface="Calibri" pitchFamily="34" charset="-120"/>
              </a:rPr>
              <a:t>How can different ground conditions be detected from the data the insoles capture?</a:t>
            </a:r>
            <a:endParaRPr lang="en-US" sz="1350" dirty="0"/>
          </a:p>
        </p:txBody>
      </p:sp>
      <p:sp>
        <p:nvSpPr>
          <p:cNvPr id="13" name="Shape 11"/>
          <p:cNvSpPr/>
          <p:nvPr/>
        </p:nvSpPr>
        <p:spPr>
          <a:xfrm>
            <a:off x="4343400" y="2468880"/>
            <a:ext cx="3474720" cy="320040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4" name="Shape 12"/>
          <p:cNvSpPr/>
          <p:nvPr/>
        </p:nvSpPr>
        <p:spPr>
          <a:xfrm>
            <a:off x="4599432" y="2743200"/>
            <a:ext cx="457200" cy="457200"/>
          </a:xfrm>
          <a:prstGeom prst="roundRect">
            <a:avLst>
              <a:gd name="adj" fmla="val 14000"/>
            </a:avLst>
          </a:prstGeom>
          <a:solidFill>
            <a:srgbClr val="607D8B"/>
          </a:solidFill>
          <a:ln/>
        </p:spPr>
      </p:sp>
      <p:sp>
        <p:nvSpPr>
          <p:cNvPr id="15" name="Text 13"/>
          <p:cNvSpPr txBox="1"/>
          <p:nvPr/>
        </p:nvSpPr>
        <p:spPr>
          <a:xfrm>
            <a:off x="4599432" y="2743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txBox="1"/>
          <p:nvPr/>
        </p:nvSpPr>
        <p:spPr>
          <a:xfrm>
            <a:off x="5212080" y="2798064"/>
            <a:ext cx="2377440" cy="365760"/>
          </a:xfrm>
          <a:prstGeom prst="rect">
            <a:avLst/>
          </a:prstGeom>
          <a:noFill/>
          <a:ln/>
        </p:spPr>
        <p:txBody>
          <a:bodyPr wrap="square" lIns="0" tIns="0" rIns="0" bIns="0" rtlCol="0" anchor="ctr"/>
          <a:lstStyle/>
          <a:p>
            <a:pPr marL="0" indent="0" algn="l">
              <a:buNone/>
            </a:pPr>
            <a:r>
              <a:rPr lang="en-US" sz="1000" b="1" kern="0" spc="150" dirty="0">
                <a:solidFill>
                  <a:srgbClr val="607D8B"/>
                </a:solidFill>
                <a:latin typeface="Calibri" pitchFamily="34" charset="0"/>
                <a:ea typeface="Calibri" pitchFamily="34" charset="-122"/>
                <a:cs typeface="Calibri" pitchFamily="34" charset="-120"/>
              </a:rPr>
              <a:t>CORE</a:t>
            </a:r>
            <a:endParaRPr lang="en-US" sz="1000" dirty="0"/>
          </a:p>
        </p:txBody>
      </p:sp>
      <p:sp>
        <p:nvSpPr>
          <p:cNvPr id="17" name="Text 15"/>
          <p:cNvSpPr txBox="1"/>
          <p:nvPr/>
        </p:nvSpPr>
        <p:spPr>
          <a:xfrm>
            <a:off x="4599432" y="3383280"/>
            <a:ext cx="2962656" cy="731520"/>
          </a:xfrm>
          <a:prstGeom prst="rect">
            <a:avLst/>
          </a:prstGeom>
          <a:noFill/>
          <a:ln/>
        </p:spPr>
        <p:txBody>
          <a:bodyPr wrap="square" lIns="0" tIns="0" rIns="0" bIns="0" rtlCol="0" anchor="t"/>
          <a:lstStyle/>
          <a:p>
            <a:pPr marL="0" indent="0" algn="l">
              <a:buNone/>
            </a:pPr>
            <a:r>
              <a:rPr lang="en-US" sz="1800" b="1" dirty="0">
                <a:solidFill>
                  <a:srgbClr val="1B2A30"/>
                </a:solidFill>
                <a:latin typeface="Cambria" pitchFamily="34" charset="0"/>
                <a:ea typeface="Cambria" pitchFamily="34" charset="-122"/>
                <a:cs typeface="Cambria" pitchFamily="34" charset="-120"/>
              </a:rPr>
              <a:t>Walking &amp; health</a:t>
            </a:r>
            <a:endParaRPr lang="en-US" sz="1800" dirty="0"/>
          </a:p>
        </p:txBody>
      </p:sp>
      <p:sp>
        <p:nvSpPr>
          <p:cNvPr id="18" name="Text 16"/>
          <p:cNvSpPr txBox="1"/>
          <p:nvPr/>
        </p:nvSpPr>
        <p:spPr>
          <a:xfrm>
            <a:off x="4599432" y="4069080"/>
            <a:ext cx="2962656" cy="1371600"/>
          </a:xfrm>
          <a:prstGeom prst="rect">
            <a:avLst/>
          </a:prstGeom>
          <a:noFill/>
          <a:ln/>
        </p:spPr>
        <p:txBody>
          <a:bodyPr wrap="square" lIns="0" tIns="0" rIns="0" bIns="0" rtlCol="0" anchor="t"/>
          <a:lstStyle/>
          <a:p>
            <a:pPr marL="0" indent="0" algn="l">
              <a:lnSpc>
                <a:spcPct val="112000"/>
              </a:lnSpc>
              <a:buNone/>
            </a:pPr>
            <a:r>
              <a:rPr lang="en-US" sz="1350" dirty="0">
                <a:solidFill>
                  <a:srgbClr val="6B7772"/>
                </a:solidFill>
                <a:latin typeface="Calibri" pitchFamily="34" charset="0"/>
                <a:ea typeface="Calibri" pitchFamily="34" charset="-122"/>
                <a:cs typeface="Calibri" pitchFamily="34" charset="-120"/>
              </a:rPr>
              <a:t>How do the various surfaces we walk on affect our health — mental and physical?</a:t>
            </a:r>
            <a:endParaRPr lang="en-US" sz="1350" dirty="0"/>
          </a:p>
        </p:txBody>
      </p:sp>
      <p:sp>
        <p:nvSpPr>
          <p:cNvPr id="19" name="Shape 17"/>
          <p:cNvSpPr/>
          <p:nvPr/>
        </p:nvSpPr>
        <p:spPr>
          <a:xfrm>
            <a:off x="8046720" y="2468880"/>
            <a:ext cx="3474720" cy="320040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20" name="Shape 18"/>
          <p:cNvSpPr/>
          <p:nvPr/>
        </p:nvSpPr>
        <p:spPr>
          <a:xfrm>
            <a:off x="8302752" y="2743200"/>
            <a:ext cx="457200" cy="457200"/>
          </a:xfrm>
          <a:prstGeom prst="roundRect">
            <a:avLst>
              <a:gd name="adj" fmla="val 14000"/>
            </a:avLst>
          </a:prstGeom>
          <a:solidFill>
            <a:srgbClr val="8D6E63"/>
          </a:solidFill>
          <a:ln/>
        </p:spPr>
      </p:sp>
      <p:sp>
        <p:nvSpPr>
          <p:cNvPr id="21" name="Text 19"/>
          <p:cNvSpPr txBox="1"/>
          <p:nvPr/>
        </p:nvSpPr>
        <p:spPr>
          <a:xfrm>
            <a:off x="8302752" y="2743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txBox="1"/>
          <p:nvPr/>
        </p:nvSpPr>
        <p:spPr>
          <a:xfrm>
            <a:off x="8915400" y="2798064"/>
            <a:ext cx="2377440" cy="365760"/>
          </a:xfrm>
          <a:prstGeom prst="rect">
            <a:avLst/>
          </a:prstGeom>
          <a:noFill/>
          <a:ln/>
        </p:spPr>
        <p:txBody>
          <a:bodyPr wrap="square" lIns="0" tIns="0" rIns="0" bIns="0" rtlCol="0" anchor="ctr"/>
          <a:lstStyle/>
          <a:p>
            <a:pPr marL="0" indent="0" algn="l">
              <a:buNone/>
            </a:pPr>
            <a:r>
              <a:rPr lang="en-US" sz="1000" b="1" kern="0" spc="150" dirty="0">
                <a:solidFill>
                  <a:srgbClr val="AEBCB8"/>
                </a:solidFill>
                <a:latin typeface="Calibri" pitchFamily="34" charset="0"/>
                <a:ea typeface="Calibri" pitchFamily="34" charset="-122"/>
                <a:cs typeface="Calibri" pitchFamily="34" charset="-120"/>
              </a:rPr>
              <a:t>EXPLORATORY</a:t>
            </a:r>
            <a:endParaRPr lang="en-US" sz="1000" dirty="0"/>
          </a:p>
        </p:txBody>
      </p:sp>
      <p:sp>
        <p:nvSpPr>
          <p:cNvPr id="23" name="Text 21"/>
          <p:cNvSpPr txBox="1"/>
          <p:nvPr/>
        </p:nvSpPr>
        <p:spPr>
          <a:xfrm>
            <a:off x="8302752" y="3383280"/>
            <a:ext cx="2962656" cy="731520"/>
          </a:xfrm>
          <a:prstGeom prst="rect">
            <a:avLst/>
          </a:prstGeom>
          <a:noFill/>
          <a:ln/>
        </p:spPr>
        <p:txBody>
          <a:bodyPr wrap="square" lIns="0" tIns="0" rIns="0" bIns="0" rtlCol="0" anchor="t"/>
          <a:lstStyle/>
          <a:p>
            <a:pPr marL="0" indent="0" algn="l">
              <a:buNone/>
            </a:pPr>
            <a:r>
              <a:rPr lang="en-US" sz="1800" b="1" dirty="0">
                <a:solidFill>
                  <a:srgbClr val="1B2A30"/>
                </a:solidFill>
                <a:latin typeface="Cambria" pitchFamily="34" charset="0"/>
                <a:ea typeface="Cambria" pitchFamily="34" charset="-122"/>
                <a:cs typeface="Cambria" pitchFamily="34" charset="-120"/>
              </a:rPr>
              <a:t>Toward walkability</a:t>
            </a:r>
            <a:endParaRPr lang="en-US" sz="1800" dirty="0"/>
          </a:p>
        </p:txBody>
      </p:sp>
      <p:sp>
        <p:nvSpPr>
          <p:cNvPr id="24" name="Text 22"/>
          <p:cNvSpPr txBox="1"/>
          <p:nvPr/>
        </p:nvSpPr>
        <p:spPr>
          <a:xfrm>
            <a:off x="8302752" y="4069080"/>
            <a:ext cx="2962656" cy="1371600"/>
          </a:xfrm>
          <a:prstGeom prst="rect">
            <a:avLst/>
          </a:prstGeom>
          <a:noFill/>
          <a:ln/>
        </p:spPr>
        <p:txBody>
          <a:bodyPr wrap="square" lIns="0" tIns="0" rIns="0" bIns="0" rtlCol="0" anchor="t"/>
          <a:lstStyle/>
          <a:p>
            <a:pPr marL="0" indent="0" algn="l">
              <a:lnSpc>
                <a:spcPct val="112000"/>
              </a:lnSpc>
              <a:buNone/>
            </a:pPr>
            <a:r>
              <a:rPr lang="en-US" sz="1350" dirty="0">
                <a:solidFill>
                  <a:srgbClr val="6B7772"/>
                </a:solidFill>
                <a:latin typeface="Calibri" pitchFamily="34" charset="0"/>
                <a:ea typeface="Calibri" pitchFamily="34" charset="-122"/>
                <a:cs typeface="Calibri" pitchFamily="34" charset="-120"/>
              </a:rPr>
              <a:t>How might the data and models be used to improve urban walkability?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Background - gait cycle">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8A9A95"/>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BACKGROUND</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gait cycle and gait events</a:t>
            </a:r>
          </a:p>
        </p:txBody>
      </p:sp>
      <p:pic>
        <p:nvPicPr>
          <p:cNvPr id="10" name="Image 11" descr="The gait cycle and gait events"/>
          <p:cNvPicPr>
            <a:picLocks noChangeAspect="1"/>
          </p:cNvPicPr>
          <p:nvPr/>
        </p:nvPicPr>
        <p:blipFill>
          <a:blip r:embed="rId3"/>
          <a:stretch>
            <a:fillRect/>
          </a:stretch>
        </p:blipFill>
        <p:spPr>
          <a:xfrm>
            <a:off x="640080" y="2103120"/>
            <a:ext cx="4937760" cy="2845945"/>
          </a:xfrm>
          <a:prstGeom prst="rect">
            <a:avLst/>
          </a:prstGeom>
        </p:spPr>
      </p:pic>
      <p:sp>
        <p:nvSpPr>
          <p:cNvPr id="12" name="Text 13"/>
          <p:cNvSpPr txBox="1"/>
          <p:nvPr/>
        </p:nvSpPr>
        <p:spPr>
          <a:xfrm>
            <a:off x="640080" y="5086225"/>
            <a:ext cx="4937760" cy="457200"/>
          </a:xfrm>
          <a:prstGeom prst="rect">
            <a:avLst/>
          </a:prstGeom>
          <a:noFill/>
          <a:ln/>
        </p:spPr>
        <p:txBody>
          <a:bodyPr wrap="square" lIns="0" tIns="0" rIns="0" bIns="0" rtlCol="0" anchor="t"/>
          <a:lstStyle/>
          <a:p>
            <a:pPr marL="0" indent="0" algn="l">
              <a:lnSpc>
                <a:spcPct val="110000"/>
              </a:lnSpc>
              <a:buNone/>
            </a:pPr>
            <a:r>
              <a:rPr lang="en-US" sz="1000" i="1" dirty="0">
                <a:solidFill>
                  <a:srgbClr val="A9B4B1"/>
                </a:solidFill>
                <a:latin typeface="Calibri" pitchFamily="34" charset="0"/>
                <a:ea typeface="Calibri" pitchFamily="34" charset="-122"/>
                <a:cs typeface="Calibri" pitchFamily="34" charset="-120"/>
              </a:rPr>
              <a:t>Figure 1, “The gait cycle and gait events” — Aqueveque, Germany, Osorio &amp; Pastene, Sensors 2020, 20(3), 656 (CC BY). mdpi.com/1424-8220/20/3/656</a:t>
            </a:r>
          </a:p>
        </p:txBody>
      </p:sp>
      <p:sp>
        <p:nvSpPr>
          <p:cNvPr id="14" name="Shape 15"/>
          <p:cNvSpPr/>
          <p:nvPr/>
        </p:nvSpPr>
        <p:spPr>
          <a:xfrm>
            <a:off x="6035040" y="1920240"/>
            <a:ext cx="5486400" cy="402336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6" name="Text 17"/>
          <p:cNvSpPr txBox="1"/>
          <p:nvPr/>
        </p:nvSpPr>
        <p:spPr>
          <a:xfrm>
            <a:off x="6400800" y="2240280"/>
            <a:ext cx="4754880" cy="3383280"/>
          </a:xfrm>
          <a:prstGeom prst="rect">
            <a:avLst/>
          </a:prstGeom>
          <a:noFill/>
          <a:ln/>
        </p:spPr>
        <p:txBody>
          <a:bodyPr wrap="square" lIns="0" tIns="0" rIns="0" bIns="0" rtlCol="0" anchor="t"/>
          <a:lstStyle/>
          <a:p>
            <a:pPr marL="0" indent="0" algn="l">
              <a:lnSpc>
                <a:spcPct val="140000"/>
              </a:lnSpc>
              <a:buNone/>
            </a:pPr>
            <a:r>
              <a:rPr lang="en-US" sz="1250" dirty="0">
                <a:solidFill>
                  <a:srgbClr val="6B7772"/>
                </a:solidFill>
                <a:latin typeface="Calibri" pitchFamily="34" charset="0"/>
                <a:ea typeface="Calibri" pitchFamily="34" charset="-122"/>
                <a:cs typeface="Calibri" pitchFamily="34" charset="-120"/>
              </a:rPr>
              <a:t>A gait cycle runs from one heel strike to the next. For roughly 60% of it — the stance phase — the foot is on the ground, moving through loading response, mid stance and heel rise before toe off. The remaining 40% is swing, when the foot travels forward and carries no load at all.</a:t>
            </a:r>
          </a:p>
          <a:p>
            <a:pPr marL="0" indent="0" algn="l">
              <a:lnSpc>
                <a:spcPct val="140000"/>
              </a:lnSpc>
              <a:spcBef>
                <a:spcPts val="900"/>
              </a:spcBef>
              <a:buNone/>
            </a:pPr>
            <a:r>
              <a:rPr lang="en-US" sz="1250" dirty="0">
                <a:solidFill>
                  <a:srgbClr val="6B7772"/>
                </a:solidFill>
                <a:latin typeface="Calibri" pitchFamily="34" charset="0"/>
                <a:ea typeface="Calibri" pitchFamily="34" charset="-122"/>
                <a:cs typeface="Calibri" pitchFamily="34" charset="-120"/>
              </a:rPr>
              <a:t>Because pressure registers only during stance, that window is where every feature comes from. Feature constructing at the nexus of physiotherapy, urban design and public health draws on the accelerometer impact peak at heel strike and the loading rate that follows it, pressure distribution entropy during mid-stance, the spectral energy ratio between high and low frequencies, and the step-to-step variability of each measure across a walk.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4CAF50"/>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THE INSTRUMENT</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A pressure-sensing insole (stappone)</a:t>
            </a:r>
            <a:endParaRPr lang="en-US" sz="3000" dirty="0"/>
          </a:p>
        </p:txBody>
      </p:sp>
      <p:sp>
        <p:nvSpPr>
          <p:cNvPr id="6" name="Shape 4"/>
          <p:cNvSpPr/>
          <p:nvPr/>
        </p:nvSpPr>
        <p:spPr>
          <a:xfrm>
            <a:off x="640080" y="1920240"/>
            <a:ext cx="5212080" cy="3611880"/>
          </a:xfrm>
          <a:prstGeom prst="roundRect">
            <a:avLst>
              <a:gd name="adj" fmla="val 1266"/>
            </a:avLst>
          </a:prstGeom>
          <a:solidFill>
            <a:srgbClr val="FFFFFF"/>
          </a:solidFill>
          <a:ln w="12700">
            <a:solidFill>
              <a:srgbClr val="DCE3E1"/>
            </a:solidFill>
            <a:prstDash val="solid"/>
          </a:ln>
        </p:spPr>
      </p:sp>
      <p:pic>
        <p:nvPicPr>
          <p:cNvPr id="7" name="Image 0" descr="/mnt/user-data/uploads/Screenshot_2026-09-01_152305.png"/>
          <p:cNvPicPr>
            <a:picLocks noChangeAspect="1"/>
          </p:cNvPicPr>
          <p:nvPr/>
        </p:nvPicPr>
        <p:blipFill>
          <a:blip r:embed="rId3"/>
          <a:stretch>
            <a:fillRect/>
          </a:stretch>
        </p:blipFill>
        <p:spPr>
          <a:xfrm>
            <a:off x="793009" y="2066544"/>
            <a:ext cx="4906222" cy="3026664"/>
          </a:xfrm>
          <a:prstGeom prst="rect">
            <a:avLst/>
          </a:prstGeom>
        </p:spPr>
      </p:pic>
      <p:sp>
        <p:nvSpPr>
          <p:cNvPr id="8" name="Text 5"/>
          <p:cNvSpPr txBox="1"/>
          <p:nvPr/>
        </p:nvSpPr>
        <p:spPr>
          <a:xfrm>
            <a:off x="640080" y="5257800"/>
            <a:ext cx="5212080"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12 pressure sensors per foot</a:t>
            </a:r>
            <a:endParaRPr lang="en-US" sz="1050" dirty="0"/>
          </a:p>
        </p:txBody>
      </p:sp>
      <p:sp>
        <p:nvSpPr>
          <p:cNvPr id="9" name="Shape 6"/>
          <p:cNvSpPr/>
          <p:nvPr/>
        </p:nvSpPr>
        <p:spPr>
          <a:xfrm>
            <a:off x="6126480" y="1920240"/>
            <a:ext cx="5422392" cy="3611880"/>
          </a:xfrm>
          <a:prstGeom prst="roundRect">
            <a:avLst>
              <a:gd name="adj" fmla="val 1772"/>
            </a:avLst>
          </a:prstGeom>
          <a:solidFill>
            <a:srgbClr val="F3F6F5"/>
          </a:solidFill>
          <a:ln/>
          <a:effectLst>
            <a:outerShdw blurRad="76200" dist="25400" dir="5400000" algn="bl" rotWithShape="0">
              <a:srgbClr val="A9B4B1">
                <a:alpha val="28000"/>
              </a:srgbClr>
            </a:outerShdw>
          </a:effectLst>
        </p:spPr>
      </p:sp>
      <p:sp>
        <p:nvSpPr>
          <p:cNvPr id="10" name="Text 7"/>
          <p:cNvSpPr txBox="1"/>
          <p:nvPr/>
        </p:nvSpPr>
        <p:spPr>
          <a:xfrm>
            <a:off x="6400800" y="2240280"/>
            <a:ext cx="4937760" cy="365760"/>
          </a:xfrm>
          <a:prstGeom prst="rect">
            <a:avLst/>
          </a:prstGeom>
          <a:noFill/>
          <a:ln/>
        </p:spPr>
        <p:txBody>
          <a:bodyPr wrap="square" lIns="0" tIns="0" rIns="0" bIns="0" rtlCol="0" anchor="ctr"/>
          <a:lstStyle/>
          <a:p>
            <a:pPr marL="0" indent="0" algn="l">
              <a:buNone/>
            </a:pPr>
            <a:r>
              <a:rPr lang="en-US" sz="1800" b="1" dirty="0">
                <a:solidFill>
                  <a:srgbClr val="1B2A30"/>
                </a:solidFill>
                <a:latin typeface="Cambria" pitchFamily="34" charset="0"/>
                <a:ea typeface="Cambria" pitchFamily="34" charset="-122"/>
                <a:cs typeface="Cambria" pitchFamily="34" charset="-120"/>
              </a:rPr>
              <a:t>What each sole carries</a:t>
            </a:r>
            <a:endParaRPr lang="en-US" sz="1800" dirty="0"/>
          </a:p>
        </p:txBody>
      </p:sp>
      <p:sp>
        <p:nvSpPr>
          <p:cNvPr id="11" name="Text 3"/>
          <p:cNvSpPr txBox="1"/>
          <p:nvPr/>
        </p:nvSpPr>
        <p:spPr>
          <a:xfrm>
            <a:off x="6400800" y="2825496"/>
            <a:ext cx="4937760" cy="2377440"/>
          </a:xfrm>
          <a:prstGeom prst="rect">
            <a:avLst/>
          </a:prstGeom>
          <a:noFill/>
          <a:ln/>
        </p:spPr>
        <p:txBody>
          <a:bodyPr wrap="square" lIns="0" tIns="0" rIns="0" bIns="0" rtlCol="0" anchor="t"/>
          <a:lstStyle/>
          <a:p>
            <a:pPr marL="0" indent="0" algn="l">
              <a:lnSpc>
                <a:spcPct val="145000"/>
              </a:lnSpc>
              <a:buNone/>
            </a:pPr>
            <a:r>
              <a:rPr lang="en-US" sz="1400" b="1" dirty="0">
                <a:solidFill>
                  <a:srgbClr val="1B2A30"/>
                </a:solidFill>
                <a:latin typeface="Calibri" pitchFamily="34" charset="0"/>
                <a:ea typeface="Calibri" pitchFamily="34" charset="-122"/>
                <a:cs typeface="Calibri" pitchFamily="34" charset="-120"/>
              </a:rPr>
              <a:t>Each sole carries twelve pressure pads</a:t>
            </a:r>
            <a:r>
              <a:rPr lang="en-US" sz="1400" dirty="0">
                <a:solidFill>
                  <a:srgbClr val="6B7772"/>
                </a:solidFill>
                <a:latin typeface="Calibri" pitchFamily="34" charset="0"/>
                <a:ea typeface="Calibri" pitchFamily="34" charset="-122"/>
                <a:cs typeface="Calibri" pitchFamily="34" charset="-120"/>
              </a:rPr>
              <a:t> that record the shape of the load through every step as sensors sv1–12, alongside an accelerometer and gyroscope picking up impact, vibration and foot rotation while the foot is down. The walk is written to on-board memory as it happens, then synced over Bluetooth LE to the app afterward.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hueOff val="300931"/>
            <a:lumOff val="-21745"/>
          </a:schemeClr>
        </a:solidFill>
        <a:effectLst/>
      </p:bgPr>
    </p:bg>
    <p:spTree>
      <p:nvGrpSpPr>
        <p:cNvPr id="1" name=""/>
        <p:cNvGrpSpPr/>
        <p:nvPr/>
      </p:nvGrpSpPr>
      <p:grpSpPr>
        <a:xfrm>
          <a:off x="0" y="0"/>
          <a:ext cx="0" cy="0"/>
          <a:chOff x="0" y="0"/>
          <a:chExt cx="0" cy="0"/>
        </a:xfrm>
      </p:grpSpPr>
      <p:pic>
        <p:nvPicPr>
          <p:cNvPr id="184" name="stappone-pressure-insole-internals-02-copy.jpg.jpeg" descr="stappone-pressure-insole-internals-02-copy.jpg.jpeg"/>
          <p:cNvPicPr>
            <a:picLocks noChangeAspect="1"/>
          </p:cNvPicPr>
          <p:nvPr/>
        </p:nvPicPr>
        <p:blipFill>
          <a:blip r:embed="rId2"/>
          <a:stretch>
            <a:fillRect/>
          </a:stretch>
        </p:blipFill>
        <p:spPr>
          <a:xfrm>
            <a:off x="950662" y="0"/>
            <a:ext cx="10290112" cy="6865056"/>
          </a:xfrm>
          <a:prstGeom prst="rect">
            <a:avLst/>
          </a:prstGeom>
          <a:ln w="12700">
            <a:miter lim="400000"/>
          </a:ln>
        </p:spPr>
      </p:pic>
      <p:pic>
        <p:nvPicPr>
          <p:cNvPr id="192" name="013026_AS_Kristian_Kloeckl_036.jpg.jpeg" descr="013026_AS_Kristian_Kloeckl_036.jpg.jpeg"/>
          <p:cNvPicPr>
            <a:picLocks noChangeAspect="1"/>
          </p:cNvPicPr>
          <p:nvPr/>
        </p:nvPicPr>
        <p:blipFill>
          <a:blip r:embed="rId3"/>
          <a:stretch>
            <a:fillRect/>
          </a:stretch>
        </p:blipFill>
        <p:spPr>
          <a:xfrm>
            <a:off x="1524000" y="4461266"/>
            <a:ext cx="3409650" cy="2269853"/>
          </a:xfrm>
          <a:prstGeom prst="rect">
            <a:avLst/>
          </a:prstGeom>
          <a:ln w="12700">
            <a:miter lim="400000"/>
          </a:ln>
        </p:spPr>
      </p:pic>
      <p:sp>
        <p:nvSpPr>
          <p:cNvPr id="2" name="Wearable Insole Pressure Sensors">
            <a:extLst>
              <a:ext uri="{FF2B5EF4-FFF2-40B4-BE49-F238E27FC236}">
                <a16:creationId xmlns:a16="http://schemas.microsoft.com/office/drawing/2014/main" id="{A1982033-9D8B-ED92-4BAA-250DD9973DEB}"/>
              </a:ext>
            </a:extLst>
          </p:cNvPr>
          <p:cNvSpPr txBox="1"/>
          <p:nvPr/>
        </p:nvSpPr>
        <p:spPr>
          <a:xfrm>
            <a:off x="1363057" y="609072"/>
            <a:ext cx="7764953" cy="539828"/>
          </a:xfrm>
          <a:prstGeom prst="rect">
            <a:avLst/>
          </a:prstGeom>
          <a:ln w="12700">
            <a:miter lim="400000"/>
          </a:ln>
          <a:effectLst>
            <a:outerShdw blurRad="127000" dir="5400000" rotWithShape="0">
              <a:srgbClr val="000000"/>
            </a:outerShdw>
          </a:effectLst>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1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a:ea typeface="Helvetica"/>
                <a:cs typeface="Helvetica"/>
                <a:sym typeface="Helvetica"/>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2800" dirty="0">
                <a:latin typeface="Cambria"/>
                <a:ea typeface="Cambria"/>
              </a:rPr>
              <a:t>Wearable Insole Pressure Sensors</a:t>
            </a:r>
            <a:endParaRPr lang="en-US" sz="2800">
              <a:latin typeface="Cambria"/>
              <a:ea typeface="Cambria"/>
            </a:endParaRPr>
          </a:p>
        </p:txBody>
      </p:sp>
      <p:sp>
        <p:nvSpPr>
          <p:cNvPr id="3" name="12 pressure zones (resistive fabric)">
            <a:extLst>
              <a:ext uri="{FF2B5EF4-FFF2-40B4-BE49-F238E27FC236}">
                <a16:creationId xmlns:a16="http://schemas.microsoft.com/office/drawing/2014/main" id="{40C2E00F-7C52-F533-E451-DAD326F829D2}"/>
              </a:ext>
            </a:extLst>
          </p:cNvPr>
          <p:cNvSpPr txBox="1"/>
          <p:nvPr/>
        </p:nvSpPr>
        <p:spPr>
          <a:xfrm>
            <a:off x="2709310" y="1745446"/>
            <a:ext cx="3688227" cy="753476"/>
          </a:xfrm>
          <a:prstGeom prst="rect">
            <a:avLst/>
          </a:prstGeom>
          <a:ln w="12700">
            <a:miter lim="400000"/>
          </a:ln>
          <a:effectLst>
            <a:outerShdw blurRad="127000" dir="5400000" rotWithShape="0">
              <a:srgbClr val="FFFFFF"/>
            </a:outerShdw>
          </a:effectLst>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1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Helvetica"/>
                <a:ea typeface="Helvetica"/>
                <a:cs typeface="Helvetica"/>
                <a:sym typeface="Helvetica"/>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2000" dirty="0">
                <a:latin typeface="Cambria"/>
                <a:ea typeface="Cambria"/>
              </a:rPr>
              <a:t>12 pressure zones (resistive fabric)</a:t>
            </a:r>
            <a:endParaRPr lang="en-US" sz="2000">
              <a:latin typeface="Cambria"/>
              <a:ea typeface="Cambria"/>
            </a:endParaRPr>
          </a:p>
        </p:txBody>
      </p:sp>
      <p:sp>
        <p:nvSpPr>
          <p:cNvPr id="4" name="100Hz sampling">
            <a:extLst>
              <a:ext uri="{FF2B5EF4-FFF2-40B4-BE49-F238E27FC236}">
                <a16:creationId xmlns:a16="http://schemas.microsoft.com/office/drawing/2014/main" id="{B1F9D08E-A4B2-1F57-4C90-3A392E9F2AAF}"/>
              </a:ext>
            </a:extLst>
          </p:cNvPr>
          <p:cNvSpPr txBox="1"/>
          <p:nvPr/>
        </p:nvSpPr>
        <p:spPr>
          <a:xfrm>
            <a:off x="8219834" y="657050"/>
            <a:ext cx="3688227" cy="383695"/>
          </a:xfrm>
          <a:prstGeom prst="rect">
            <a:avLst/>
          </a:prstGeom>
          <a:ln w="12700">
            <a:miter lim="400000"/>
          </a:ln>
          <a:effectLst>
            <a:outerShdw blurRad="127000" dir="5400000" rotWithShape="0">
              <a:srgbClr val="FFFFFF"/>
            </a:outerShdw>
          </a:effectLst>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1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Helvetica"/>
                <a:ea typeface="Helvetica"/>
                <a:cs typeface="Helvetica"/>
                <a:sym typeface="Helvetica"/>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1800" dirty="0">
                <a:latin typeface="Cambria"/>
                <a:ea typeface="Cambria"/>
              </a:rPr>
              <a:t>100Hz sampling</a:t>
            </a:r>
            <a:endParaRPr lang="en-US" sz="1800">
              <a:latin typeface="Cambria"/>
              <a:ea typeface="Cambria"/>
            </a:endParaRPr>
          </a:p>
        </p:txBody>
      </p:sp>
      <p:sp>
        <p:nvSpPr>
          <p:cNvPr id="5" name="Bluetooth">
            <a:extLst>
              <a:ext uri="{FF2B5EF4-FFF2-40B4-BE49-F238E27FC236}">
                <a16:creationId xmlns:a16="http://schemas.microsoft.com/office/drawing/2014/main" id="{11E6A602-ABA0-754E-65F8-6279AB9ACE1D}"/>
              </a:ext>
            </a:extLst>
          </p:cNvPr>
          <p:cNvSpPr txBox="1"/>
          <p:nvPr/>
        </p:nvSpPr>
        <p:spPr>
          <a:xfrm>
            <a:off x="7150788" y="1744504"/>
            <a:ext cx="2118520" cy="383695"/>
          </a:xfrm>
          <a:prstGeom prst="rect">
            <a:avLst/>
          </a:prstGeom>
          <a:ln w="12700">
            <a:miter lim="400000"/>
          </a:ln>
          <a:effectLst>
            <a:outerShdw blurRad="127000" dir="5400000" rotWithShape="0">
              <a:srgbClr val="FFFFFF"/>
            </a:outerShdw>
          </a:effectLst>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1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Helvetica"/>
                <a:ea typeface="Helvetica"/>
                <a:cs typeface="Helvetica"/>
                <a:sym typeface="Helvetica"/>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1800" dirty="0">
                <a:latin typeface="Cambria"/>
                <a:ea typeface="Cambria"/>
              </a:rPr>
              <a:t>Bluetooth</a:t>
            </a:r>
            <a:endParaRPr lang="en-US" sz="1800">
              <a:latin typeface="Cambria"/>
              <a:ea typeface="Cambria"/>
            </a:endParaRPr>
          </a:p>
        </p:txBody>
      </p:sp>
      <p:sp>
        <p:nvSpPr>
          <p:cNvPr id="6" name="Wireless Charging">
            <a:extLst>
              <a:ext uri="{FF2B5EF4-FFF2-40B4-BE49-F238E27FC236}">
                <a16:creationId xmlns:a16="http://schemas.microsoft.com/office/drawing/2014/main" id="{7894F1D1-49DC-0EF0-95D9-A0DB69A6EB39}"/>
              </a:ext>
            </a:extLst>
          </p:cNvPr>
          <p:cNvSpPr txBox="1"/>
          <p:nvPr/>
        </p:nvSpPr>
        <p:spPr>
          <a:xfrm>
            <a:off x="9132565" y="2233223"/>
            <a:ext cx="1804577" cy="688394"/>
          </a:xfrm>
          <a:prstGeom prst="rect">
            <a:avLst/>
          </a:prstGeom>
          <a:ln w="12700">
            <a:miter lim="400000"/>
          </a:ln>
          <a:effectLst>
            <a:outerShdw blurRad="127000" dir="5400000" rotWithShape="0">
              <a:srgbClr val="FFFFFF"/>
            </a:outerShdw>
          </a:effectLst>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1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Helvetica"/>
                <a:ea typeface="Helvetica"/>
                <a:cs typeface="Helvetica"/>
                <a:sym typeface="Helvetica"/>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1800" dirty="0">
                <a:latin typeface="Cambria"/>
                <a:ea typeface="Cambria"/>
              </a:rPr>
              <a:t>Wireless Charging</a:t>
            </a:r>
            <a:endParaRPr lang="en-US" sz="1800">
              <a:latin typeface="Cambria"/>
              <a:ea typeface="Cambria"/>
            </a:endParaRPr>
          </a:p>
        </p:txBody>
      </p:sp>
      <p:sp>
        <p:nvSpPr>
          <p:cNvPr id="7" name="Battery">
            <a:extLst>
              <a:ext uri="{FF2B5EF4-FFF2-40B4-BE49-F238E27FC236}">
                <a16:creationId xmlns:a16="http://schemas.microsoft.com/office/drawing/2014/main" id="{B034D9F9-791F-9E60-ECE6-75162852A064}"/>
              </a:ext>
            </a:extLst>
          </p:cNvPr>
          <p:cNvSpPr txBox="1"/>
          <p:nvPr/>
        </p:nvSpPr>
        <p:spPr>
          <a:xfrm>
            <a:off x="7951723" y="2918341"/>
            <a:ext cx="1422388" cy="383695"/>
          </a:xfrm>
          <a:prstGeom prst="rect">
            <a:avLst/>
          </a:prstGeom>
          <a:ln w="12700">
            <a:miter lim="400000"/>
          </a:ln>
          <a:effectLst>
            <a:outerShdw blurRad="127000" dir="5400000" rotWithShape="0">
              <a:srgbClr val="FFFFFF"/>
            </a:outerShdw>
          </a:effectLst>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1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Helvetica"/>
                <a:ea typeface="Helvetica"/>
                <a:cs typeface="Helvetica"/>
                <a:sym typeface="Helvetica"/>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1800" dirty="0">
                <a:latin typeface="Cambria"/>
                <a:ea typeface="Cambria"/>
              </a:rPr>
              <a:t>Battery</a:t>
            </a:r>
            <a:endParaRPr lang="en-US" sz="1800">
              <a:latin typeface="Cambria"/>
              <a:ea typeface="Cambria"/>
            </a:endParaRPr>
          </a:p>
        </p:txBody>
      </p:sp>
      <p:sp>
        <p:nvSpPr>
          <p:cNvPr id="8" name="IMU (accellerometer, gyroscope, magnetometer)">
            <a:extLst>
              <a:ext uri="{FF2B5EF4-FFF2-40B4-BE49-F238E27FC236}">
                <a16:creationId xmlns:a16="http://schemas.microsoft.com/office/drawing/2014/main" id="{20B43AB6-B5A0-DC12-1F24-4C3B0D52CDD7}"/>
              </a:ext>
            </a:extLst>
          </p:cNvPr>
          <p:cNvSpPr txBox="1"/>
          <p:nvPr/>
        </p:nvSpPr>
        <p:spPr>
          <a:xfrm>
            <a:off x="4122578" y="2918959"/>
            <a:ext cx="3688227" cy="688394"/>
          </a:xfrm>
          <a:prstGeom prst="rect">
            <a:avLst/>
          </a:prstGeom>
          <a:ln w="12700">
            <a:miter lim="400000"/>
          </a:ln>
          <a:effectLst>
            <a:outerShdw blurRad="127000" dir="5400000" rotWithShape="0">
              <a:srgbClr val="FFFFFF"/>
            </a:outerShdw>
          </a:effectLst>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584200" rtl="0" fontAlgn="auto" latinLnBrk="0" hangingPunct="0">
              <a:lnSpc>
                <a:spcPct val="11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Helvetica"/>
                <a:ea typeface="Helvetica"/>
                <a:cs typeface="Helvetica"/>
                <a:sym typeface="Helvetica"/>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1800" dirty="0">
                <a:latin typeface="Cambria"/>
                <a:ea typeface="Cambria"/>
              </a:rPr>
              <a:t>IMU (</a:t>
            </a:r>
            <a:r>
              <a:rPr lang="en-US" sz="1800" dirty="0">
                <a:latin typeface="Cambria"/>
                <a:ea typeface="Cambria"/>
              </a:rPr>
              <a:t>accelerometer</a:t>
            </a:r>
            <a:r>
              <a:rPr sz="1800" dirty="0">
                <a:latin typeface="Cambria"/>
                <a:ea typeface="Cambria"/>
              </a:rPr>
              <a:t>, gyroscope, magnetometer)</a:t>
            </a:r>
            <a:endParaRPr lang="en-US" sz="1800">
              <a:latin typeface="Cambria"/>
              <a:ea typeface="Cambria"/>
            </a:endParaRPr>
          </a:p>
        </p:txBody>
      </p:sp>
      <p:sp>
        <p:nvSpPr>
          <p:cNvPr id="9" name="Technology Partner: Stappone">
            <a:extLst>
              <a:ext uri="{FF2B5EF4-FFF2-40B4-BE49-F238E27FC236}">
                <a16:creationId xmlns:a16="http://schemas.microsoft.com/office/drawing/2014/main" id="{58296727-9BE3-EDAB-F7ED-CF1EC55853AD}"/>
              </a:ext>
            </a:extLst>
          </p:cNvPr>
          <p:cNvSpPr txBox="1"/>
          <p:nvPr/>
        </p:nvSpPr>
        <p:spPr>
          <a:xfrm>
            <a:off x="5654121" y="6354404"/>
            <a:ext cx="5110614" cy="3832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584200" rtl="0" fontAlgn="auto" latinLnBrk="0" hangingPunct="0">
              <a:lnSpc>
                <a:spcPct val="11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lvl9pPr>
          </a:lstStyle>
          <a:p>
            <a:r>
              <a:rPr sz="1800" dirty="0">
                <a:latin typeface="Cambria"/>
                <a:ea typeface="Cambria"/>
              </a:rPr>
              <a:t>Technology Partner: </a:t>
            </a:r>
            <a:r>
              <a:rPr sz="1800" dirty="0" err="1">
                <a:latin typeface="Cambria"/>
                <a:ea typeface="Cambria"/>
              </a:rPr>
              <a:t>Stappone</a:t>
            </a:r>
            <a:endParaRPr lang="en-US" sz="1800">
              <a:latin typeface="Cambria"/>
              <a:ea typeface="Cambria"/>
            </a:endParaRPr>
          </a:p>
        </p:txBody>
      </p:sp>
    </p:spTree>
    <p:extLst>
      <p:ext uri="{BB962C8B-B14F-4D97-AF65-F5344CB8AC3E}">
        <p14:creationId xmlns:p14="http://schemas.microsoft.com/office/powerpoint/2010/main" val="259045842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4CAF50"/>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THE INSTRUMENT</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From footstep to data</a:t>
            </a:r>
            <a:endParaRPr lang="en-US" sz="3000" dirty="0"/>
          </a:p>
        </p:txBody>
      </p:sp>
      <p:sp>
        <p:nvSpPr>
          <p:cNvPr id="6" name="Text 4"/>
          <p:cNvSpPr txBox="1"/>
          <p:nvPr/>
        </p:nvSpPr>
        <p:spPr>
          <a:xfrm>
            <a:off x="640080" y="1691640"/>
            <a:ext cx="10881360" cy="45720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Each step is recorded on the insole as 12 pressure channels + IMU, synced over Bluetooth, then exported as CSV (sole_id, timestamp, sv1-12, acc_x/y/z).</a:t>
            </a:r>
            <a:endParaRPr lang="en-US" sz="1400" dirty="0"/>
          </a:p>
        </p:txBody>
      </p:sp>
      <p:sp>
        <p:nvSpPr>
          <p:cNvPr id="7" name="Shape 5"/>
          <p:cNvSpPr/>
          <p:nvPr/>
        </p:nvSpPr>
        <p:spPr>
          <a:xfrm>
            <a:off x="640080" y="2240280"/>
            <a:ext cx="5623560" cy="3429000"/>
          </a:xfrm>
          <a:prstGeom prst="roundRect">
            <a:avLst>
              <a:gd name="adj" fmla="val 1333"/>
            </a:avLst>
          </a:prstGeom>
          <a:solidFill>
            <a:srgbClr val="FFFFFF"/>
          </a:solidFill>
          <a:ln w="12700">
            <a:solidFill>
              <a:srgbClr val="DCE3E1"/>
            </a:solidFill>
            <a:prstDash val="solid"/>
          </a:ln>
        </p:spPr>
      </p:sp>
      <p:pic>
        <p:nvPicPr>
          <p:cNvPr id="8" name="Image 0" descr="/mnt/user-data/uploads/lineplot.png"/>
          <p:cNvPicPr>
            <a:picLocks noChangeAspect="1"/>
          </p:cNvPicPr>
          <p:nvPr/>
        </p:nvPicPr>
        <p:blipFill>
          <a:blip r:embed="rId3"/>
          <a:stretch>
            <a:fillRect/>
          </a:stretch>
        </p:blipFill>
        <p:spPr>
          <a:xfrm>
            <a:off x="1434195" y="2386584"/>
            <a:ext cx="4035329" cy="2843784"/>
          </a:xfrm>
          <a:prstGeom prst="rect">
            <a:avLst/>
          </a:prstGeom>
        </p:spPr>
      </p:pic>
      <p:sp>
        <p:nvSpPr>
          <p:cNvPr id="9" name="Text 6"/>
          <p:cNvSpPr txBox="1"/>
          <p:nvPr/>
        </p:nvSpPr>
        <p:spPr>
          <a:xfrm>
            <a:off x="640080" y="5394960"/>
            <a:ext cx="5623560"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pressure over time — left (blue) vs right (red), one panel per sensor</a:t>
            </a:r>
            <a:endParaRPr lang="en-US" sz="1050" dirty="0"/>
          </a:p>
        </p:txBody>
      </p:sp>
      <p:sp>
        <p:nvSpPr>
          <p:cNvPr id="10" name="Shape 7"/>
          <p:cNvSpPr/>
          <p:nvPr/>
        </p:nvSpPr>
        <p:spPr>
          <a:xfrm>
            <a:off x="6400800" y="2240280"/>
            <a:ext cx="5148072" cy="3429000"/>
          </a:xfrm>
          <a:prstGeom prst="roundRect">
            <a:avLst>
              <a:gd name="adj" fmla="val 1333"/>
            </a:avLst>
          </a:prstGeom>
          <a:solidFill>
            <a:srgbClr val="FFFFFF"/>
          </a:solidFill>
          <a:ln w="12700">
            <a:solidFill>
              <a:srgbClr val="DCE3E1"/>
            </a:solidFill>
            <a:prstDash val="solid"/>
          </a:ln>
        </p:spPr>
      </p:sp>
      <p:pic>
        <p:nvPicPr>
          <p:cNvPr id="11" name="Image 1" descr="/mnt/user-data/uploads/heatmap.png"/>
          <p:cNvPicPr>
            <a:picLocks noChangeAspect="1"/>
          </p:cNvPicPr>
          <p:nvPr/>
        </p:nvPicPr>
        <p:blipFill>
          <a:blip r:embed="rId4"/>
          <a:stretch>
            <a:fillRect/>
          </a:stretch>
        </p:blipFill>
        <p:spPr>
          <a:xfrm>
            <a:off x="7437771" y="2386584"/>
            <a:ext cx="3074131" cy="2843784"/>
          </a:xfrm>
          <a:prstGeom prst="rect">
            <a:avLst/>
          </a:prstGeom>
        </p:spPr>
      </p:pic>
      <p:sp>
        <p:nvSpPr>
          <p:cNvPr id="12" name="Text 8"/>
          <p:cNvSpPr txBox="1"/>
          <p:nvPr/>
        </p:nvSpPr>
        <p:spPr>
          <a:xfrm>
            <a:off x="6400800" y="5394960"/>
            <a:ext cx="514807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per-sensor pressure heatmap across the recording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451"/>
        </a:solidFill>
        <a:effectLst/>
      </p:bgPr>
    </p:bg>
    <p:spTree>
      <p:nvGrpSpPr>
        <p:cNvPr id="1" name=""/>
        <p:cNvGrpSpPr/>
        <p:nvPr/>
      </p:nvGrpSpPr>
      <p:grpSpPr>
        <a:xfrm>
          <a:off x="0" y="0"/>
          <a:ext cx="0" cy="0"/>
          <a:chOff x="0" y="0"/>
          <a:chExt cx="0" cy="0"/>
        </a:xfrm>
      </p:grpSpPr>
      <p:sp>
        <p:nvSpPr>
          <p:cNvPr id="195" name="Data Collection while walking…"/>
          <p:cNvSpPr txBox="1"/>
          <p:nvPr/>
        </p:nvSpPr>
        <p:spPr>
          <a:xfrm>
            <a:off x="280144" y="205389"/>
            <a:ext cx="7803129" cy="9832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anchor="t">
            <a:spAutoFit/>
          </a:bodyPr>
          <a:lstStyle>
            <a:defPPr marL="0" marR="0" indent="0" algn="l" defTabSz="765353" rtl="0" fontAlgn="auto" latinLnBrk="1" hangingPunct="0">
              <a:lnSpc>
                <a:spcPct val="100000"/>
              </a:lnSpc>
              <a:spcBef>
                <a:spcPts val="0"/>
              </a:spcBef>
              <a:spcAft>
                <a:spcPts val="0"/>
              </a:spcAft>
              <a:buClrTx/>
              <a:buSzTx/>
              <a:buFontTx/>
              <a:buNone/>
              <a:tabLst/>
              <a:defRPr kumimoji="0" sz="1507" b="0" i="0" u="none" strike="noStrike" cap="none" spc="0" normalizeH="0" baseline="0">
                <a:ln>
                  <a:noFill/>
                </a:ln>
                <a:solidFill>
                  <a:srgbClr val="000000"/>
                </a:solidFill>
                <a:effectLst/>
                <a:uFillTx/>
              </a:defRPr>
            </a:defPPr>
            <a:lvl1pPr marL="0" marR="0" indent="0"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1pPr>
            <a:lvl2pPr marL="0" marR="0" indent="191338"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2pPr>
            <a:lvl3pPr marL="0" marR="0" indent="38267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3pPr>
            <a:lvl4pPr marL="0" marR="0" indent="574015"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4pPr>
            <a:lvl5pPr marL="0" marR="0" indent="765353"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5pPr>
            <a:lvl6pPr marL="0" marR="0" indent="956691"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6pPr>
            <a:lvl7pPr marL="0" marR="0" indent="1148029"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7pPr>
            <a:lvl8pPr marL="0" marR="0" indent="1339367"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8pPr>
            <a:lvl9pPr marL="0" marR="0" indent="153070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9pPr>
          </a:lstStyle>
          <a:p>
            <a:pPr algn="l">
              <a:lnSpc>
                <a:spcPct val="110000"/>
              </a:lnSpc>
              <a:defRPr sz="3200" b="1">
                <a:latin typeface="Helvetica"/>
                <a:ea typeface="Helvetica"/>
                <a:cs typeface="Helvetica"/>
                <a:sym typeface="Helvetica"/>
              </a:defRPr>
            </a:pPr>
            <a:r>
              <a:rPr sz="2800" dirty="0">
                <a:latin typeface="Cambria"/>
                <a:ea typeface="Cambria"/>
              </a:rPr>
              <a:t>Data Collection while walking</a:t>
            </a:r>
            <a:endParaRPr lang="en-US" sz="2800">
              <a:latin typeface="Cambria"/>
              <a:ea typeface="Cambria"/>
            </a:endParaRPr>
          </a:p>
          <a:p>
            <a:pPr algn="l">
              <a:lnSpc>
                <a:spcPct val="110000"/>
              </a:lnSpc>
              <a:defRPr sz="3200"/>
            </a:pPr>
            <a:r>
              <a:rPr sz="2800" dirty="0">
                <a:latin typeface="Cambria"/>
                <a:ea typeface="Cambria"/>
              </a:rPr>
              <a:t>on different ground conditions</a:t>
            </a:r>
          </a:p>
        </p:txBody>
      </p:sp>
      <p:pic>
        <p:nvPicPr>
          <p:cNvPr id="196" name="Asphalt.jpeg.jpeg" descr="Asphalt.jpeg.jpeg"/>
          <p:cNvPicPr>
            <a:picLocks noChangeAspect="1"/>
          </p:cNvPicPr>
          <p:nvPr/>
        </p:nvPicPr>
        <p:blipFill>
          <a:blip r:embed="rId2"/>
          <a:stretch>
            <a:fillRect/>
          </a:stretch>
        </p:blipFill>
        <p:spPr>
          <a:xfrm>
            <a:off x="282222" y="2207962"/>
            <a:ext cx="3272725" cy="4425777"/>
          </a:xfrm>
          <a:prstGeom prst="rect">
            <a:avLst/>
          </a:prstGeom>
          <a:ln w="12700">
            <a:miter lim="400000"/>
          </a:ln>
        </p:spPr>
      </p:pic>
      <p:pic>
        <p:nvPicPr>
          <p:cNvPr id="197" name="Brick.jpeg.jpeg" descr="Brick.jpeg.jpeg"/>
          <p:cNvPicPr>
            <a:picLocks noChangeAspect="1"/>
          </p:cNvPicPr>
          <p:nvPr/>
        </p:nvPicPr>
        <p:blipFill>
          <a:blip r:embed="rId3"/>
          <a:stretch>
            <a:fillRect/>
          </a:stretch>
        </p:blipFill>
        <p:spPr>
          <a:xfrm>
            <a:off x="4596601" y="1403629"/>
            <a:ext cx="2997559" cy="4058888"/>
          </a:xfrm>
          <a:prstGeom prst="rect">
            <a:avLst/>
          </a:prstGeom>
          <a:ln w="12700">
            <a:miter lim="400000"/>
          </a:ln>
        </p:spPr>
      </p:pic>
      <p:pic>
        <p:nvPicPr>
          <p:cNvPr id="198" name="Grass.jpeg.jpeg" descr="Grass.jpeg.jpeg"/>
          <p:cNvPicPr>
            <a:picLocks noChangeAspect="1"/>
          </p:cNvPicPr>
          <p:nvPr/>
        </p:nvPicPr>
        <p:blipFill>
          <a:blip r:embed="rId4"/>
          <a:stretch>
            <a:fillRect/>
          </a:stretch>
        </p:blipFill>
        <p:spPr>
          <a:xfrm>
            <a:off x="9235538" y="119518"/>
            <a:ext cx="2680059" cy="3607332"/>
          </a:xfrm>
          <a:prstGeom prst="rect">
            <a:avLst/>
          </a:prstGeom>
          <a:ln w="12700">
            <a:miter lim="400000"/>
          </a:ln>
        </p:spPr>
      </p:pic>
      <p:pic>
        <p:nvPicPr>
          <p:cNvPr id="199" name="Screenshot 2026-03-16 at 19.56.46.jpg" descr="Screenshot 2026-03-16 at 19.56.46.jpg"/>
          <p:cNvPicPr>
            <a:picLocks noChangeAspect="1"/>
          </p:cNvPicPr>
          <p:nvPr/>
        </p:nvPicPr>
        <p:blipFill>
          <a:blip r:embed="rId5"/>
          <a:stretch>
            <a:fillRect/>
          </a:stretch>
        </p:blipFill>
        <p:spPr>
          <a:xfrm>
            <a:off x="8519308" y="3908350"/>
            <a:ext cx="3363741" cy="2725389"/>
          </a:xfrm>
          <a:prstGeom prst="rect">
            <a:avLst/>
          </a:prstGeom>
          <a:ln w="12700">
            <a:miter lim="400000"/>
          </a:ln>
        </p:spPr>
      </p:pic>
    </p:spTree>
    <p:extLst>
      <p:ext uri="{BB962C8B-B14F-4D97-AF65-F5344CB8AC3E}">
        <p14:creationId xmlns:p14="http://schemas.microsoft.com/office/powerpoint/2010/main" val="353714434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D6E63"/>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DATA COLLECTION</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walk protocol</a:t>
            </a:r>
            <a:endParaRPr lang="en-US" sz="3000" dirty="0"/>
          </a:p>
        </p:txBody>
      </p:sp>
      <p:sp>
        <p:nvSpPr>
          <p:cNvPr id="6" name="Shape 4"/>
          <p:cNvSpPr/>
          <p:nvPr/>
        </p:nvSpPr>
        <p:spPr>
          <a:xfrm>
            <a:off x="640080" y="1965960"/>
            <a:ext cx="5486400" cy="1051560"/>
          </a:xfrm>
          <a:prstGeom prst="roundRect">
            <a:avLst>
              <a:gd name="adj" fmla="val 6087"/>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7" name="Shape 5"/>
          <p:cNvSpPr/>
          <p:nvPr/>
        </p:nvSpPr>
        <p:spPr>
          <a:xfrm>
            <a:off x="868680" y="2185416"/>
            <a:ext cx="603504" cy="603504"/>
          </a:xfrm>
          <a:prstGeom prst="roundRect">
            <a:avLst>
              <a:gd name="adj" fmla="val 13636"/>
            </a:avLst>
          </a:prstGeom>
          <a:solidFill>
            <a:srgbClr val="4CAF50"/>
          </a:solidFill>
          <a:ln/>
        </p:spPr>
        <p:txBody>
          <a:bodyPr/>
          <a:lstStyle/>
          <a:p>
            <a:endParaRPr/>
          </a:p>
        </p:txBody>
      </p:sp>
      <p:sp>
        <p:nvSpPr>
          <p:cNvPr id="8" name="Text 6"/>
          <p:cNvSpPr txBox="1"/>
          <p:nvPr/>
        </p:nvSpPr>
        <p:spPr>
          <a:xfrm>
            <a:off x="868680" y="2185416"/>
            <a:ext cx="603504" cy="60350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Before</a:t>
            </a:r>
            <a:endParaRPr lang="en-US" sz="1100" dirty="0"/>
          </a:p>
        </p:txBody>
      </p:sp>
      <p:sp>
        <p:nvSpPr>
          <p:cNvPr id="9" name="Text 7"/>
          <p:cNvSpPr txBox="1"/>
          <p:nvPr/>
        </p:nvSpPr>
        <p:spPr>
          <a:xfrm>
            <a:off x="1627632" y="2112264"/>
            <a:ext cx="4389120" cy="777240"/>
          </a:xfrm>
          <a:prstGeom prst="rect">
            <a:avLst/>
          </a:prstGeom>
          <a:noFill/>
          <a:ln/>
        </p:spPr>
        <p:txBody>
          <a:bodyPr wrap="square" lIns="0" tIns="0" rIns="0" bIns="0" rtlCol="0" anchor="ctr"/>
          <a:lstStyle/>
          <a:p>
            <a:pPr marL="0" indent="0" algn="l">
              <a:lnSpc>
                <a:spcPct val="108000"/>
              </a:lnSpc>
              <a:buNone/>
            </a:pPr>
            <a:r>
              <a:rPr lang="en-US" sz="1250" dirty="0">
                <a:solidFill>
                  <a:srgbClr val="1B2A30"/>
                </a:solidFill>
                <a:latin typeface="Calibri" pitchFamily="34" charset="0"/>
                <a:ea typeface="Calibri" pitchFamily="34" charset="-122"/>
                <a:cs typeface="Calibri" pitchFamily="34" charset="-120"/>
              </a:rPr>
              <a:t>log weather + start location; check the pressure map responds accurately</a:t>
            </a:r>
            <a:endParaRPr lang="en-US" sz="1250" dirty="0"/>
          </a:p>
        </p:txBody>
      </p:sp>
      <p:sp>
        <p:nvSpPr>
          <p:cNvPr id="10" name="Shape 8"/>
          <p:cNvSpPr/>
          <p:nvPr/>
        </p:nvSpPr>
        <p:spPr>
          <a:xfrm>
            <a:off x="640080" y="3136392"/>
            <a:ext cx="5486400" cy="1051560"/>
          </a:xfrm>
          <a:prstGeom prst="roundRect">
            <a:avLst>
              <a:gd name="adj" fmla="val 6087"/>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11" name="Shape 9"/>
          <p:cNvSpPr/>
          <p:nvPr/>
        </p:nvSpPr>
        <p:spPr>
          <a:xfrm>
            <a:off x="868680" y="3355848"/>
            <a:ext cx="603504" cy="603504"/>
          </a:xfrm>
          <a:prstGeom prst="roundRect">
            <a:avLst>
              <a:gd name="adj" fmla="val 13636"/>
            </a:avLst>
          </a:prstGeom>
          <a:solidFill>
            <a:srgbClr val="607D8B"/>
          </a:solidFill>
          <a:ln/>
        </p:spPr>
        <p:txBody>
          <a:bodyPr/>
          <a:lstStyle/>
          <a:p>
            <a:endParaRPr/>
          </a:p>
        </p:txBody>
      </p:sp>
      <p:sp>
        <p:nvSpPr>
          <p:cNvPr id="12" name="Text 10"/>
          <p:cNvSpPr txBox="1"/>
          <p:nvPr/>
        </p:nvSpPr>
        <p:spPr>
          <a:xfrm>
            <a:off x="868680" y="3355848"/>
            <a:ext cx="603504" cy="60350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During</a:t>
            </a:r>
            <a:endParaRPr lang="en-US" sz="1100" dirty="0"/>
          </a:p>
        </p:txBody>
      </p:sp>
      <p:sp>
        <p:nvSpPr>
          <p:cNvPr id="13" name="Text 11"/>
          <p:cNvSpPr txBox="1"/>
          <p:nvPr/>
        </p:nvSpPr>
        <p:spPr>
          <a:xfrm>
            <a:off x="1627632" y="3282696"/>
            <a:ext cx="4389120" cy="777240"/>
          </a:xfrm>
          <a:prstGeom prst="rect">
            <a:avLst/>
          </a:prstGeom>
          <a:noFill/>
          <a:ln/>
        </p:spPr>
        <p:txBody>
          <a:bodyPr wrap="square" lIns="0" tIns="0" rIns="0" bIns="0" rtlCol="0" anchor="ctr"/>
          <a:lstStyle/>
          <a:p>
            <a:pPr marL="0" indent="0" algn="l">
              <a:lnSpc>
                <a:spcPct val="108000"/>
              </a:lnSpc>
              <a:buNone/>
            </a:pPr>
            <a:r>
              <a:rPr lang="en-US" sz="1250" dirty="0">
                <a:solidFill>
                  <a:srgbClr val="1B2A30"/>
                </a:solidFill>
                <a:latin typeface="Calibri" pitchFamily="34" charset="0"/>
                <a:ea typeface="Calibri" pitchFamily="34" charset="-122"/>
                <a:cs typeface="Calibri" pitchFamily="34" charset="-120"/>
              </a:rPr>
              <a:t>3-5 min over multiple surfaces in 2-3 clean sections; avoid drains, manholes and crosswalk pads; don’t switch surface every step</a:t>
            </a:r>
            <a:endParaRPr lang="en-US" sz="1250" dirty="0"/>
          </a:p>
        </p:txBody>
      </p:sp>
      <p:sp>
        <p:nvSpPr>
          <p:cNvPr id="14" name="Shape 12"/>
          <p:cNvSpPr/>
          <p:nvPr/>
        </p:nvSpPr>
        <p:spPr>
          <a:xfrm>
            <a:off x="640080" y="4306824"/>
            <a:ext cx="5486400" cy="1051560"/>
          </a:xfrm>
          <a:prstGeom prst="roundRect">
            <a:avLst>
              <a:gd name="adj" fmla="val 6087"/>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15" name="Shape 13"/>
          <p:cNvSpPr/>
          <p:nvPr/>
        </p:nvSpPr>
        <p:spPr>
          <a:xfrm>
            <a:off x="868680" y="4526280"/>
            <a:ext cx="603504" cy="603504"/>
          </a:xfrm>
          <a:prstGeom prst="roundRect">
            <a:avLst>
              <a:gd name="adj" fmla="val 13636"/>
            </a:avLst>
          </a:prstGeom>
          <a:solidFill>
            <a:srgbClr val="8D6E63"/>
          </a:solidFill>
          <a:ln/>
        </p:spPr>
        <p:txBody>
          <a:bodyPr/>
          <a:lstStyle/>
          <a:p>
            <a:endParaRPr/>
          </a:p>
        </p:txBody>
      </p:sp>
      <p:sp>
        <p:nvSpPr>
          <p:cNvPr id="16" name="Text 14"/>
          <p:cNvSpPr txBox="1"/>
          <p:nvPr/>
        </p:nvSpPr>
        <p:spPr>
          <a:xfrm>
            <a:off x="868680" y="4526280"/>
            <a:ext cx="603504" cy="60350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After</a:t>
            </a:r>
            <a:endParaRPr lang="en-US" sz="1100" dirty="0"/>
          </a:p>
        </p:txBody>
      </p:sp>
      <p:sp>
        <p:nvSpPr>
          <p:cNvPr id="17" name="Text 15"/>
          <p:cNvSpPr txBox="1"/>
          <p:nvPr/>
        </p:nvSpPr>
        <p:spPr>
          <a:xfrm>
            <a:off x="1627632" y="4453128"/>
            <a:ext cx="4389120" cy="777240"/>
          </a:xfrm>
          <a:prstGeom prst="rect">
            <a:avLst/>
          </a:prstGeom>
          <a:noFill/>
          <a:ln/>
        </p:spPr>
        <p:txBody>
          <a:bodyPr wrap="square" lIns="0" tIns="0" rIns="0" bIns="0" rtlCol="0" anchor="ctr"/>
          <a:lstStyle/>
          <a:p>
            <a:pPr marL="0" indent="0" algn="l">
              <a:lnSpc>
                <a:spcPct val="108000"/>
              </a:lnSpc>
              <a:buNone/>
            </a:pPr>
            <a:r>
              <a:rPr lang="en-US" sz="1250" dirty="0">
                <a:solidFill>
                  <a:srgbClr val="1B2A30"/>
                </a:solidFill>
                <a:latin typeface="Calibri" pitchFamily="34" charset="0"/>
                <a:ea typeface="Calibri" pitchFamily="34" charset="-122"/>
                <a:cs typeface="Calibri" pitchFamily="34" charset="-120"/>
              </a:rPr>
              <a:t>note shoe model, end location, and any stops or irregularities</a:t>
            </a:r>
            <a:endParaRPr lang="en-US" sz="1250" dirty="0"/>
          </a:p>
        </p:txBody>
      </p:sp>
      <p:sp>
        <p:nvSpPr>
          <p:cNvPr id="18" name="Shape 16"/>
          <p:cNvSpPr/>
          <p:nvPr/>
        </p:nvSpPr>
        <p:spPr>
          <a:xfrm>
            <a:off x="6355080" y="1965960"/>
            <a:ext cx="5172626" cy="3459029"/>
          </a:xfrm>
          <a:prstGeom prst="roundRect">
            <a:avLst>
              <a:gd name="adj" fmla="val 1813"/>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19" name="Text 17"/>
          <p:cNvSpPr txBox="1"/>
          <p:nvPr/>
        </p:nvSpPr>
        <p:spPr>
          <a:xfrm>
            <a:off x="6611112" y="2167128"/>
            <a:ext cx="4754880" cy="365760"/>
          </a:xfrm>
          <a:prstGeom prst="rect">
            <a:avLst/>
          </a:prstGeom>
          <a:noFill/>
          <a:ln/>
        </p:spPr>
        <p:txBody>
          <a:bodyPr wrap="square" lIns="0" tIns="0" rIns="0" bIns="0" rtlCol="0" anchor="ctr"/>
          <a:lstStyle/>
          <a:p>
            <a:pPr marL="0" indent="0" algn="l">
              <a:buNone/>
            </a:pPr>
            <a:r>
              <a:rPr lang="en-US" sz="1600" b="1" dirty="0">
                <a:solidFill>
                  <a:srgbClr val="1B2A30"/>
                </a:solidFill>
                <a:latin typeface="Cambria" pitchFamily="34" charset="0"/>
                <a:ea typeface="Cambria" pitchFamily="34" charset="-122"/>
                <a:cs typeface="Cambria" pitchFamily="34" charset="-120"/>
              </a:rPr>
              <a:t>Four surface classes today</a:t>
            </a:r>
            <a:endParaRPr lang="en-US" sz="1600" dirty="0"/>
          </a:p>
        </p:txBody>
      </p:sp>
      <p:sp>
        <p:nvSpPr>
          <p:cNvPr id="20" name="Shape 18"/>
          <p:cNvSpPr/>
          <p:nvPr/>
        </p:nvSpPr>
        <p:spPr>
          <a:xfrm>
            <a:off x="6611112" y="2651760"/>
            <a:ext cx="274320" cy="274320"/>
          </a:xfrm>
          <a:prstGeom prst="roundRect">
            <a:avLst>
              <a:gd name="adj" fmla="val 16667"/>
            </a:avLst>
          </a:prstGeom>
          <a:solidFill>
            <a:srgbClr val="607D8B"/>
          </a:solidFill>
          <a:ln/>
        </p:spPr>
        <p:txBody>
          <a:bodyPr/>
          <a:lstStyle/>
          <a:p>
            <a:endParaRPr/>
          </a:p>
        </p:txBody>
      </p:sp>
      <p:sp>
        <p:nvSpPr>
          <p:cNvPr id="21" name="Text 19"/>
          <p:cNvSpPr txBox="1"/>
          <p:nvPr/>
        </p:nvSpPr>
        <p:spPr>
          <a:xfrm>
            <a:off x="6976872" y="2652549"/>
            <a:ext cx="4466731" cy="478367"/>
          </a:xfrm>
          <a:prstGeom prst="rect">
            <a:avLst/>
          </a:prstGeom>
          <a:noFill/>
          <a:ln/>
        </p:spPr>
        <p:txBody>
          <a:bodyPr wrap="square" lIns="0" tIns="0" rIns="0" bIns="0" rtlCol="0" anchor="ctr"/>
          <a:lstStyle/>
          <a:p>
            <a:pPr marL="0" indent="0" algn="l">
              <a:buNone/>
            </a:pPr>
            <a:r>
              <a:rPr lang="en-US" sz="1350" b="1" dirty="0">
                <a:solidFill>
                  <a:srgbClr val="1B2A30"/>
                </a:solidFill>
                <a:latin typeface="Calibri" pitchFamily="34" charset="0"/>
                <a:ea typeface="Calibri" pitchFamily="34" charset="-122"/>
                <a:cs typeface="Calibri" pitchFamily="34" charset="-120"/>
              </a:rPr>
              <a:t>paved   </a:t>
            </a:r>
            <a:r>
              <a:rPr lang="en-US" sz="1200" dirty="0">
                <a:solidFill>
                  <a:srgbClr val="6B7772"/>
                </a:solidFill>
                <a:latin typeface="Calibri" pitchFamily="34" charset="0"/>
                <a:ea typeface="Calibri" pitchFamily="34" charset="-122"/>
                <a:cs typeface="Calibri" pitchFamily="34" charset="-120"/>
              </a:rPr>
              <a:t>concrete, asphalt, even brick (continuous paved)</a:t>
            </a:r>
            <a:endParaRPr lang="en-US" sz="1350" dirty="0"/>
          </a:p>
        </p:txBody>
      </p:sp>
      <p:sp>
        <p:nvSpPr>
          <p:cNvPr id="22" name="Shape 20"/>
          <p:cNvSpPr/>
          <p:nvPr/>
        </p:nvSpPr>
        <p:spPr>
          <a:xfrm>
            <a:off x="6611112" y="3218688"/>
            <a:ext cx="274320" cy="274320"/>
          </a:xfrm>
          <a:prstGeom prst="roundRect">
            <a:avLst>
              <a:gd name="adj" fmla="val 16667"/>
            </a:avLst>
          </a:prstGeom>
          <a:solidFill>
            <a:srgbClr val="8D6E63"/>
          </a:solidFill>
          <a:ln/>
        </p:spPr>
        <p:txBody>
          <a:bodyPr/>
          <a:lstStyle/>
          <a:p>
            <a:endParaRPr/>
          </a:p>
        </p:txBody>
      </p:sp>
      <p:sp>
        <p:nvSpPr>
          <p:cNvPr id="23" name="Text 21"/>
          <p:cNvSpPr txBox="1"/>
          <p:nvPr/>
        </p:nvSpPr>
        <p:spPr>
          <a:xfrm>
            <a:off x="6976872" y="3191256"/>
            <a:ext cx="4389120" cy="457200"/>
          </a:xfrm>
          <a:prstGeom prst="rect">
            <a:avLst/>
          </a:prstGeom>
          <a:noFill/>
          <a:ln/>
        </p:spPr>
        <p:txBody>
          <a:bodyPr wrap="square" lIns="0" tIns="0" rIns="0" bIns="0" rtlCol="0" anchor="ctr"/>
          <a:lstStyle/>
          <a:p>
            <a:pPr marL="0" indent="0" algn="l">
              <a:buNone/>
            </a:pPr>
            <a:r>
              <a:rPr lang="en-US" sz="1350" b="1" dirty="0">
                <a:solidFill>
                  <a:srgbClr val="1B2A30"/>
                </a:solidFill>
                <a:latin typeface="Calibri" pitchFamily="34" charset="0"/>
                <a:ea typeface="Calibri" pitchFamily="34" charset="-122"/>
                <a:cs typeface="Calibri" pitchFamily="34" charset="-120"/>
              </a:rPr>
              <a:t>loose   </a:t>
            </a:r>
            <a:r>
              <a:rPr lang="en-US" sz="1200" dirty="0">
                <a:solidFill>
                  <a:srgbClr val="6B7772"/>
                </a:solidFill>
                <a:latin typeface="Calibri" pitchFamily="34" charset="0"/>
                <a:ea typeface="Calibri" pitchFamily="34" charset="-122"/>
                <a:cs typeface="Calibri" pitchFamily="34" charset="-120"/>
              </a:rPr>
              <a:t>dirt and compact ground (light gravel + dust)</a:t>
            </a:r>
            <a:endParaRPr lang="en-US" sz="1350" dirty="0"/>
          </a:p>
        </p:txBody>
      </p:sp>
      <p:sp>
        <p:nvSpPr>
          <p:cNvPr id="24" name="Shape 22"/>
          <p:cNvSpPr/>
          <p:nvPr/>
        </p:nvSpPr>
        <p:spPr>
          <a:xfrm>
            <a:off x="6611112" y="3785616"/>
            <a:ext cx="274320" cy="274320"/>
          </a:xfrm>
          <a:prstGeom prst="roundRect">
            <a:avLst>
              <a:gd name="adj" fmla="val 16667"/>
            </a:avLst>
          </a:prstGeom>
          <a:solidFill>
            <a:srgbClr val="4CAF50"/>
          </a:solidFill>
          <a:ln/>
        </p:spPr>
        <p:txBody>
          <a:bodyPr/>
          <a:lstStyle/>
          <a:p>
            <a:endParaRPr/>
          </a:p>
        </p:txBody>
      </p:sp>
      <p:sp>
        <p:nvSpPr>
          <p:cNvPr id="25" name="Text 23"/>
          <p:cNvSpPr txBox="1"/>
          <p:nvPr/>
        </p:nvSpPr>
        <p:spPr>
          <a:xfrm>
            <a:off x="6976872" y="3758184"/>
            <a:ext cx="4389120" cy="457200"/>
          </a:xfrm>
          <a:prstGeom prst="rect">
            <a:avLst/>
          </a:prstGeom>
          <a:noFill/>
          <a:ln/>
        </p:spPr>
        <p:txBody>
          <a:bodyPr wrap="square" lIns="0" tIns="0" rIns="0" bIns="0" rtlCol="0" anchor="ctr"/>
          <a:lstStyle/>
          <a:p>
            <a:pPr marL="0" indent="0" algn="l">
              <a:buNone/>
            </a:pPr>
            <a:r>
              <a:rPr lang="en-US" sz="1350" b="1" dirty="0">
                <a:solidFill>
                  <a:srgbClr val="1B2A30"/>
                </a:solidFill>
                <a:latin typeface="Calibri" pitchFamily="34" charset="0"/>
                <a:ea typeface="Calibri" pitchFamily="34" charset="-122"/>
                <a:cs typeface="Calibri" pitchFamily="34" charset="-120"/>
              </a:rPr>
              <a:t>grass   </a:t>
            </a:r>
            <a:r>
              <a:rPr lang="en-US" sz="1200" dirty="0">
                <a:solidFill>
                  <a:srgbClr val="6B7772"/>
                </a:solidFill>
                <a:latin typeface="Calibri" pitchFamily="34" charset="0"/>
                <a:ea typeface="Calibri" pitchFamily="34" charset="-122"/>
                <a:cs typeface="Calibri" pitchFamily="34" charset="-120"/>
              </a:rPr>
              <a:t>natural grass</a:t>
            </a:r>
            <a:endParaRPr lang="en-US" sz="1350" dirty="0"/>
          </a:p>
        </p:txBody>
      </p:sp>
      <p:sp>
        <p:nvSpPr>
          <p:cNvPr id="26" name="Rectangle 25"/>
          <p:cNvSpPr/>
          <p:nvPr/>
        </p:nvSpPr>
        <p:spPr>
          <a:xfrm>
            <a:off x="6611112" y="4352544"/>
            <a:ext cx="274320" cy="274320"/>
          </a:xfrm>
          <a:prstGeom prst="rect">
            <a:avLst/>
          </a:prstGeom>
          <a:solidFill>
            <a:srgbClr val="B04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76872" y="4325112"/>
            <a:ext cx="4389120" cy="457200"/>
          </a:xfrm>
          <a:prstGeom prst="rect">
            <a:avLst/>
          </a:prstGeom>
          <a:noFill/>
        </p:spPr>
        <p:txBody>
          <a:bodyPr wrap="square">
            <a:spAutoFit/>
          </a:bodyPr>
          <a:lstStyle/>
          <a:p>
            <a:r>
              <a:rPr sz="1300" b="1">
                <a:solidFill>
                  <a:srgbClr val="1A1A1A"/>
                </a:solidFill>
              </a:rPr>
              <a:t>modular   </a:t>
            </a:r>
            <a:r>
              <a:rPr sz="1300">
                <a:solidFill>
                  <a:srgbClr val="404040"/>
                </a:solidFill>
              </a:rPr>
              <a:t>cobblestone, uneven brick — new, collecting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451"/>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BD1EB88-2D86-F5C8-C19E-72A68C8078BD}"/>
              </a:ext>
            </a:extLst>
          </p:cNvPr>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DATA COLLECTION</a:t>
            </a:r>
            <a:endParaRPr lang="en-US" sz="1300" dirty="0"/>
          </a:p>
        </p:txBody>
      </p:sp>
      <p:sp>
        <p:nvSpPr>
          <p:cNvPr id="6" name="Text 1">
            <a:extLst>
              <a:ext uri="{FF2B5EF4-FFF2-40B4-BE49-F238E27FC236}">
                <a16:creationId xmlns:a16="http://schemas.microsoft.com/office/drawing/2014/main" id="{C1A5EF2D-5E3A-6CE1-BD68-5AC1F822A15B}"/>
              </a:ext>
            </a:extLst>
          </p:cNvPr>
          <p:cNvSpPr txBox="1"/>
          <p:nvPr/>
        </p:nvSpPr>
        <p:spPr>
          <a:xfrm>
            <a:off x="640080" y="502920"/>
            <a:ext cx="384048" cy="384048"/>
          </a:xfrm>
          <a:prstGeom prst="rect">
            <a:avLst/>
          </a:prstGeom>
          <a:solidFill>
            <a:srgbClr val="8D6E63"/>
          </a:solidFill>
          <a:ln/>
          <a:effectLst>
            <a:outerShdw blurRad="63500" dist="38100" dir="2700000">
              <a:srgbClr val="000000">
                <a:alpha val="40000"/>
              </a:srgbClr>
            </a:outerShdw>
          </a:effectLst>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0" name="Rounded Rectangle 6">
            <a:extLst>
              <a:ext uri="{FF2B5EF4-FFF2-40B4-BE49-F238E27FC236}">
                <a16:creationId xmlns:a16="http://schemas.microsoft.com/office/drawing/2014/main" id="{446DE349-1BB2-D3BE-D5E5-D85AF104AC65}"/>
              </a:ext>
            </a:extLst>
          </p:cNvPr>
          <p:cNvSpPr/>
          <p:nvPr/>
        </p:nvSpPr>
        <p:spPr>
          <a:xfrm>
            <a:off x="640080" y="1167611"/>
            <a:ext cx="11209019" cy="518055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B9BEA12-80FA-9722-C7E8-C00FB9A7CA04}"/>
              </a:ext>
            </a:extLst>
          </p:cNvPr>
          <p:cNvSpPr txBox="1"/>
          <p:nvPr/>
        </p:nvSpPr>
        <p:spPr>
          <a:xfrm>
            <a:off x="1108191" y="1539150"/>
            <a:ext cx="10396961"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Cambria"/>
                <a:ea typeface="Cambria"/>
                <a:cs typeface="Calibri"/>
              </a:rPr>
              <a:t>Walks Recorded:</a:t>
            </a:r>
            <a:r>
              <a:rPr lang="en-US" sz="3200" b="1" dirty="0">
                <a:ea typeface="Calibri"/>
                <a:cs typeface="Calibri"/>
              </a:rPr>
              <a:t> </a:t>
            </a:r>
            <a:r>
              <a:rPr lang="en-US" sz="3200" dirty="0">
                <a:solidFill>
                  <a:schemeClr val="bg2">
                    <a:lumMod val="49000"/>
                  </a:schemeClr>
                </a:solidFill>
                <a:latin typeface="Calibri Light"/>
                <a:ea typeface="Calibri Light"/>
                <a:cs typeface="Calibri Light"/>
              </a:rPr>
              <a:t>144</a:t>
            </a:r>
          </a:p>
          <a:p>
            <a:endParaRPr lang="en-US" sz="3200" b="1" dirty="0">
              <a:ea typeface="Calibri"/>
              <a:cs typeface="Calibri"/>
            </a:endParaRPr>
          </a:p>
          <a:p>
            <a:endParaRPr lang="en-US" sz="3200" b="1" dirty="0">
              <a:ea typeface="Calibri"/>
              <a:cs typeface="Calibri"/>
            </a:endParaRPr>
          </a:p>
          <a:p>
            <a:endParaRPr lang="en-US" sz="3200" b="1" dirty="0">
              <a:ea typeface="Calibri"/>
              <a:cs typeface="Calibri"/>
            </a:endParaRPr>
          </a:p>
          <a:p>
            <a:r>
              <a:rPr lang="en-US" sz="3200" b="1" dirty="0">
                <a:latin typeface="Cambria"/>
                <a:ea typeface="Cambria"/>
                <a:cs typeface="Calibri"/>
              </a:rPr>
              <a:t>Steps:</a:t>
            </a:r>
            <a:r>
              <a:rPr lang="en-US" sz="3200" b="1" dirty="0">
                <a:ea typeface="Calibri"/>
                <a:cs typeface="Calibri"/>
              </a:rPr>
              <a:t> </a:t>
            </a:r>
            <a:r>
              <a:rPr lang="en-US" sz="3200" dirty="0">
                <a:solidFill>
                  <a:schemeClr val="bg2">
                    <a:lumMod val="49000"/>
                  </a:schemeClr>
                </a:solidFill>
                <a:latin typeface="Calibri Light"/>
                <a:ea typeface="Calibri Light"/>
                <a:cs typeface="Calibri Light"/>
              </a:rPr>
              <a:t>~40,000</a:t>
            </a:r>
            <a:endParaRPr lang="en-US">
              <a:solidFill>
                <a:schemeClr val="bg2">
                  <a:lumMod val="49000"/>
                </a:schemeClr>
              </a:solidFill>
            </a:endParaRPr>
          </a:p>
          <a:p>
            <a:endParaRPr lang="en-US" sz="3200" b="1" dirty="0">
              <a:ea typeface="Calibri"/>
              <a:cs typeface="Calibri"/>
            </a:endParaRPr>
          </a:p>
          <a:p>
            <a:endParaRPr lang="en-US" sz="3200" b="1" dirty="0">
              <a:ea typeface="Calibri"/>
              <a:cs typeface="Calibri"/>
            </a:endParaRPr>
          </a:p>
          <a:p>
            <a:endParaRPr lang="en-US" sz="3200" b="1" dirty="0">
              <a:ea typeface="Calibri"/>
              <a:cs typeface="Calibri"/>
            </a:endParaRPr>
          </a:p>
          <a:p>
            <a:r>
              <a:rPr lang="en-US" sz="3200" b="1" dirty="0">
                <a:latin typeface="Cambria"/>
                <a:ea typeface="Cambria"/>
                <a:cs typeface="Calibri"/>
              </a:rPr>
              <a:t>Collection Period:</a:t>
            </a:r>
            <a:r>
              <a:rPr lang="en-US" sz="3200" b="1" dirty="0">
                <a:ea typeface="Calibri"/>
                <a:cs typeface="Calibri"/>
              </a:rPr>
              <a:t> </a:t>
            </a:r>
            <a:r>
              <a:rPr lang="en-US" sz="3200" dirty="0">
                <a:solidFill>
                  <a:schemeClr val="bg2">
                    <a:lumMod val="49000"/>
                  </a:schemeClr>
                </a:solidFill>
                <a:latin typeface="Calibri Light"/>
                <a:ea typeface="Calibri Light"/>
                <a:cs typeface="Calibri Light"/>
              </a:rPr>
              <a:t>February 2026 to present</a:t>
            </a:r>
            <a:endParaRPr lang="en-US" sz="3200" b="1" dirty="0">
              <a:solidFill>
                <a:schemeClr val="bg2">
                  <a:lumMod val="49000"/>
                </a:schemeClr>
              </a:solidFill>
              <a:latin typeface="Calibri" panose="020F0502020204030204"/>
              <a:ea typeface="Calibri"/>
              <a:cs typeface="Calibri"/>
            </a:endParaRPr>
          </a:p>
        </p:txBody>
      </p:sp>
      <p:pic>
        <p:nvPicPr>
          <p:cNvPr id="12" name="Picture 11">
            <a:extLst>
              <a:ext uri="{FF2B5EF4-FFF2-40B4-BE49-F238E27FC236}">
                <a16:creationId xmlns:a16="http://schemas.microsoft.com/office/drawing/2014/main" id="{018D463D-879D-A742-480A-0661D5AE2D22}"/>
              </a:ext>
            </a:extLst>
          </p:cNvPr>
          <p:cNvPicPr>
            <a:picLocks noChangeAspect="1"/>
          </p:cNvPicPr>
          <p:nvPr/>
        </p:nvPicPr>
        <p:blipFill>
          <a:blip r:embed="rId2"/>
          <a:stretch>
            <a:fillRect/>
          </a:stretch>
        </p:blipFill>
        <p:spPr>
          <a:xfrm>
            <a:off x="4078111" y="2354404"/>
            <a:ext cx="7429500" cy="2579580"/>
          </a:xfrm>
          <a:prstGeom prst="rect">
            <a:avLst/>
          </a:prstGeom>
        </p:spPr>
      </p:pic>
    </p:spTree>
    <p:extLst>
      <p:ext uri="{BB962C8B-B14F-4D97-AF65-F5344CB8AC3E}">
        <p14:creationId xmlns:p14="http://schemas.microsoft.com/office/powerpoint/2010/main" val="221748717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D6E63"/>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DATA COLLECTION</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dataset so far</a:t>
            </a:r>
            <a:endParaRPr lang="en-US" sz="3000" dirty="0"/>
          </a:p>
        </p:txBody>
      </p:sp>
      <p:graphicFrame>
        <p:nvGraphicFramePr>
          <p:cNvPr id="6" name="Chart 0"/>
          <p:cNvGraphicFramePr/>
          <p:nvPr/>
        </p:nvGraphicFramePr>
        <p:xfrm>
          <a:off x="640080" y="2011680"/>
          <a:ext cx="61264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995160" y="2011680"/>
            <a:ext cx="4553712" cy="3566160"/>
          </a:xfrm>
          <a:prstGeom prst="roundRect">
            <a:avLst>
              <a:gd name="adj" fmla="val 1795"/>
            </a:avLst>
          </a:prstGeom>
          <a:solidFill>
            <a:srgbClr val="0C3466"/>
          </a:solidFill>
          <a:ln/>
          <a:effectLst>
            <a:outerShdw blurRad="76200" dist="25400" dir="5400000" algn="bl" rotWithShape="0">
              <a:srgbClr val="A9B4B1">
                <a:alpha val="28000"/>
              </a:srgbClr>
            </a:outerShdw>
          </a:effectLst>
        </p:spPr>
        <p:txBody>
          <a:bodyPr/>
          <a:lstStyle/>
          <a:p>
            <a:endParaRPr/>
          </a:p>
        </p:txBody>
      </p:sp>
      <p:sp>
        <p:nvSpPr>
          <p:cNvPr id="8" name="Text 5"/>
          <p:cNvSpPr txBox="1"/>
          <p:nvPr/>
        </p:nvSpPr>
        <p:spPr>
          <a:xfrm>
            <a:off x="6995160" y="2286000"/>
            <a:ext cx="4553712"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a:ea typeface="Cambria"/>
              </a:rPr>
              <a:t>15,674</a:t>
            </a:r>
            <a:endParaRPr lang="en-US" sz="4600" dirty="0"/>
          </a:p>
        </p:txBody>
      </p:sp>
      <p:sp>
        <p:nvSpPr>
          <p:cNvPr id="9" name="Text 6"/>
          <p:cNvSpPr txBox="1"/>
          <p:nvPr/>
        </p:nvSpPr>
        <p:spPr>
          <a:xfrm>
            <a:off x="7178040" y="3127248"/>
            <a:ext cx="4187952" cy="365760"/>
          </a:xfrm>
          <a:prstGeom prst="rect">
            <a:avLst/>
          </a:prstGeom>
          <a:noFill/>
          <a:ln/>
        </p:spPr>
        <p:txBody>
          <a:bodyPr wrap="square" lIns="0" tIns="0" rIns="0" bIns="0" rtlCol="0" anchor="t"/>
          <a:lstStyle/>
          <a:p>
            <a:pPr marL="0" indent="0" algn="ctr">
              <a:buNone/>
            </a:pPr>
            <a:r>
              <a:rPr lang="en-US" sz="1300" dirty="0">
                <a:solidFill>
                  <a:srgbClr val="B9C6C2"/>
                </a:solidFill>
                <a:latin typeface="Calibri" pitchFamily="34" charset="0"/>
                <a:ea typeface="Calibri" pitchFamily="34" charset="-122"/>
                <a:cs typeface="Calibri" pitchFamily="34" charset="-120"/>
              </a:rPr>
              <a:t>labelled steps collected to date</a:t>
            </a:r>
            <a:endParaRPr lang="en-US" sz="1300" dirty="0"/>
          </a:p>
        </p:txBody>
      </p:sp>
      <p:sp>
        <p:nvSpPr>
          <p:cNvPr id="10" name="Text 3"/>
          <p:cNvSpPr txBox="1"/>
          <p:nvPr/>
        </p:nvSpPr>
        <p:spPr>
          <a:xfrm>
            <a:off x="7178040" y="3703320"/>
            <a:ext cx="4187952" cy="1737360"/>
          </a:xfrm>
          <a:prstGeom prst="rect">
            <a:avLst/>
          </a:prstGeom>
          <a:noFill/>
          <a:ln/>
        </p:spPr>
        <p:txBody>
          <a:bodyPr wrap="square" lIns="0" tIns="0" rIns="0" bIns="0" rtlCol="0" anchor="t"/>
          <a:lstStyle/>
          <a:p>
            <a:pPr marL="0" indent="0" algn="l">
              <a:lnSpc>
                <a:spcPct val="145000"/>
              </a:lnSpc>
              <a:buNone/>
            </a:pPr>
            <a:r>
              <a:rPr lang="en-US" sz="1350" dirty="0">
                <a:solidFill>
                  <a:srgbClr val="A9B4B1"/>
                </a:solidFill>
                <a:latin typeface="Calibri" pitchFamily="34" charset="0"/>
                <a:ea typeface="Calibri" pitchFamily="34" charset="-122"/>
                <a:cs typeface="Calibri" pitchFamily="34" charset="-120"/>
              </a:rPr>
              <a:t>The set now covers four walkers — Kristian, Sam, Catherine and Samantha — across four surface classes including the new modular-paved (cobblestone/uneven brick), which is early in collection.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002451"/>
        </a:solidFill>
        <a:effectLst/>
      </p:bgPr>
    </p:bg>
    <p:spTree>
      <p:nvGrpSpPr>
        <p:cNvPr id="1" name=""/>
        <p:cNvGrpSpPr/>
        <p:nvPr/>
      </p:nvGrpSpPr>
      <p:grpSpPr>
        <a:xfrm>
          <a:off x="0" y="0"/>
          <a:ext cx="0" cy="0"/>
          <a:chOff x="0" y="0"/>
          <a:chExt cx="0" cy="0"/>
        </a:xfrm>
      </p:grpSpPr>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Five models, one shared signal</a:t>
            </a:r>
            <a:endParaRPr lang="en-US" sz="3000" dirty="0"/>
          </a:p>
        </p:txBody>
      </p:sp>
      <p:sp>
        <p:nvSpPr>
          <p:cNvPr id="6" name="Text 4"/>
          <p:cNvSpPr txBox="1"/>
          <p:nvPr/>
        </p:nvSpPr>
        <p:spPr>
          <a:xfrm>
            <a:off x="640080" y="1783080"/>
            <a:ext cx="10881360" cy="64008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Every model chooses from the same set of per-step features — the shape, timing, impact and vibration of one stride. Three are supervised classifiers; two turn the signal into a continuous 0-100 score.</a:t>
            </a:r>
            <a:endParaRPr lang="en-US" sz="1400" dirty="0"/>
          </a:p>
        </p:txBody>
      </p:sp>
      <p:sp>
        <p:nvSpPr>
          <p:cNvPr id="7" name="Rounded Rectangle 6"/>
          <p:cNvSpPr/>
          <p:nvPr/>
        </p:nvSpPr>
        <p:spPr>
          <a:xfrm>
            <a:off x="640080" y="236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40080" y="2600000"/>
            <a:ext cx="820000" cy="820000"/>
          </a:xfrm>
          <a:prstGeom prst="round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grass · loose · paved</a:t>
            </a:r>
          </a:p>
        </p:txBody>
      </p:sp>
      <p:sp>
        <p:nvSpPr>
          <p:cNvPr id="9" name="TextBox 8"/>
          <p:cNvSpPr txBox="1"/>
          <p:nvPr/>
        </p:nvSpPr>
        <p:spPr>
          <a:xfrm>
            <a:off x="1880080" y="2590000"/>
            <a:ext cx="3903520" cy="360000"/>
          </a:xfrm>
          <a:prstGeom prst="rect">
            <a:avLst/>
          </a:prstGeom>
          <a:noFill/>
        </p:spPr>
        <p:txBody>
          <a:bodyPr wrap="square">
            <a:spAutoFit/>
          </a:bodyPr>
          <a:lstStyle/>
          <a:p>
            <a:r>
              <a:rPr sz="1700" b="1">
                <a:solidFill>
                  <a:srgbClr val="1A1A1A"/>
                </a:solidFill>
              </a:rPr>
              <a:t>3-class surface   </a:t>
            </a:r>
            <a:r>
              <a:rPr sz="1100" i="1">
                <a:solidFill>
                  <a:srgbClr val="4CAF50"/>
                </a:solidFill>
              </a:rPr>
              <a:t>supervised</a:t>
            </a:r>
          </a:p>
        </p:txBody>
      </p:sp>
      <p:sp>
        <p:nvSpPr>
          <p:cNvPr id="10" name="TextBox 9"/>
          <p:cNvSpPr txBox="1"/>
          <p:nvPr/>
        </p:nvSpPr>
        <p:spPr>
          <a:xfrm>
            <a:off x="1880080" y="3020000"/>
            <a:ext cx="3903520" cy="580000"/>
          </a:xfrm>
          <a:prstGeom prst="rect">
            <a:avLst/>
          </a:prstGeom>
          <a:noFill/>
        </p:spPr>
        <p:txBody>
          <a:bodyPr wrap="square">
            <a:spAutoFit/>
          </a:bodyPr>
          <a:lstStyle/>
          <a:p>
            <a:r>
              <a:rPr sz="1200">
                <a:solidFill>
                  <a:srgbClr val="555555"/>
                </a:solidFill>
              </a:rPr>
              <a:t>Predicts the surface type of each step.</a:t>
            </a:r>
          </a:p>
        </p:txBody>
      </p:sp>
      <p:sp>
        <p:nvSpPr>
          <p:cNvPr id="11" name="Rounded Rectangle 10"/>
          <p:cNvSpPr/>
          <p:nvPr/>
        </p:nvSpPr>
        <p:spPr>
          <a:xfrm>
            <a:off x="6172200" y="236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72200" y="2600000"/>
            <a:ext cx="820000" cy="820000"/>
          </a:xfrm>
          <a:prstGeom prst="roundRect">
            <a:avLst/>
          </a:prstGeom>
          <a:solidFill>
            <a:srgbClr val="607D8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soft · hard</a:t>
            </a:r>
          </a:p>
        </p:txBody>
      </p:sp>
      <p:sp>
        <p:nvSpPr>
          <p:cNvPr id="13" name="TextBox 12"/>
          <p:cNvSpPr txBox="1"/>
          <p:nvPr/>
        </p:nvSpPr>
        <p:spPr>
          <a:xfrm>
            <a:off x="7412200" y="2590000"/>
            <a:ext cx="3903520" cy="360000"/>
          </a:xfrm>
          <a:prstGeom prst="rect">
            <a:avLst/>
          </a:prstGeom>
          <a:noFill/>
        </p:spPr>
        <p:txBody>
          <a:bodyPr wrap="square">
            <a:spAutoFit/>
          </a:bodyPr>
          <a:lstStyle/>
          <a:p>
            <a:r>
              <a:rPr sz="1700" b="1">
                <a:solidFill>
                  <a:srgbClr val="1A1A1A"/>
                </a:solidFill>
              </a:rPr>
              <a:t>2-class compliance   </a:t>
            </a:r>
            <a:r>
              <a:rPr sz="1100" i="1">
                <a:solidFill>
                  <a:srgbClr val="4CAF50"/>
                </a:solidFill>
              </a:rPr>
              <a:t>supervised</a:t>
            </a:r>
          </a:p>
        </p:txBody>
      </p:sp>
      <p:sp>
        <p:nvSpPr>
          <p:cNvPr id="14" name="TextBox 13"/>
          <p:cNvSpPr txBox="1"/>
          <p:nvPr/>
        </p:nvSpPr>
        <p:spPr>
          <a:xfrm>
            <a:off x="7412200" y="3020000"/>
            <a:ext cx="3903520" cy="580000"/>
          </a:xfrm>
          <a:prstGeom prst="rect">
            <a:avLst/>
          </a:prstGeom>
          <a:noFill/>
        </p:spPr>
        <p:txBody>
          <a:bodyPr wrap="square">
            <a:spAutoFit/>
          </a:bodyPr>
          <a:lstStyle/>
          <a:p>
            <a:r>
              <a:rPr sz="1200">
                <a:solidFill>
                  <a:srgbClr val="555555"/>
                </a:solidFill>
              </a:rPr>
              <a:t>Collapses to the axis the sensor reads best.</a:t>
            </a:r>
          </a:p>
        </p:txBody>
      </p:sp>
      <p:sp>
        <p:nvSpPr>
          <p:cNvPr id="15" name="Rounded Rectangle 14"/>
          <p:cNvSpPr/>
          <p:nvPr/>
        </p:nvSpPr>
        <p:spPr>
          <a:xfrm>
            <a:off x="640080" y="381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40080" y="4050000"/>
            <a:ext cx="820000" cy="820000"/>
          </a:xfrm>
          <a:prstGeom prst="roundRect">
            <a:avLst/>
          </a:prstGeom>
          <a:solidFill>
            <a:srgbClr val="8D6E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0-100 score</a:t>
            </a:r>
          </a:p>
        </p:txBody>
      </p:sp>
      <p:sp>
        <p:nvSpPr>
          <p:cNvPr id="17" name="TextBox 16"/>
          <p:cNvSpPr txBox="1"/>
          <p:nvPr/>
        </p:nvSpPr>
        <p:spPr>
          <a:xfrm>
            <a:off x="1880080" y="4040000"/>
            <a:ext cx="3903520" cy="360000"/>
          </a:xfrm>
          <a:prstGeom prst="rect">
            <a:avLst/>
          </a:prstGeom>
          <a:noFill/>
        </p:spPr>
        <p:txBody>
          <a:bodyPr wrap="square">
            <a:spAutoFit/>
          </a:bodyPr>
          <a:lstStyle/>
          <a:p>
            <a:r>
              <a:rPr sz="1700" b="1">
                <a:solidFill>
                  <a:srgbClr val="1A1A1A"/>
                </a:solidFill>
              </a:rPr>
              <a:t>Evenness   </a:t>
            </a:r>
            <a:r>
              <a:rPr sz="1100" i="1">
                <a:solidFill>
                  <a:srgbClr val="4CAF50"/>
                </a:solidFill>
              </a:rPr>
              <a:t>unsupervised</a:t>
            </a:r>
          </a:p>
        </p:txBody>
      </p:sp>
      <p:sp>
        <p:nvSpPr>
          <p:cNvPr id="18" name="TextBox 17"/>
          <p:cNvSpPr txBox="1"/>
          <p:nvPr/>
        </p:nvSpPr>
        <p:spPr>
          <a:xfrm>
            <a:off x="1880080" y="4470000"/>
            <a:ext cx="3903520" cy="580000"/>
          </a:xfrm>
          <a:prstGeom prst="rect">
            <a:avLst/>
          </a:prstGeom>
          <a:noFill/>
        </p:spPr>
        <p:txBody>
          <a:bodyPr wrap="square">
            <a:spAutoFit/>
          </a:bodyPr>
          <a:lstStyle/>
          <a:p>
            <a:r>
              <a:rPr sz="1200">
                <a:solidFill>
                  <a:srgbClr val="555555"/>
                </a:solidFill>
              </a:rPr>
              <a:t>How regular the gait is, built with no labels.</a:t>
            </a:r>
          </a:p>
        </p:txBody>
      </p:sp>
      <p:sp>
        <p:nvSpPr>
          <p:cNvPr id="19" name="Rounded Rectangle 18"/>
          <p:cNvSpPr/>
          <p:nvPr/>
        </p:nvSpPr>
        <p:spPr>
          <a:xfrm>
            <a:off x="6172200" y="381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372200" y="4050000"/>
            <a:ext cx="820000" cy="820000"/>
          </a:xfrm>
          <a:prstGeom prst="roundRect">
            <a:avLst/>
          </a:prstGeom>
          <a:solidFill>
            <a:srgbClr val="8A9A9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P(firm) × 100</a:t>
            </a:r>
          </a:p>
        </p:txBody>
      </p:sp>
      <p:sp>
        <p:nvSpPr>
          <p:cNvPr id="21" name="TextBox 20"/>
          <p:cNvSpPr txBox="1"/>
          <p:nvPr/>
        </p:nvSpPr>
        <p:spPr>
          <a:xfrm>
            <a:off x="7412200" y="4040000"/>
            <a:ext cx="3903520" cy="360000"/>
          </a:xfrm>
          <a:prstGeom prst="rect">
            <a:avLst/>
          </a:prstGeom>
          <a:noFill/>
        </p:spPr>
        <p:txBody>
          <a:bodyPr wrap="square">
            <a:spAutoFit/>
          </a:bodyPr>
          <a:lstStyle/>
          <a:p>
            <a:r>
              <a:rPr sz="1700" b="1">
                <a:solidFill>
                  <a:srgbClr val="1A1A1A"/>
                </a:solidFill>
              </a:rPr>
              <a:t>Hardness   </a:t>
            </a:r>
            <a:r>
              <a:rPr sz="1100" i="1">
                <a:solidFill>
                  <a:srgbClr val="4CAF50"/>
                </a:solidFill>
              </a:rPr>
              <a:t>supervised</a:t>
            </a:r>
          </a:p>
        </p:txBody>
      </p:sp>
      <p:sp>
        <p:nvSpPr>
          <p:cNvPr id="22" name="TextBox 21"/>
          <p:cNvSpPr txBox="1"/>
          <p:nvPr/>
        </p:nvSpPr>
        <p:spPr>
          <a:xfrm>
            <a:off x="7412200" y="4470000"/>
            <a:ext cx="3903520" cy="580000"/>
          </a:xfrm>
          <a:prstGeom prst="rect">
            <a:avLst/>
          </a:prstGeom>
          <a:noFill/>
        </p:spPr>
        <p:txBody>
          <a:bodyPr wrap="square">
            <a:spAutoFit/>
          </a:bodyPr>
          <a:lstStyle/>
          <a:p>
            <a:r>
              <a:rPr sz="1200">
                <a:solidFill>
                  <a:srgbClr val="555555"/>
                </a:solidFill>
              </a:rPr>
              <a:t>How firm the surface is, from a logistic model.</a:t>
            </a:r>
          </a:p>
        </p:txBody>
      </p:sp>
      <p:sp>
        <p:nvSpPr>
          <p:cNvPr id="23" name="Rounded Rectangle 22"/>
          <p:cNvSpPr/>
          <p:nvPr/>
        </p:nvSpPr>
        <p:spPr>
          <a:xfrm>
            <a:off x="3406140" y="526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606140" y="5500000"/>
            <a:ext cx="820000" cy="820000"/>
          </a:xfrm>
          <a:prstGeom prst="roundRect">
            <a:avLst/>
          </a:prstGeom>
          <a:solidFill>
            <a:srgbClr val="B046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cont · mod · loose · grass</a:t>
            </a:r>
          </a:p>
        </p:txBody>
      </p:sp>
      <p:sp>
        <p:nvSpPr>
          <p:cNvPr id="25" name="TextBox 24"/>
          <p:cNvSpPr txBox="1"/>
          <p:nvPr/>
        </p:nvSpPr>
        <p:spPr>
          <a:xfrm>
            <a:off x="4646140" y="5490000"/>
            <a:ext cx="3903520" cy="360000"/>
          </a:xfrm>
          <a:prstGeom prst="rect">
            <a:avLst/>
          </a:prstGeom>
          <a:noFill/>
        </p:spPr>
        <p:txBody>
          <a:bodyPr wrap="square">
            <a:spAutoFit/>
          </a:bodyPr>
          <a:lstStyle/>
          <a:p>
            <a:r>
              <a:rPr sz="1700" b="1">
                <a:solidFill>
                  <a:srgbClr val="1A1A1A"/>
                </a:solidFill>
              </a:rPr>
              <a:t>4-class surface   </a:t>
            </a:r>
            <a:r>
              <a:rPr sz="1100" i="1">
                <a:solidFill>
                  <a:srgbClr val="4CAF50"/>
                </a:solidFill>
              </a:rPr>
              <a:t>supervised · early stage</a:t>
            </a:r>
          </a:p>
        </p:txBody>
      </p:sp>
      <p:sp>
        <p:nvSpPr>
          <p:cNvPr id="26" name="TextBox 25"/>
          <p:cNvSpPr txBox="1"/>
          <p:nvPr/>
        </p:nvSpPr>
        <p:spPr>
          <a:xfrm>
            <a:off x="4646140" y="5920000"/>
            <a:ext cx="3903520" cy="580000"/>
          </a:xfrm>
          <a:prstGeom prst="rect">
            <a:avLst/>
          </a:prstGeom>
          <a:noFill/>
        </p:spPr>
        <p:txBody>
          <a:bodyPr wrap="square">
            <a:spAutoFit/>
          </a:bodyPr>
          <a:lstStyle/>
          <a:p>
            <a:r>
              <a:rPr sz="1200">
                <a:solidFill>
                  <a:srgbClr val="555555"/>
                </a:solidFill>
              </a:rPr>
              <a:t>Splits paved into continuous vs modular (cobblestone). In data collection — early results.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What separates the surfaces</a:t>
            </a:r>
            <a:endParaRPr lang="en-US" sz="3000" dirty="0"/>
          </a:p>
        </p:txBody>
      </p:sp>
      <p:sp>
        <p:nvSpPr>
          <p:cNvPr id="6" name="Text 4"/>
          <p:cNvSpPr txBox="1"/>
          <p:nvPr/>
        </p:nvSpPr>
        <p:spPr>
          <a:xfrm>
            <a:off x="640080" y="1737360"/>
            <a:ext cx="10881360" cy="685800"/>
          </a:xfrm>
          <a:prstGeom prst="rect">
            <a:avLst/>
          </a:prstGeom>
          <a:noFill/>
          <a:ln/>
        </p:spPr>
        <p:txBody>
          <a:bodyPr wrap="square" lIns="0" tIns="0" rIns="0" bIns="0" rtlCol="0" anchor="t"/>
          <a:lstStyle/>
          <a:p>
            <a:pPr marL="0" indent="0" algn="l">
              <a:lnSpc>
                <a:spcPct val="110000"/>
              </a:lnSpc>
              <a:buNone/>
            </a:pPr>
            <a:r>
              <a:rPr lang="en-US" sz="1350" dirty="0">
                <a:solidFill>
                  <a:srgbClr val="A9B4B1"/>
                </a:solidFill>
                <a:latin typeface="Calibri" pitchFamily="34" charset="0"/>
                <a:ea typeface="Calibri" pitchFamily="34" charset="-122"/>
                <a:cs typeface="Calibri" pitchFamily="34" charset="-120"/>
              </a:rPr>
              <a:t>Each stride becomes ~48 features, and every model selects from that shared set — the 3-class model uses 36, the 2-class model uses 28, and the 4-class model is still in data collection. Ranked by how well they separate the surfaces, the strongest are step-to-step foot-tilt variation, accel jerk and gyro variability — grass (soft) sits apart from firm ground on almost all of them.</a:t>
            </a:r>
            <a:endParaRPr lang="en-US" sz="1350" dirty="0"/>
          </a:p>
        </p:txBody>
      </p:sp>
      <p:sp>
        <p:nvSpPr>
          <p:cNvPr id="7" name="Shape 5"/>
          <p:cNvSpPr/>
          <p:nvPr/>
        </p:nvSpPr>
        <p:spPr>
          <a:xfrm>
            <a:off x="640080" y="2514600"/>
            <a:ext cx="10908792" cy="3200400"/>
          </a:xfrm>
          <a:prstGeom prst="roundRect">
            <a:avLst>
              <a:gd name="adj" fmla="val 1429"/>
            </a:avLst>
          </a:prstGeom>
          <a:solidFill>
            <a:srgbClr val="FFFFFF"/>
          </a:solidFill>
          <a:ln w="12700">
            <a:solidFill>
              <a:srgbClr val="DCE3E1"/>
            </a:solidFill>
            <a:prstDash val="solid"/>
          </a:ln>
        </p:spPr>
        <p:txBody>
          <a:bodyPr/>
          <a:lstStyle/>
          <a:p>
            <a:endParaRPr/>
          </a:p>
        </p:txBody>
      </p:sp>
      <p:pic>
        <p:nvPicPr>
          <p:cNvPr id="8" name="Image 0" descr="/mnt/user-data/uploads/feature_distributions.png"/>
          <p:cNvPicPr>
            <a:picLocks noChangeAspect="1"/>
          </p:cNvPicPr>
          <p:nvPr/>
        </p:nvPicPr>
        <p:blipFill>
          <a:blip r:embed="rId3"/>
          <a:stretch>
            <a:fillRect/>
          </a:stretch>
        </p:blipFill>
        <p:spPr>
          <a:xfrm>
            <a:off x="2795421" y="2660904"/>
            <a:ext cx="6598109" cy="2615184"/>
          </a:xfrm>
          <a:prstGeom prst="rect">
            <a:avLst/>
          </a:prstGeom>
        </p:spPr>
      </p:pic>
      <p:sp>
        <p:nvSpPr>
          <p:cNvPr id="9" name="Text 6"/>
          <p:cNvSpPr txBox="1"/>
          <p:nvPr/>
        </p:nvSpPr>
        <p:spPr>
          <a:xfrm>
            <a:off x="640080" y="5440680"/>
            <a:ext cx="1090879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top class-differentiating features (ANOVA-ranked) — all four surface classes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How well the models separate surfaces</a:t>
            </a:r>
            <a:endParaRPr lang="en-US" sz="3000" dirty="0"/>
          </a:p>
        </p:txBody>
      </p:sp>
      <p:sp>
        <p:nvSpPr>
          <p:cNvPr id="6" name="Shape 4"/>
          <p:cNvSpPr/>
          <p:nvPr/>
        </p:nvSpPr>
        <p:spPr>
          <a:xfrm>
            <a:off x="640080"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8" name="Text 5"/>
          <p:cNvSpPr txBox="1"/>
          <p:nvPr/>
        </p:nvSpPr>
        <p:spPr>
          <a:xfrm>
            <a:off x="640080"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2-class · soft vs hard — 87.9%</a:t>
            </a:r>
            <a:endParaRPr lang="en-US" sz="1050" dirty="0"/>
          </a:p>
        </p:txBody>
      </p:sp>
      <p:sp>
        <p:nvSpPr>
          <p:cNvPr id="9" name="Shape 6"/>
          <p:cNvSpPr/>
          <p:nvPr/>
        </p:nvSpPr>
        <p:spPr>
          <a:xfrm>
            <a:off x="4360693"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11" name="Text 7"/>
          <p:cNvSpPr txBox="1"/>
          <p:nvPr/>
        </p:nvSpPr>
        <p:spPr>
          <a:xfrm>
            <a:off x="4360693"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3-class · grass/loose/paved — 78.7%</a:t>
            </a:r>
            <a:endParaRPr lang="en-US" sz="1050" dirty="0"/>
          </a:p>
        </p:txBody>
      </p:sp>
      <p:sp>
        <p:nvSpPr>
          <p:cNvPr id="12" name="Shape 8"/>
          <p:cNvSpPr/>
          <p:nvPr/>
        </p:nvSpPr>
        <p:spPr>
          <a:xfrm>
            <a:off x="640080" y="5029200"/>
            <a:ext cx="10908792" cy="1312051"/>
          </a:xfrm>
          <a:prstGeom prst="roundRect">
            <a:avLst>
              <a:gd name="adj" fmla="val 4444"/>
            </a:avLst>
          </a:prstGeom>
          <a:solidFill>
            <a:srgbClr val="F3F6F5"/>
          </a:solidFill>
          <a:ln/>
        </p:spPr>
        <p:txBody>
          <a:bodyPr/>
          <a:lstStyle/>
          <a:p>
            <a:endParaRPr/>
          </a:p>
        </p:txBody>
      </p:sp>
      <p:sp>
        <p:nvSpPr>
          <p:cNvPr id="13" name="Shape 9"/>
          <p:cNvSpPr/>
          <p:nvPr/>
        </p:nvSpPr>
        <p:spPr>
          <a:xfrm>
            <a:off x="914400" y="5212080"/>
            <a:ext cx="256032" cy="256032"/>
          </a:xfrm>
          <a:prstGeom prst="roundRect">
            <a:avLst>
              <a:gd name="adj" fmla="val 17857"/>
            </a:avLst>
          </a:prstGeom>
          <a:solidFill>
            <a:srgbClr val="2E7D32"/>
          </a:solidFill>
          <a:ln/>
        </p:spPr>
        <p:txBody>
          <a:bodyPr/>
          <a:lstStyle/>
          <a:p>
            <a:endParaRPr/>
          </a:p>
        </p:txBody>
      </p:sp>
      <p:sp>
        <p:nvSpPr>
          <p:cNvPr id="14" name="Text 10"/>
          <p:cNvSpPr txBox="1"/>
          <p:nvPr/>
        </p:nvSpPr>
        <p:spPr>
          <a:xfrm>
            <a:off x="128016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Soft vs. hard is the robust split</a:t>
            </a:r>
            <a:endParaRPr lang="en-US" sz="1250" dirty="0"/>
          </a:p>
        </p:txBody>
      </p:sp>
      <p:sp>
        <p:nvSpPr>
          <p:cNvPr id="15" name="Text 11"/>
          <p:cNvSpPr txBox="1"/>
          <p:nvPr/>
        </p:nvSpPr>
        <p:spPr>
          <a:xfrm>
            <a:off x="128016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88% — the sensor reads how the ground gives.</a:t>
            </a:r>
            <a:endParaRPr lang="en-US" sz="1150" dirty="0"/>
          </a:p>
        </p:txBody>
      </p:sp>
      <p:sp>
        <p:nvSpPr>
          <p:cNvPr id="16" name="Shape 12"/>
          <p:cNvSpPr/>
          <p:nvPr/>
        </p:nvSpPr>
        <p:spPr>
          <a:xfrm>
            <a:off x="4526280" y="5212080"/>
            <a:ext cx="256032" cy="256032"/>
          </a:xfrm>
          <a:prstGeom prst="roundRect">
            <a:avLst>
              <a:gd name="adj" fmla="val 17857"/>
            </a:avLst>
          </a:prstGeom>
          <a:solidFill>
            <a:srgbClr val="C0392B"/>
          </a:solidFill>
          <a:ln/>
        </p:spPr>
        <p:txBody>
          <a:bodyPr/>
          <a:lstStyle/>
          <a:p>
            <a:endParaRPr/>
          </a:p>
        </p:txBody>
      </p:sp>
      <p:sp>
        <p:nvSpPr>
          <p:cNvPr id="17" name="Text 13"/>
          <p:cNvSpPr txBox="1"/>
          <p:nvPr/>
        </p:nvSpPr>
        <p:spPr>
          <a:xfrm>
            <a:off x="489204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Loose is the hard case</a:t>
            </a:r>
            <a:endParaRPr lang="en-US" sz="1250" dirty="0"/>
          </a:p>
        </p:txBody>
      </p:sp>
      <p:sp>
        <p:nvSpPr>
          <p:cNvPr id="18" name="Text 14"/>
          <p:cNvSpPr txBox="1"/>
          <p:nvPr/>
        </p:nvSpPr>
        <p:spPr>
          <a:xfrm>
            <a:off x="489204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only 36% of loose steps are correct; most are mistaken for paved — the two firm surfaces overlap.</a:t>
            </a:r>
            <a:endParaRPr lang="en-US" sz="1150" dirty="0"/>
          </a:p>
        </p:txBody>
      </p:sp>
      <p:sp>
        <p:nvSpPr>
          <p:cNvPr id="19" name="Shape 15"/>
          <p:cNvSpPr/>
          <p:nvPr/>
        </p:nvSpPr>
        <p:spPr>
          <a:xfrm>
            <a:off x="8138160" y="5212080"/>
            <a:ext cx="256032" cy="256032"/>
          </a:xfrm>
          <a:prstGeom prst="roundRect">
            <a:avLst>
              <a:gd name="adj" fmla="val 17857"/>
            </a:avLst>
          </a:prstGeom>
          <a:solidFill>
            <a:srgbClr val="8D6E63"/>
          </a:solidFill>
          <a:ln/>
        </p:spPr>
        <p:txBody>
          <a:bodyPr/>
          <a:lstStyle/>
          <a:p>
            <a:endParaRPr/>
          </a:p>
        </p:txBody>
      </p:sp>
      <p:sp>
        <p:nvSpPr>
          <p:cNvPr id="20" name="Text 16"/>
          <p:cNvSpPr txBox="1"/>
          <p:nvPr/>
        </p:nvSpPr>
        <p:spPr>
          <a:xfrm>
            <a:off x="8503920" y="5175504"/>
            <a:ext cx="28803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Modular paved is new &amp; early</a:t>
            </a:r>
            <a:endParaRPr lang="en-US" sz="1250" dirty="0"/>
          </a:p>
        </p:txBody>
      </p:sp>
      <p:sp>
        <p:nvSpPr>
          <p:cNvPr id="21" name="Text 17"/>
          <p:cNvSpPr txBox="1"/>
          <p:nvPr/>
        </p:nvSpPr>
        <p:spPr>
          <a:xfrm>
            <a:off x="850392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the 4-class model splits out cobblestone/uneven brick; only 19% correct so far — data collection ongoing.</a:t>
            </a:r>
            <a:endParaRPr lang="en-US" sz="1150" dirty="0"/>
          </a:p>
        </p:txBody>
      </p:sp>
      <p:sp>
        <p:nvSpPr>
          <p:cNvPr id="22" name="Rounded Rectangle 21"/>
          <p:cNvSpPr/>
          <p:nvPr/>
        </p:nvSpPr>
        <p:spPr>
          <a:xfrm>
            <a:off x="8081306" y="1783080"/>
            <a:ext cx="3470613" cy="306324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creenshot 2026-09-21 095615.png"/>
          <p:cNvPicPr>
            <a:picLocks noChangeAspect="1"/>
          </p:cNvPicPr>
          <p:nvPr/>
        </p:nvPicPr>
        <p:blipFill>
          <a:blip r:embed="rId3"/>
          <a:stretch>
            <a:fillRect/>
          </a:stretch>
        </p:blipFill>
        <p:spPr>
          <a:xfrm>
            <a:off x="898994" y="1933080"/>
            <a:ext cx="2952784" cy="2333240"/>
          </a:xfrm>
          <a:prstGeom prst="rect">
            <a:avLst/>
          </a:prstGeom>
        </p:spPr>
      </p:pic>
      <p:pic>
        <p:nvPicPr>
          <p:cNvPr id="24" name="Picture 23" descr="Screenshot 2026-09-21 095537.png"/>
          <p:cNvPicPr>
            <a:picLocks noChangeAspect="1"/>
          </p:cNvPicPr>
          <p:nvPr/>
        </p:nvPicPr>
        <p:blipFill>
          <a:blip r:embed="rId4"/>
          <a:stretch>
            <a:fillRect/>
          </a:stretch>
        </p:blipFill>
        <p:spPr>
          <a:xfrm>
            <a:off x="4523847" y="1933080"/>
            <a:ext cx="3144305" cy="2333240"/>
          </a:xfrm>
          <a:prstGeom prst="rect">
            <a:avLst/>
          </a:prstGeom>
        </p:spPr>
      </p:pic>
      <p:pic>
        <p:nvPicPr>
          <p:cNvPr id="25" name="Picture 24" descr="Screenshot 2026-09-21 095721.png"/>
          <p:cNvPicPr>
            <a:picLocks noChangeAspect="1"/>
          </p:cNvPicPr>
          <p:nvPr/>
        </p:nvPicPr>
        <p:blipFill>
          <a:blip r:embed="rId5"/>
          <a:stretch>
            <a:fillRect/>
          </a:stretch>
        </p:blipFill>
        <p:spPr>
          <a:xfrm>
            <a:off x="8221306" y="2088012"/>
            <a:ext cx="3190613" cy="2023376"/>
          </a:xfrm>
          <a:prstGeom prst="rect">
            <a:avLst/>
          </a:prstGeom>
        </p:spPr>
      </p:pic>
      <p:sp>
        <p:nvSpPr>
          <p:cNvPr id="26" name="TextBox 25"/>
          <p:cNvSpPr txBox="1"/>
          <p:nvPr/>
        </p:nvSpPr>
        <p:spPr>
          <a:xfrm>
            <a:off x="8081306" y="4572000"/>
            <a:ext cx="3126177" cy="261610"/>
          </a:xfrm>
          <a:prstGeom prst="rect">
            <a:avLst/>
          </a:prstGeom>
          <a:noFill/>
        </p:spPr>
        <p:txBody>
          <a:bodyPr wrap="none" lIns="91440" tIns="45720" rIns="91440" bIns="45720" anchor="t">
            <a:spAutoFit/>
          </a:bodyPr>
          <a:lstStyle/>
          <a:p>
            <a:r>
              <a:rPr lang="en-US" sz="1100" dirty="0">
                <a:solidFill>
                  <a:srgbClr val="555555"/>
                </a:solidFill>
              </a:rPr>
              <a:t>                  </a:t>
            </a:r>
            <a:r>
              <a:rPr sz="1100" dirty="0">
                <a:solidFill>
                  <a:srgbClr val="555555"/>
                </a:solidFill>
              </a:rPr>
              <a:t>4-class · +modular paved — 76.5% (early)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same tasks with a 1D-CNN</a:t>
            </a:r>
            <a:endParaRPr lang="en-US" sz="3000" dirty="0"/>
          </a:p>
        </p:txBody>
      </p:sp>
      <p:sp>
        <p:nvSpPr>
          <p:cNvPr id="6" name="Shape 4"/>
          <p:cNvSpPr/>
          <p:nvPr/>
        </p:nvSpPr>
        <p:spPr>
          <a:xfrm>
            <a:off x="640080"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8" name="Text 5"/>
          <p:cNvSpPr txBox="1"/>
          <p:nvPr/>
        </p:nvSpPr>
        <p:spPr>
          <a:xfrm>
            <a:off x="640080"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2-class CNN · soft vs hard — 92.3%</a:t>
            </a:r>
            <a:endParaRPr lang="en-US" sz="1050" dirty="0"/>
          </a:p>
        </p:txBody>
      </p:sp>
      <p:sp>
        <p:nvSpPr>
          <p:cNvPr id="9" name="Shape 6"/>
          <p:cNvSpPr/>
          <p:nvPr/>
        </p:nvSpPr>
        <p:spPr>
          <a:xfrm>
            <a:off x="4360693"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11" name="Text 7"/>
          <p:cNvSpPr txBox="1"/>
          <p:nvPr/>
        </p:nvSpPr>
        <p:spPr>
          <a:xfrm>
            <a:off x="4360693"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3-class CNN · grass/loose/paved — 86.3%</a:t>
            </a:r>
            <a:endParaRPr lang="en-US" sz="1050" dirty="0"/>
          </a:p>
        </p:txBody>
      </p:sp>
      <p:sp>
        <p:nvSpPr>
          <p:cNvPr id="12" name="Shape 8"/>
          <p:cNvSpPr/>
          <p:nvPr/>
        </p:nvSpPr>
        <p:spPr>
          <a:xfrm>
            <a:off x="640080" y="5029200"/>
            <a:ext cx="10908792" cy="1234440"/>
          </a:xfrm>
          <a:prstGeom prst="roundRect">
            <a:avLst>
              <a:gd name="adj" fmla="val 4444"/>
            </a:avLst>
          </a:prstGeom>
          <a:solidFill>
            <a:srgbClr val="F3F6F5"/>
          </a:solidFill>
          <a:ln/>
        </p:spPr>
        <p:txBody>
          <a:bodyPr/>
          <a:lstStyle/>
          <a:p>
            <a:endParaRPr/>
          </a:p>
        </p:txBody>
      </p:sp>
      <p:sp>
        <p:nvSpPr>
          <p:cNvPr id="13" name="Shape 9"/>
          <p:cNvSpPr/>
          <p:nvPr/>
        </p:nvSpPr>
        <p:spPr>
          <a:xfrm>
            <a:off x="914400" y="5212080"/>
            <a:ext cx="256032" cy="256032"/>
          </a:xfrm>
          <a:prstGeom prst="roundRect">
            <a:avLst>
              <a:gd name="adj" fmla="val 17857"/>
            </a:avLst>
          </a:prstGeom>
          <a:solidFill>
            <a:srgbClr val="2E7D32"/>
          </a:solidFill>
          <a:ln/>
        </p:spPr>
        <p:txBody>
          <a:bodyPr/>
          <a:lstStyle/>
          <a:p>
            <a:endParaRPr/>
          </a:p>
        </p:txBody>
      </p:sp>
      <p:sp>
        <p:nvSpPr>
          <p:cNvPr id="14" name="Text 10"/>
          <p:cNvSpPr txBox="1"/>
          <p:nvPr/>
        </p:nvSpPr>
        <p:spPr>
          <a:xfrm>
            <a:off x="128016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CNN is an alternative to XGBoost</a:t>
            </a:r>
            <a:endParaRPr lang="en-US" sz="1250" dirty="0"/>
          </a:p>
        </p:txBody>
      </p:sp>
      <p:sp>
        <p:nvSpPr>
          <p:cNvPr id="15" name="Text 11"/>
          <p:cNvSpPr txBox="1"/>
          <p:nvPr/>
        </p:nvSpPr>
        <p:spPr>
          <a:xfrm>
            <a:off x="128016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A 1D-CNN reaches similar or better scores on the same step features.</a:t>
            </a:r>
            <a:endParaRPr lang="en-US" sz="1150" dirty="0"/>
          </a:p>
        </p:txBody>
      </p:sp>
      <p:sp>
        <p:nvSpPr>
          <p:cNvPr id="16" name="Shape 12"/>
          <p:cNvSpPr/>
          <p:nvPr/>
        </p:nvSpPr>
        <p:spPr>
          <a:xfrm>
            <a:off x="4526280" y="5212080"/>
            <a:ext cx="256032" cy="256032"/>
          </a:xfrm>
          <a:prstGeom prst="roundRect">
            <a:avLst>
              <a:gd name="adj" fmla="val 17857"/>
            </a:avLst>
          </a:prstGeom>
          <a:solidFill>
            <a:srgbClr val="C0392B"/>
          </a:solidFill>
          <a:ln/>
        </p:spPr>
        <p:txBody>
          <a:bodyPr/>
          <a:lstStyle/>
          <a:p>
            <a:endParaRPr/>
          </a:p>
        </p:txBody>
      </p:sp>
      <p:sp>
        <p:nvSpPr>
          <p:cNvPr id="17" name="Text 13"/>
          <p:cNvSpPr txBox="1"/>
          <p:nvPr/>
        </p:nvSpPr>
        <p:spPr>
          <a:xfrm>
            <a:off x="489204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Not directly comparable to XGBoost</a:t>
            </a:r>
            <a:endParaRPr lang="en-US" sz="1250" dirty="0"/>
          </a:p>
        </p:txBody>
      </p:sp>
      <p:sp>
        <p:nvSpPr>
          <p:cNvPr id="18" name="Text 14"/>
          <p:cNvSpPr txBox="1"/>
          <p:nvPr/>
        </p:nvSpPr>
        <p:spPr>
          <a:xfrm>
            <a:off x="489204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CNN numbers use grouped (leave-user-out) CV; the XGBoost figures do not, so the accuracies are not head-to-head.</a:t>
            </a:r>
            <a:endParaRPr lang="en-US" sz="1150" dirty="0"/>
          </a:p>
        </p:txBody>
      </p:sp>
      <p:sp>
        <p:nvSpPr>
          <p:cNvPr id="19" name="Shape 15"/>
          <p:cNvSpPr/>
          <p:nvPr/>
        </p:nvSpPr>
        <p:spPr>
          <a:xfrm>
            <a:off x="8138160" y="5212080"/>
            <a:ext cx="256032" cy="256032"/>
          </a:xfrm>
          <a:prstGeom prst="roundRect">
            <a:avLst>
              <a:gd name="adj" fmla="val 17857"/>
            </a:avLst>
          </a:prstGeom>
          <a:solidFill>
            <a:srgbClr val="8D6E63"/>
          </a:solidFill>
          <a:ln/>
        </p:spPr>
        <p:txBody>
          <a:bodyPr/>
          <a:lstStyle/>
          <a:p>
            <a:endParaRPr/>
          </a:p>
        </p:txBody>
      </p:sp>
      <p:sp>
        <p:nvSpPr>
          <p:cNvPr id="20" name="Text 16"/>
          <p:cNvSpPr txBox="1"/>
          <p:nvPr/>
        </p:nvSpPr>
        <p:spPr>
          <a:xfrm>
            <a:off x="8503920" y="5175504"/>
            <a:ext cx="28803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Modular paved is new &amp; early</a:t>
            </a:r>
            <a:endParaRPr lang="en-US" sz="1250" dirty="0"/>
          </a:p>
        </p:txBody>
      </p:sp>
      <p:sp>
        <p:nvSpPr>
          <p:cNvPr id="21" name="Text 17"/>
          <p:cNvSpPr txBox="1"/>
          <p:nvPr/>
        </p:nvSpPr>
        <p:spPr>
          <a:xfrm>
            <a:off x="850392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loose still confuses with paved and modular paved is data-starved — the CNN does not fix these.</a:t>
            </a:r>
            <a:endParaRPr lang="en-US" sz="1150" dirty="0"/>
          </a:p>
        </p:txBody>
      </p:sp>
      <p:sp>
        <p:nvSpPr>
          <p:cNvPr id="22" name="Rounded Rectangle 21"/>
          <p:cNvSpPr/>
          <p:nvPr/>
        </p:nvSpPr>
        <p:spPr>
          <a:xfrm>
            <a:off x="8081306" y="1783080"/>
            <a:ext cx="3470613" cy="306324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creenshot 2026-09-21 095615.png"/>
          <p:cNvPicPr>
            <a:picLocks noChangeAspect="1"/>
          </p:cNvPicPr>
          <p:nvPr/>
        </p:nvPicPr>
        <p:blipFill>
          <a:blip r:embed="rId2"/>
          <a:stretch>
            <a:fillRect/>
          </a:stretch>
        </p:blipFill>
        <p:spPr>
          <a:xfrm>
            <a:off x="1026427" y="1933080"/>
            <a:ext cx="2697919" cy="2333240"/>
          </a:xfrm>
          <a:prstGeom prst="rect">
            <a:avLst/>
          </a:prstGeom>
        </p:spPr>
      </p:pic>
      <p:pic>
        <p:nvPicPr>
          <p:cNvPr id="24" name="Picture 23" descr="Screenshot 2026-09-21 095537.png"/>
          <p:cNvPicPr>
            <a:picLocks noChangeAspect="1"/>
          </p:cNvPicPr>
          <p:nvPr/>
        </p:nvPicPr>
        <p:blipFill>
          <a:blip r:embed="rId3"/>
          <a:stretch>
            <a:fillRect/>
          </a:stretch>
        </p:blipFill>
        <p:spPr>
          <a:xfrm>
            <a:off x="4748580" y="1933080"/>
            <a:ext cx="2694839" cy="2333240"/>
          </a:xfrm>
          <a:prstGeom prst="rect">
            <a:avLst/>
          </a:prstGeom>
        </p:spPr>
      </p:pic>
      <p:pic>
        <p:nvPicPr>
          <p:cNvPr id="25" name="Picture 24" descr="Screenshot 2026-09-21 095721.png"/>
          <p:cNvPicPr>
            <a:picLocks noChangeAspect="1"/>
          </p:cNvPicPr>
          <p:nvPr/>
        </p:nvPicPr>
        <p:blipFill>
          <a:blip r:embed="rId4"/>
          <a:stretch>
            <a:fillRect/>
          </a:stretch>
        </p:blipFill>
        <p:spPr>
          <a:xfrm>
            <a:off x="8346821" y="1933080"/>
            <a:ext cx="2939582" cy="2333240"/>
          </a:xfrm>
          <a:prstGeom prst="rect">
            <a:avLst/>
          </a:prstGeom>
        </p:spPr>
      </p:pic>
      <p:sp>
        <p:nvSpPr>
          <p:cNvPr id="26" name="TextBox 25"/>
          <p:cNvSpPr txBox="1"/>
          <p:nvPr/>
        </p:nvSpPr>
        <p:spPr>
          <a:xfrm>
            <a:off x="8081306" y="4572000"/>
            <a:ext cx="3352200" cy="261610"/>
          </a:xfrm>
          <a:prstGeom prst="rect">
            <a:avLst/>
          </a:prstGeom>
          <a:noFill/>
        </p:spPr>
        <p:txBody>
          <a:bodyPr wrap="none" lIns="91440" tIns="45720" rIns="91440" bIns="45720" anchor="t">
            <a:spAutoFit/>
          </a:bodyPr>
          <a:lstStyle/>
          <a:p>
            <a:r>
              <a:rPr lang="en-US" sz="1100" dirty="0">
                <a:solidFill>
                  <a:srgbClr val="555555"/>
                </a:solidFill>
              </a:rPr>
              <a:t>             </a:t>
            </a:r>
            <a:r>
              <a:rPr sz="1100" dirty="0">
                <a:solidFill>
                  <a:srgbClr val="555555"/>
                </a:solidFill>
              </a:rPr>
              <a:t>4-class CNN · +modular paved — 77.5% (early)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Scoring smoothness: evenness &amp; hardness</a:t>
            </a:r>
            <a:endParaRPr lang="en-US" sz="3000" dirty="0"/>
          </a:p>
        </p:txBody>
      </p:sp>
      <p:sp>
        <p:nvSpPr>
          <p:cNvPr id="6" name="Shape 4"/>
          <p:cNvSpPr/>
          <p:nvPr/>
        </p:nvSpPr>
        <p:spPr>
          <a:xfrm>
            <a:off x="640080" y="2011680"/>
            <a:ext cx="10908792" cy="3291840"/>
          </a:xfrm>
          <a:prstGeom prst="roundRect">
            <a:avLst>
              <a:gd name="adj" fmla="val 1389"/>
            </a:avLst>
          </a:prstGeom>
          <a:solidFill>
            <a:srgbClr val="FFFFFF"/>
          </a:solidFill>
          <a:ln w="12700">
            <a:solidFill>
              <a:srgbClr val="DCE3E1"/>
            </a:solidFill>
            <a:prstDash val="solid"/>
          </a:ln>
        </p:spPr>
      </p:sp>
      <p:pic>
        <p:nvPicPr>
          <p:cNvPr id="7" name="Image 0" descr="/mnt/user-data/uploads/scales_populations.png"/>
          <p:cNvPicPr>
            <a:picLocks noChangeAspect="1"/>
          </p:cNvPicPr>
          <p:nvPr/>
        </p:nvPicPr>
        <p:blipFill>
          <a:blip r:embed="rId3"/>
          <a:stretch>
            <a:fillRect/>
          </a:stretch>
        </p:blipFill>
        <p:spPr>
          <a:xfrm>
            <a:off x="1608247" y="2157984"/>
            <a:ext cx="8972459" cy="2706624"/>
          </a:xfrm>
          <a:prstGeom prst="rect">
            <a:avLst/>
          </a:prstGeom>
        </p:spPr>
      </p:pic>
      <p:sp>
        <p:nvSpPr>
          <p:cNvPr id="8" name="Text 5"/>
          <p:cNvSpPr txBox="1"/>
          <p:nvPr/>
        </p:nvSpPr>
        <p:spPr>
          <a:xfrm>
            <a:off x="640080" y="5029200"/>
            <a:ext cx="1090879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per-surface hardness &amp; evenness, and the two scores together</a:t>
            </a:r>
            <a:endParaRPr lang="en-US" sz="1050" dirty="0"/>
          </a:p>
        </p:txBody>
      </p:sp>
      <p:sp>
        <p:nvSpPr>
          <p:cNvPr id="9" name="Text 6"/>
          <p:cNvSpPr txBox="1"/>
          <p:nvPr/>
        </p:nvSpPr>
        <p:spPr>
          <a:xfrm>
            <a:off x="640080" y="5486400"/>
            <a:ext cx="10881360" cy="640080"/>
          </a:xfrm>
          <a:prstGeom prst="rect">
            <a:avLst/>
          </a:prstGeom>
          <a:noFill/>
          <a:ln/>
        </p:spPr>
        <p:txBody>
          <a:bodyPr wrap="square" lIns="0" tIns="0" rIns="0" bIns="0" rtlCol="0" anchor="t"/>
          <a:lstStyle/>
          <a:p>
            <a:pPr marL="0" indent="0" algn="l">
              <a:lnSpc>
                <a:spcPct val="110000"/>
              </a:lnSpc>
              <a:buNone/>
            </a:pPr>
            <a:r>
              <a:rPr lang="en-US" sz="1300" b="1" dirty="0">
                <a:solidFill>
                  <a:srgbClr val="FFFFFF"/>
                </a:solidFill>
                <a:latin typeface="Calibri" pitchFamily="34" charset="0"/>
                <a:ea typeface="Calibri" pitchFamily="34" charset="-122"/>
                <a:cs typeface="Calibri" pitchFamily="34" charset="-120"/>
              </a:rPr>
              <a:t>Evenness (unsupervised) and hardness (supervised P(firm)) score each step 0-100.  </a:t>
            </a:r>
            <a:r>
              <a:rPr lang="en-US" sz="1300" dirty="0">
                <a:solidFill>
                  <a:srgbClr val="A9B4B1"/>
                </a:solidFill>
                <a:latin typeface="Calibri" pitchFamily="34" charset="0"/>
                <a:ea typeface="Calibri" pitchFamily="34" charset="-122"/>
                <a:cs typeface="Calibri" pitchFamily="34" charset="-120"/>
              </a:rPr>
              <a:t>Grass is soft and uneven; firm surfaces score higher on both — but paved and loose overlap, the same limit the classifier hits.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Map data is an unreliable guide to the ground</a:t>
            </a:r>
            <a:endParaRPr lang="en-US" sz="3000" dirty="0"/>
          </a:p>
        </p:txBody>
      </p:sp>
      <p:sp>
        <p:nvSpPr>
          <p:cNvPr id="6" name="Shape 4"/>
          <p:cNvSpPr/>
          <p:nvPr/>
        </p:nvSpPr>
        <p:spPr>
          <a:xfrm>
            <a:off x="640080" y="2011680"/>
            <a:ext cx="3566160" cy="3566160"/>
          </a:xfrm>
          <a:prstGeom prst="roundRect">
            <a:avLst>
              <a:gd name="adj" fmla="val 1795"/>
            </a:avLst>
          </a:prstGeom>
          <a:solidFill>
            <a:srgbClr val="0C3466"/>
          </a:solidFill>
          <a:ln/>
          <a:effectLst>
            <a:outerShdw blurRad="76200" dist="25400" dir="5400000" algn="bl" rotWithShape="0">
              <a:srgbClr val="A9B4B1">
                <a:alpha val="28000"/>
              </a:srgbClr>
            </a:outerShdw>
          </a:effectLst>
        </p:spPr>
      </p:sp>
      <p:sp>
        <p:nvSpPr>
          <p:cNvPr id="7" name="Text 5"/>
          <p:cNvSpPr txBox="1"/>
          <p:nvPr/>
        </p:nvSpPr>
        <p:spPr>
          <a:xfrm>
            <a:off x="640080" y="2606040"/>
            <a:ext cx="3566160" cy="914400"/>
          </a:xfrm>
          <a:prstGeom prst="rect">
            <a:avLst/>
          </a:prstGeom>
          <a:noFill/>
          <a:ln/>
        </p:spPr>
        <p:txBody>
          <a:bodyPr wrap="square" lIns="0" tIns="0" rIns="0" bIns="0"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48%</a:t>
            </a:r>
            <a:endParaRPr lang="en-US" sz="5600" dirty="0"/>
          </a:p>
        </p:txBody>
      </p:sp>
      <p:sp>
        <p:nvSpPr>
          <p:cNvPr id="8" name="Text 6"/>
          <p:cNvSpPr txBox="1"/>
          <p:nvPr/>
        </p:nvSpPr>
        <p:spPr>
          <a:xfrm>
            <a:off x="868680" y="3611880"/>
            <a:ext cx="3108960" cy="914400"/>
          </a:xfrm>
          <a:prstGeom prst="rect">
            <a:avLst/>
          </a:prstGeom>
          <a:noFill/>
          <a:ln/>
        </p:spPr>
        <p:txBody>
          <a:bodyPr wrap="square" lIns="0" tIns="0" rIns="0" bIns="0" rtlCol="0" anchor="t"/>
          <a:lstStyle/>
          <a:p>
            <a:pPr marL="0" indent="0" algn="ctr">
              <a:lnSpc>
                <a:spcPct val="115000"/>
              </a:lnSpc>
              <a:buNone/>
            </a:pPr>
            <a:r>
              <a:rPr lang="en-US" sz="1300" i="1" dirty="0">
                <a:solidFill>
                  <a:srgbClr val="CBD6D2"/>
                </a:solidFill>
                <a:latin typeface="Calibri" pitchFamily="34" charset="0"/>
                <a:ea typeface="Calibri" pitchFamily="34" charset="-122"/>
                <a:cs typeface="Calibri" pitchFamily="34" charset="-120"/>
              </a:rPr>
              <a:t>of steps where the GIS map agreed with the ground truth on one walk</a:t>
            </a:r>
            <a:endParaRPr lang="en-US" sz="1300" dirty="0"/>
          </a:p>
        </p:txBody>
      </p:sp>
      <p:sp>
        <p:nvSpPr>
          <p:cNvPr id="9" name="Shape 7"/>
          <p:cNvSpPr/>
          <p:nvPr/>
        </p:nvSpPr>
        <p:spPr>
          <a:xfrm>
            <a:off x="4434840" y="2011680"/>
            <a:ext cx="7114032" cy="3566160"/>
          </a:xfrm>
          <a:prstGeom prst="roundRect">
            <a:avLst>
              <a:gd name="adj" fmla="val 1795"/>
            </a:avLst>
          </a:prstGeom>
          <a:solidFill>
            <a:srgbClr val="F3F6F5"/>
          </a:solidFill>
          <a:ln/>
          <a:effectLst>
            <a:outerShdw blurRad="76200" dist="25400" dir="5400000" algn="bl" rotWithShape="0">
              <a:srgbClr val="A9B4B1">
                <a:alpha val="28000"/>
              </a:srgbClr>
            </a:outerShdw>
          </a:effectLst>
        </p:spPr>
      </p:sp>
      <p:sp>
        <p:nvSpPr>
          <p:cNvPr id="10" name="Text 8"/>
          <p:cNvSpPr txBox="1"/>
          <p:nvPr/>
        </p:nvSpPr>
        <p:spPr>
          <a:xfrm>
            <a:off x="4709160" y="2240280"/>
            <a:ext cx="6583680" cy="411480"/>
          </a:xfrm>
          <a:prstGeom prst="rect">
            <a:avLst/>
          </a:prstGeom>
          <a:noFill/>
          <a:ln/>
        </p:spPr>
        <p:txBody>
          <a:bodyPr wrap="square" lIns="0" tIns="0" rIns="0" bIns="0" rtlCol="0" anchor="ctr"/>
          <a:lstStyle/>
          <a:p>
            <a:pPr marL="0" indent="0" algn="l">
              <a:buNone/>
            </a:pPr>
            <a:r>
              <a:rPr lang="en-US" sz="1800" b="1" dirty="0">
                <a:solidFill>
                  <a:srgbClr val="1B2A30"/>
                </a:solidFill>
                <a:latin typeface="Cambria" pitchFamily="34" charset="0"/>
                <a:ea typeface="Cambria" pitchFamily="34" charset="-122"/>
                <a:cs typeface="Cambria" pitchFamily="34" charset="-120"/>
              </a:rPr>
              <a:t>Why the map falls short</a:t>
            </a:r>
            <a:endParaRPr lang="en-US" sz="1800" dirty="0"/>
          </a:p>
        </p:txBody>
      </p:sp>
      <p:sp>
        <p:nvSpPr>
          <p:cNvPr id="17" name="Text 15"/>
          <p:cNvSpPr txBox="1"/>
          <p:nvPr/>
        </p:nvSpPr>
        <p:spPr>
          <a:xfrm>
            <a:off x="640080" y="5806440"/>
            <a:ext cx="10881360" cy="457200"/>
          </a:xfrm>
          <a:prstGeom prst="rect">
            <a:avLst/>
          </a:prstGeom>
          <a:noFill/>
          <a:ln/>
        </p:spPr>
        <p:txBody>
          <a:bodyPr wrap="square" lIns="0" tIns="0" rIns="0" bIns="0" rtlCol="0" anchor="ctr"/>
          <a:lstStyle/>
          <a:p>
            <a:pPr marL="0" indent="0" algn="l">
              <a:buNone/>
            </a:pPr>
            <a:r>
              <a:rPr lang="en-US" sz="1350" b="1" i="1" dirty="0">
                <a:solidFill>
                  <a:srgbClr val="CBD6D2"/>
                </a:solidFill>
                <a:latin typeface="Calibri" pitchFamily="34" charset="0"/>
                <a:ea typeface="Calibri" pitchFamily="34" charset="-122"/>
                <a:cs typeface="Calibri" pitchFamily="34" charset="-120"/>
              </a:rPr>
              <a:t>So the map can’t stand in for measured ground type — the case for instrumented walking.</a:t>
            </a:r>
            <a:endParaRPr lang="en-US" sz="1350" dirty="0"/>
          </a:p>
        </p:txBody>
      </p:sp>
      <p:sp>
        <p:nvSpPr>
          <p:cNvPr id="11" name="Text 3"/>
          <p:cNvSpPr txBox="1"/>
          <p:nvPr/>
        </p:nvSpPr>
        <p:spPr>
          <a:xfrm>
            <a:off x="4709160" y="2788920"/>
            <a:ext cx="6583680" cy="2377440"/>
          </a:xfrm>
          <a:prstGeom prst="rect">
            <a:avLst/>
          </a:prstGeom>
          <a:noFill/>
          <a:ln/>
        </p:spPr>
        <p:txBody>
          <a:bodyPr wrap="square" lIns="0" tIns="0" rIns="0" bIns="0" rtlCol="0" anchor="t"/>
          <a:lstStyle/>
          <a:p>
            <a:pPr marL="0" indent="0" algn="l">
              <a:lnSpc>
                <a:spcPct val="150000"/>
              </a:lnSpc>
              <a:buNone/>
            </a:pPr>
            <a:r>
              <a:rPr lang="en-US" sz="1400" dirty="0">
                <a:solidFill>
                  <a:srgbClr val="6B7772"/>
                </a:solidFill>
                <a:latin typeface="Calibri" pitchFamily="34" charset="0"/>
                <a:ea typeface="Calibri" pitchFamily="34" charset="-122"/>
                <a:cs typeface="Calibri" pitchFamily="34" charset="-120"/>
              </a:rPr>
              <a:t>Land cover is canopy-blind: it sees the tree tops rather than the path underneath. Sidewalk material comes in broad codes, with large “unknown” gaps wherever a route leaves the sidewalk grid. And the city layers lag real conditions by years, so even a surface that is recorded correctly may no longer be the surface that is there.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607D8B"/>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VISUALIZATIONS</a:t>
            </a:r>
            <a:endParaRPr lang="en-US" sz="1300" dirty="0"/>
          </a:p>
        </p:txBody>
      </p:sp>
      <p:sp>
        <p:nvSpPr>
          <p:cNvPr id="5" name="Text 3"/>
          <p:cNvSpPr txBox="1"/>
          <p:nvPr/>
        </p:nvSpPr>
        <p:spPr>
          <a:xfrm>
            <a:off x="640080" y="889282"/>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Seeing it all at once</a:t>
            </a:r>
            <a:endParaRPr lang="en-US" sz="3000" dirty="0"/>
          </a:p>
        </p:txBody>
      </p:sp>
      <p:sp>
        <p:nvSpPr>
          <p:cNvPr id="6" name="Text 4"/>
          <p:cNvSpPr txBox="1"/>
          <p:nvPr/>
        </p:nvSpPr>
        <p:spPr>
          <a:xfrm>
            <a:off x="640080" y="1437640"/>
            <a:ext cx="10881360" cy="548640"/>
          </a:xfrm>
          <a:prstGeom prst="rect">
            <a:avLst/>
          </a:prstGeom>
          <a:noFill/>
          <a:ln/>
        </p:spPr>
        <p:txBody>
          <a:bodyPr wrap="square" lIns="0" tIns="0" rIns="0" bIns="0" rtlCol="0" anchor="t"/>
          <a:lstStyle/>
          <a:p>
            <a:pPr marL="0" indent="0" algn="l">
              <a:lnSpc>
                <a:spcPct val="110000"/>
              </a:lnSpc>
              <a:buNone/>
            </a:pPr>
            <a:r>
              <a:rPr lang="en-US" sz="1350" dirty="0">
                <a:solidFill>
                  <a:srgbClr val="A9B4B1"/>
                </a:solidFill>
                <a:latin typeface="Calibri" pitchFamily="34" charset="0"/>
                <a:ea typeface="Calibri" pitchFamily="34" charset="-122"/>
                <a:cs typeface="Calibri" pitchFamily="34" charset="-120"/>
              </a:rPr>
              <a:t>Per walk, six aligned lines over the route and as a step timeline — ground truth, the GIS map, the 3-class and 2-class predictions, and the evenness &amp; hardness gradients. Hover a line to locate it on the map.</a:t>
            </a:r>
            <a:endParaRPr lang="en-US" sz="1350" dirty="0"/>
          </a:p>
        </p:txBody>
      </p:sp>
      <p:pic>
        <p:nvPicPr>
          <p:cNvPr id="8" name="Image 0" descr="/mnt/user-data/uploads/Screenshot_2026-09-01_145345.png"/>
          <p:cNvPicPr>
            <a:picLocks noChangeAspect="1"/>
          </p:cNvPicPr>
          <p:nvPr/>
        </p:nvPicPr>
        <p:blipFill>
          <a:blip r:embed="rId3"/>
          <a:stretch>
            <a:fillRect/>
          </a:stretch>
        </p:blipFill>
        <p:spPr>
          <a:xfrm>
            <a:off x="130381" y="1906525"/>
            <a:ext cx="11935246" cy="4729309"/>
          </a:xfrm>
          <a:prstGeom prst="rect">
            <a:avLst/>
          </a:prstGeom>
        </p:spPr>
      </p:pic>
      <p:sp>
        <p:nvSpPr>
          <p:cNvPr id="9" name="Text 6"/>
          <p:cNvSpPr txBox="1"/>
          <p:nvPr/>
        </p:nvSpPr>
        <p:spPr>
          <a:xfrm>
            <a:off x="640080" y="6320649"/>
            <a:ext cx="1090879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per-walk comparison map + step timeline (REC_20260519_161001)</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451"/>
        </a:solidFill>
        <a:effectLst/>
      </p:bgPr>
    </p:bg>
    <p:spTree>
      <p:nvGrpSpPr>
        <p:cNvPr id="1" name=""/>
        <p:cNvGrpSpPr/>
        <p:nvPr/>
      </p:nvGrpSpPr>
      <p:grpSpPr>
        <a:xfrm>
          <a:off x="0" y="0"/>
          <a:ext cx="0" cy="0"/>
          <a:chOff x="0" y="0"/>
          <a:chExt cx="0" cy="0"/>
        </a:xfrm>
      </p:grpSpPr>
      <p:sp>
        <p:nvSpPr>
          <p:cNvPr id="255" name="Data Traces…"/>
          <p:cNvSpPr txBox="1"/>
          <p:nvPr/>
        </p:nvSpPr>
        <p:spPr>
          <a:xfrm>
            <a:off x="273088" y="205390"/>
            <a:ext cx="4195152" cy="43010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anchor="t">
            <a:spAutoFit/>
          </a:bodyPr>
          <a:lstStyle>
            <a:defPPr marL="0" marR="0" indent="0" algn="l" defTabSz="765353" rtl="0" fontAlgn="auto" latinLnBrk="1" hangingPunct="0">
              <a:lnSpc>
                <a:spcPct val="100000"/>
              </a:lnSpc>
              <a:spcBef>
                <a:spcPts val="0"/>
              </a:spcBef>
              <a:spcAft>
                <a:spcPts val="0"/>
              </a:spcAft>
              <a:buClrTx/>
              <a:buSzTx/>
              <a:buFontTx/>
              <a:buNone/>
              <a:tabLst/>
              <a:defRPr kumimoji="0" sz="1507" b="0" i="0" u="none" strike="noStrike" cap="none" spc="0" normalizeH="0" baseline="0">
                <a:ln>
                  <a:noFill/>
                </a:ln>
                <a:solidFill>
                  <a:srgbClr val="000000"/>
                </a:solidFill>
                <a:effectLst/>
                <a:uFillTx/>
              </a:defRPr>
            </a:defPPr>
            <a:lvl1pPr marL="0" marR="0" indent="0"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1pPr>
            <a:lvl2pPr marL="0" marR="0" indent="191338"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2pPr>
            <a:lvl3pPr marL="0" marR="0" indent="38267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3pPr>
            <a:lvl4pPr marL="0" marR="0" indent="574015"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4pPr>
            <a:lvl5pPr marL="0" marR="0" indent="765353"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5pPr>
            <a:lvl6pPr marL="0" marR="0" indent="956691"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6pPr>
            <a:lvl7pPr marL="0" marR="0" indent="1148029"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7pPr>
            <a:lvl8pPr marL="0" marR="0" indent="1339367"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8pPr>
            <a:lvl9pPr marL="0" marR="0" indent="153070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9pPr>
          </a:lstStyle>
          <a:p>
            <a:pPr algn="l">
              <a:lnSpc>
                <a:spcPct val="110000"/>
              </a:lnSpc>
              <a:defRPr sz="3200" b="1">
                <a:latin typeface="Helvetica"/>
                <a:ea typeface="Helvetica"/>
                <a:cs typeface="Helvetica"/>
                <a:sym typeface="Helvetica"/>
              </a:defRPr>
            </a:pPr>
            <a:r>
              <a:rPr sz="2800" dirty="0">
                <a:latin typeface="Cambria"/>
                <a:ea typeface="Cambria"/>
              </a:rPr>
              <a:t>Data Traces</a:t>
            </a:r>
            <a:endParaRPr lang="en-US" sz="2800">
              <a:latin typeface="Cambria"/>
              <a:ea typeface="Cambria"/>
            </a:endParaRPr>
          </a:p>
          <a:p>
            <a:pPr algn="l">
              <a:lnSpc>
                <a:spcPct val="110000"/>
              </a:lnSpc>
              <a:defRPr sz="3200" b="1">
                <a:latin typeface="Helvetica"/>
                <a:ea typeface="Helvetica"/>
                <a:cs typeface="Helvetica"/>
                <a:sym typeface="Helvetica"/>
              </a:defRPr>
            </a:pPr>
            <a:endParaRPr sz="2800" dirty="0">
              <a:latin typeface="Cambria"/>
              <a:ea typeface="Cambria"/>
            </a:endParaRPr>
          </a:p>
          <a:p>
            <a:pPr algn="l">
              <a:lnSpc>
                <a:spcPct val="110000"/>
              </a:lnSpc>
              <a:defRPr sz="3200"/>
            </a:pPr>
            <a:r>
              <a:rPr sz="2800" dirty="0">
                <a:latin typeface="Cambria"/>
                <a:ea typeface="Cambria"/>
              </a:rPr>
              <a:t>Foot and biomechanics assessment as ground truth</a:t>
            </a:r>
            <a:endParaRPr sz="2800">
              <a:latin typeface="Cambria"/>
              <a:ea typeface="Cambria"/>
              <a:cs typeface="Calibri"/>
            </a:endParaRPr>
          </a:p>
          <a:p>
            <a:pPr algn="l">
              <a:lnSpc>
                <a:spcPct val="110000"/>
              </a:lnSpc>
              <a:defRPr sz="3200" b="1">
                <a:latin typeface="Helvetica"/>
                <a:ea typeface="Helvetica"/>
                <a:cs typeface="Helvetica"/>
                <a:sym typeface="Helvetica"/>
              </a:defRPr>
            </a:pPr>
            <a:endParaRPr sz="2800" dirty="0">
              <a:latin typeface="Cambria"/>
              <a:ea typeface="Cambria"/>
            </a:endParaRPr>
          </a:p>
          <a:p>
            <a:pPr algn="l">
              <a:lnSpc>
                <a:spcPct val="110000"/>
              </a:lnSpc>
              <a:defRPr sz="3200"/>
            </a:pPr>
            <a:r>
              <a:rPr sz="2800" dirty="0">
                <a:latin typeface="Cambria"/>
                <a:ea typeface="Cambria"/>
              </a:rPr>
              <a:t>Data traces mark shoe soles based on walking type</a:t>
            </a:r>
            <a:endParaRPr sz="2800">
              <a:latin typeface="Cambria"/>
              <a:ea typeface="Cambria"/>
              <a:cs typeface="Calibri"/>
            </a:endParaRPr>
          </a:p>
        </p:txBody>
      </p:sp>
      <p:pic>
        <p:nvPicPr>
          <p:cNvPr id="256" name="Eric Folmar inspecting show sole wear pattern of sensor test walker.HEIC" descr="Eric Folmar inspecting show sole wear pattern of sensor test walker.HEIC"/>
          <p:cNvPicPr>
            <a:picLocks noChangeAspect="1"/>
          </p:cNvPicPr>
          <p:nvPr/>
        </p:nvPicPr>
        <p:blipFill>
          <a:blip r:embed="rId2"/>
          <a:stretch>
            <a:fillRect/>
          </a:stretch>
        </p:blipFill>
        <p:spPr>
          <a:xfrm>
            <a:off x="5524500" y="-1"/>
            <a:ext cx="5143500" cy="6858001"/>
          </a:xfrm>
          <a:prstGeom prst="rect">
            <a:avLst/>
          </a:prstGeom>
          <a:ln w="12700">
            <a:miter lim="400000"/>
          </a:ln>
        </p:spPr>
      </p:pic>
      <p:sp>
        <p:nvSpPr>
          <p:cNvPr id="257" name="Eric Folmar examining walker feet and outsole"/>
          <p:cNvSpPr txBox="1"/>
          <p:nvPr/>
        </p:nvSpPr>
        <p:spPr>
          <a:xfrm>
            <a:off x="5601661" y="4627274"/>
            <a:ext cx="1352952" cy="20111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anchor="ctr">
            <a:spAutoFit/>
          </a:bodyPr>
          <a:lstStyle>
            <a:defPPr marL="0" marR="0" indent="0" algn="l" defTabSz="765353" rtl="0" fontAlgn="auto" latinLnBrk="1" hangingPunct="0">
              <a:lnSpc>
                <a:spcPct val="100000"/>
              </a:lnSpc>
              <a:spcBef>
                <a:spcPts val="0"/>
              </a:spcBef>
              <a:spcAft>
                <a:spcPts val="0"/>
              </a:spcAft>
              <a:buClrTx/>
              <a:buSzTx/>
              <a:buFontTx/>
              <a:buNone/>
              <a:tabLst/>
              <a:defRPr kumimoji="0" sz="1507" b="0" i="0" u="none" strike="noStrike" cap="none" spc="0" normalizeH="0" baseline="0">
                <a:ln>
                  <a:noFill/>
                </a:ln>
                <a:solidFill>
                  <a:srgbClr val="000000"/>
                </a:solidFill>
                <a:effectLst/>
                <a:uFillTx/>
              </a:defRPr>
            </a:defPPr>
            <a:lvl1pPr marL="0" marR="0" indent="0"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1pPr>
            <a:lvl2pPr marL="0" marR="0" indent="191338"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2pPr>
            <a:lvl3pPr marL="0" marR="0" indent="38267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3pPr>
            <a:lvl4pPr marL="0" marR="0" indent="574015"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4pPr>
            <a:lvl5pPr marL="0" marR="0" indent="765353"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5pPr>
            <a:lvl6pPr marL="0" marR="0" indent="956691"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6pPr>
            <a:lvl7pPr marL="0" marR="0" indent="1148029"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7pPr>
            <a:lvl8pPr marL="0" marR="0" indent="1339367"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8pPr>
            <a:lvl9pPr marL="0" marR="0" indent="153070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9pPr>
          </a:lstStyle>
          <a:p>
            <a:r>
              <a:rPr sz="2100" dirty="0">
                <a:solidFill>
                  <a:schemeClr val="tx1"/>
                </a:solidFill>
                <a:latin typeface="Cambria"/>
                <a:ea typeface="Cambria"/>
              </a:rPr>
              <a:t>Eric Folmar examining walker feet and outsole</a:t>
            </a:r>
            <a:endParaRPr lang="en-US" sz="2100">
              <a:solidFill>
                <a:schemeClr val="tx1"/>
              </a:solidFill>
              <a:latin typeface="Cambria"/>
              <a:ea typeface="Cambria"/>
            </a:endParaRPr>
          </a:p>
        </p:txBody>
      </p:sp>
    </p:spTree>
    <p:extLst>
      <p:ext uri="{BB962C8B-B14F-4D97-AF65-F5344CB8AC3E}">
        <p14:creationId xmlns:p14="http://schemas.microsoft.com/office/powerpoint/2010/main" val="101945850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451"/>
        </a:solidFill>
        <a:effectLst/>
      </p:bgPr>
    </p:bg>
    <p:spTree>
      <p:nvGrpSpPr>
        <p:cNvPr id="1" name=""/>
        <p:cNvGrpSpPr/>
        <p:nvPr/>
      </p:nvGrpSpPr>
      <p:grpSpPr>
        <a:xfrm>
          <a:off x="0" y="0"/>
          <a:ext cx="0" cy="0"/>
          <a:chOff x="0" y="0"/>
          <a:chExt cx="0" cy="0"/>
        </a:xfrm>
      </p:grpSpPr>
      <p:sp>
        <p:nvSpPr>
          <p:cNvPr id="259" name="Biomechanics Lab Data Collection"/>
          <p:cNvSpPr txBox="1"/>
          <p:nvPr/>
        </p:nvSpPr>
        <p:spPr>
          <a:xfrm>
            <a:off x="2368588" y="141890"/>
            <a:ext cx="7803129" cy="4107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anchor="t">
            <a:spAutoFit/>
          </a:bodyPr>
          <a:lstStyle>
            <a:defPPr marL="0" marR="0" indent="0" algn="l" defTabSz="765353" rtl="0" fontAlgn="auto" latinLnBrk="1" hangingPunct="0">
              <a:lnSpc>
                <a:spcPct val="100000"/>
              </a:lnSpc>
              <a:spcBef>
                <a:spcPts val="0"/>
              </a:spcBef>
              <a:spcAft>
                <a:spcPts val="0"/>
              </a:spcAft>
              <a:buClrTx/>
              <a:buSzTx/>
              <a:buFontTx/>
              <a:buNone/>
              <a:tabLst/>
              <a:defRPr kumimoji="0" sz="1507" b="0" i="0" u="none" strike="noStrike" cap="none" spc="0" normalizeH="0" baseline="0">
                <a:ln>
                  <a:noFill/>
                </a:ln>
                <a:solidFill>
                  <a:srgbClr val="000000"/>
                </a:solidFill>
                <a:effectLst/>
                <a:uFillTx/>
              </a:defRPr>
            </a:defPPr>
            <a:lvl1pPr marL="0" marR="0" indent="0"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1pPr>
            <a:lvl2pPr marL="0" marR="0" indent="191338"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2pPr>
            <a:lvl3pPr marL="0" marR="0" indent="38267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3pPr>
            <a:lvl4pPr marL="0" marR="0" indent="574015"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4pPr>
            <a:lvl5pPr marL="0" marR="0" indent="765353"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5pPr>
            <a:lvl6pPr marL="0" marR="0" indent="956691"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6pPr>
            <a:lvl7pPr marL="0" marR="0" indent="1148029"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7pPr>
            <a:lvl8pPr marL="0" marR="0" indent="1339367"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8pPr>
            <a:lvl9pPr marL="0" marR="0" indent="1530706" algn="ctr" defTabSz="488975" rtl="0" fontAlgn="auto" latinLnBrk="0" hangingPunct="0">
              <a:lnSpc>
                <a:spcPct val="100000"/>
              </a:lnSpc>
              <a:spcBef>
                <a:spcPts val="0"/>
              </a:spcBef>
              <a:spcAft>
                <a:spcPts val="0"/>
              </a:spcAft>
              <a:buClrTx/>
              <a:buSzTx/>
              <a:buFontTx/>
              <a:buNone/>
              <a:tabLst/>
              <a:defRPr kumimoji="0" sz="3013" b="0" i="0" u="none" strike="noStrike" cap="none" spc="0" normalizeH="0" baseline="0">
                <a:ln>
                  <a:noFill/>
                </a:ln>
                <a:solidFill>
                  <a:srgbClr val="FFFFFF"/>
                </a:solidFill>
                <a:effectLst/>
                <a:uFillTx/>
                <a:latin typeface="+mn-lt"/>
                <a:ea typeface="+mn-ea"/>
                <a:cs typeface="+mn-cs"/>
                <a:sym typeface="Helvetica Light"/>
              </a:defRPr>
            </a:lvl9pPr>
          </a:lstStyle>
          <a:p>
            <a:r>
              <a:rPr sz="2100" b="1" dirty="0">
                <a:solidFill>
                  <a:schemeClr val="bg1"/>
                </a:solidFill>
                <a:latin typeface="Cambria"/>
                <a:ea typeface="Cambria"/>
              </a:rPr>
              <a:t>Biomechanics Lab Data Collection</a:t>
            </a:r>
            <a:endParaRPr lang="en-US" sz="2100" b="1">
              <a:solidFill>
                <a:schemeClr val="bg1"/>
              </a:solidFill>
              <a:latin typeface="Cambria"/>
              <a:ea typeface="Cambria"/>
            </a:endParaRPr>
          </a:p>
        </p:txBody>
      </p:sp>
      <p:pic>
        <p:nvPicPr>
          <p:cNvPr id="260" name="IMG_6200.HEIC" descr="IMG_6200.HEIC"/>
          <p:cNvPicPr>
            <a:picLocks noChangeAspect="1"/>
          </p:cNvPicPr>
          <p:nvPr/>
        </p:nvPicPr>
        <p:blipFill>
          <a:blip r:embed="rId2"/>
          <a:srcRect l="17126"/>
          <a:stretch>
            <a:fillRect/>
          </a:stretch>
        </p:blipFill>
        <p:spPr>
          <a:xfrm>
            <a:off x="322478" y="4106119"/>
            <a:ext cx="2728217" cy="2462916"/>
          </a:xfrm>
          <a:prstGeom prst="rect">
            <a:avLst/>
          </a:prstGeom>
          <a:ln w="12700">
            <a:miter lim="400000"/>
          </a:ln>
        </p:spPr>
      </p:pic>
      <p:pic>
        <p:nvPicPr>
          <p:cNvPr id="261" name="Screenshot 2026-08-17 at 10.43.08.jpg" descr="Screenshot 2026-08-17 at 10.43.08.jpg"/>
          <p:cNvPicPr>
            <a:picLocks noChangeAspect="1"/>
          </p:cNvPicPr>
          <p:nvPr/>
        </p:nvPicPr>
        <p:blipFill>
          <a:blip r:embed="rId3"/>
          <a:stretch>
            <a:fillRect/>
          </a:stretch>
        </p:blipFill>
        <p:spPr>
          <a:xfrm>
            <a:off x="322478" y="654781"/>
            <a:ext cx="5177541" cy="3352713"/>
          </a:xfrm>
          <a:prstGeom prst="rect">
            <a:avLst/>
          </a:prstGeom>
          <a:ln w="12700">
            <a:miter lim="400000"/>
          </a:ln>
        </p:spPr>
      </p:pic>
      <p:pic>
        <p:nvPicPr>
          <p:cNvPr id="262" name="Screenshot 2026-08-17 at 10.49.20.jpg" descr="Screenshot 2026-08-17 at 10.49.20.jpg"/>
          <p:cNvPicPr>
            <a:picLocks noChangeAspect="1"/>
          </p:cNvPicPr>
          <p:nvPr/>
        </p:nvPicPr>
        <p:blipFill>
          <a:blip r:embed="rId4"/>
          <a:srcRect l="11915" r="35455"/>
          <a:stretch>
            <a:fillRect/>
          </a:stretch>
        </p:blipFill>
        <p:spPr>
          <a:xfrm>
            <a:off x="4731486" y="4106119"/>
            <a:ext cx="1542001" cy="2462916"/>
          </a:xfrm>
          <a:prstGeom prst="rect">
            <a:avLst/>
          </a:prstGeom>
          <a:ln w="12700">
            <a:miter lim="400000"/>
          </a:ln>
        </p:spPr>
      </p:pic>
      <p:pic>
        <p:nvPicPr>
          <p:cNvPr id="263" name="Screenshot 2026-08-17 at 10.51.18.jpg" descr="Screenshot 2026-08-17 at 10.51.18.jpg"/>
          <p:cNvPicPr>
            <a:picLocks noChangeAspect="1"/>
          </p:cNvPicPr>
          <p:nvPr/>
        </p:nvPicPr>
        <p:blipFill>
          <a:blip r:embed="rId5"/>
          <a:stretch>
            <a:fillRect/>
          </a:stretch>
        </p:blipFill>
        <p:spPr>
          <a:xfrm>
            <a:off x="6682849" y="654781"/>
            <a:ext cx="5184596" cy="3352713"/>
          </a:xfrm>
          <a:prstGeom prst="rect">
            <a:avLst/>
          </a:prstGeom>
          <a:ln w="12700">
            <a:miter lim="400000"/>
          </a:ln>
        </p:spPr>
      </p:pic>
      <p:pic>
        <p:nvPicPr>
          <p:cNvPr id="264" name="Screenshot 2026-08-17 at 10.43.56.jpg" descr="Screenshot 2026-08-17 at 10.43.56.jpg"/>
          <p:cNvPicPr>
            <a:picLocks noChangeAspect="1"/>
          </p:cNvPicPr>
          <p:nvPr/>
        </p:nvPicPr>
        <p:blipFill>
          <a:blip r:embed="rId6"/>
          <a:srcRect l="17113" t="20733" r="1398" b="7113"/>
          <a:stretch>
            <a:fillRect/>
          </a:stretch>
        </p:blipFill>
        <p:spPr>
          <a:xfrm>
            <a:off x="7636947" y="4106120"/>
            <a:ext cx="4230471" cy="2462941"/>
          </a:xfrm>
          <a:prstGeom prst="rect">
            <a:avLst/>
          </a:prstGeom>
          <a:ln w="12700">
            <a:miter lim="400000"/>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002451"/>
        </a:solidFill>
        <a:effectLst/>
      </p:bgPr>
    </p:bg>
    <p:spTree>
      <p:nvGrpSpPr>
        <p:cNvPr id="1" name=""/>
        <p:cNvGrpSpPr/>
        <p:nvPr/>
      </p:nvGrpSpPr>
      <p:grpSpPr>
        <a:xfrm>
          <a:off x="0" y="0"/>
          <a:ext cx="0" cy="0"/>
          <a:chOff x="0" y="0"/>
          <a:chExt cx="0" cy="0"/>
        </a:xfrm>
      </p:grpSpPr>
      <p:sp>
        <p:nvSpPr>
          <p:cNvPr id="2" name="Text 0"/>
          <p:cNvSpPr txBox="1"/>
          <p:nvPr/>
        </p:nvSpPr>
        <p:spPr>
          <a:xfrm>
            <a:off x="456071" y="273191"/>
            <a:ext cx="10058400" cy="8229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What’s next</a:t>
            </a:r>
            <a:endParaRPr lang="en-US" sz="3400" dirty="0"/>
          </a:p>
        </p:txBody>
      </p:sp>
      <p:sp>
        <p:nvSpPr>
          <p:cNvPr id="3" name="Oval 2"/>
          <p:cNvSpPr/>
          <p:nvPr/>
        </p:nvSpPr>
        <p:spPr>
          <a:xfrm>
            <a:off x="640080" y="1166222"/>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1</a:t>
            </a:r>
          </a:p>
        </p:txBody>
      </p:sp>
      <p:sp>
        <p:nvSpPr>
          <p:cNvPr id="4" name="TextBox 3"/>
          <p:cNvSpPr txBox="1"/>
          <p:nvPr/>
        </p:nvSpPr>
        <p:spPr>
          <a:xfrm>
            <a:off x="1100080" y="1090944"/>
            <a:ext cx="4790000" cy="1350000"/>
          </a:xfrm>
          <a:prstGeom prst="rect">
            <a:avLst/>
          </a:prstGeom>
          <a:noFill/>
        </p:spPr>
        <p:txBody>
          <a:bodyPr wrap="square">
            <a:spAutoFit/>
          </a:bodyPr>
          <a:lstStyle/>
          <a:p>
            <a:r>
              <a:rPr sz="1400" b="1">
                <a:solidFill>
                  <a:srgbClr val="FFFFFF"/>
                </a:solidFill>
              </a:rPr>
              <a:t>Physicalization</a:t>
            </a:r>
          </a:p>
          <a:p>
            <a:r>
              <a:rPr sz="1100">
                <a:solidFill>
                  <a:srgbClr val="C5CED8"/>
                </a:solidFill>
              </a:rPr>
              <a:t>A tactile 3D 'ground print' comparing how an uneven route feels vs. an even one.</a:t>
            </a:r>
          </a:p>
        </p:txBody>
      </p:sp>
      <p:sp>
        <p:nvSpPr>
          <p:cNvPr id="5" name="Oval 4"/>
          <p:cNvSpPr/>
          <p:nvPr/>
        </p:nvSpPr>
        <p:spPr>
          <a:xfrm>
            <a:off x="640080" y="3068389"/>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2</a:t>
            </a:r>
          </a:p>
        </p:txBody>
      </p:sp>
      <p:sp>
        <p:nvSpPr>
          <p:cNvPr id="6" name="TextBox 5"/>
          <p:cNvSpPr txBox="1"/>
          <p:nvPr/>
        </p:nvSpPr>
        <p:spPr>
          <a:xfrm>
            <a:off x="1100080" y="3070723"/>
            <a:ext cx="4790000" cy="1350000"/>
          </a:xfrm>
          <a:prstGeom prst="rect">
            <a:avLst/>
          </a:prstGeom>
          <a:noFill/>
        </p:spPr>
        <p:txBody>
          <a:bodyPr wrap="square">
            <a:spAutoFit/>
          </a:bodyPr>
          <a:lstStyle/>
          <a:p>
            <a:r>
              <a:rPr sz="1400" b="1">
                <a:solidFill>
                  <a:srgbClr val="FFFFFF"/>
                </a:solidFill>
              </a:rPr>
              <a:t>More 4th-class data</a:t>
            </a:r>
          </a:p>
          <a:p>
            <a:r>
              <a:rPr sz="1100">
                <a:solidFill>
                  <a:srgbClr val="C5CED8"/>
                </a:solidFill>
              </a:rPr>
              <a:t>Build each user to ~750–850 steps on modular paved (cobblestone/uneven brick).</a:t>
            </a:r>
          </a:p>
        </p:txBody>
      </p:sp>
      <p:sp>
        <p:nvSpPr>
          <p:cNvPr id="7" name="Oval 6"/>
          <p:cNvSpPr/>
          <p:nvPr/>
        </p:nvSpPr>
        <p:spPr>
          <a:xfrm>
            <a:off x="640080" y="49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3</a:t>
            </a:r>
          </a:p>
        </p:txBody>
      </p:sp>
      <p:sp>
        <p:nvSpPr>
          <p:cNvPr id="8" name="TextBox 7"/>
          <p:cNvSpPr txBox="1"/>
          <p:nvPr/>
        </p:nvSpPr>
        <p:spPr>
          <a:xfrm>
            <a:off x="1100080" y="4860000"/>
            <a:ext cx="4790000" cy="1350000"/>
          </a:xfrm>
          <a:prstGeom prst="rect">
            <a:avLst/>
          </a:prstGeom>
          <a:noFill/>
        </p:spPr>
        <p:txBody>
          <a:bodyPr wrap="square">
            <a:spAutoFit/>
          </a:bodyPr>
          <a:lstStyle/>
          <a:p>
            <a:r>
              <a:rPr sz="1400" b="1">
                <a:solidFill>
                  <a:srgbClr val="FFFFFF"/>
                </a:solidFill>
              </a:rPr>
              <a:t>More data from Samantha</a:t>
            </a:r>
          </a:p>
          <a:p>
            <a:r>
              <a:rPr sz="1100">
                <a:solidFill>
                  <a:srgbClr val="C5CED8"/>
                </a:solidFill>
              </a:rPr>
              <a:t>Grow her step count — friendly step-count competition between walkers encouraged.</a:t>
            </a:r>
          </a:p>
        </p:txBody>
      </p:sp>
      <p:sp>
        <p:nvSpPr>
          <p:cNvPr id="9" name="Oval 8"/>
          <p:cNvSpPr/>
          <p:nvPr/>
        </p:nvSpPr>
        <p:spPr>
          <a:xfrm>
            <a:off x="6300000" y="1166222"/>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4</a:t>
            </a:r>
          </a:p>
        </p:txBody>
      </p:sp>
      <p:sp>
        <p:nvSpPr>
          <p:cNvPr id="10" name="TextBox 9"/>
          <p:cNvSpPr txBox="1"/>
          <p:nvPr/>
        </p:nvSpPr>
        <p:spPr>
          <a:xfrm>
            <a:off x="6760000" y="1168556"/>
            <a:ext cx="4790000" cy="1350000"/>
          </a:xfrm>
          <a:prstGeom prst="rect">
            <a:avLst/>
          </a:prstGeom>
          <a:noFill/>
        </p:spPr>
        <p:txBody>
          <a:bodyPr wrap="square">
            <a:spAutoFit/>
          </a:bodyPr>
          <a:lstStyle/>
          <a:p>
            <a:r>
              <a:rPr sz="1400" b="1">
                <a:solidFill>
                  <a:srgbClr val="FFFFFF"/>
                </a:solidFill>
              </a:rPr>
              <a:t>Freedom Trail proof-of-concept</a:t>
            </a:r>
          </a:p>
          <a:p>
            <a:r>
              <a:rPr sz="1100">
                <a:solidFill>
                  <a:srgbClr val="C5CED8"/>
                </a:solidFill>
              </a:rPr>
              <a:t>Multiple users walk the same route; compare their steps to each other and to GIS.</a:t>
            </a:r>
          </a:p>
        </p:txBody>
      </p:sp>
      <p:sp>
        <p:nvSpPr>
          <p:cNvPr id="11" name="Oval 10"/>
          <p:cNvSpPr/>
          <p:nvPr/>
        </p:nvSpPr>
        <p:spPr>
          <a:xfrm>
            <a:off x="6300000" y="3068389"/>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5</a:t>
            </a:r>
          </a:p>
        </p:txBody>
      </p:sp>
      <p:sp>
        <p:nvSpPr>
          <p:cNvPr id="12" name="TextBox 11"/>
          <p:cNvSpPr txBox="1"/>
          <p:nvPr/>
        </p:nvSpPr>
        <p:spPr>
          <a:xfrm>
            <a:off x="6760000" y="3070723"/>
            <a:ext cx="4790000" cy="1350000"/>
          </a:xfrm>
          <a:prstGeom prst="rect">
            <a:avLst/>
          </a:prstGeom>
          <a:noFill/>
        </p:spPr>
        <p:txBody>
          <a:bodyPr wrap="square">
            <a:spAutoFit/>
          </a:bodyPr>
          <a:lstStyle/>
          <a:p>
            <a:r>
              <a:rPr sz="1400" b="1">
                <a:solidFill>
                  <a:srgbClr val="FFFFFF"/>
                </a:solidFill>
              </a:rPr>
              <a:t>Paper — ACM IMWUT</a:t>
            </a:r>
          </a:p>
          <a:p>
            <a:r>
              <a:rPr sz="1100">
                <a:solidFill>
                  <a:srgbClr val="C5CED8"/>
                </a:solidFill>
              </a:rPr>
              <a:t>Target a submission to IMWUT, deadline November 1.</a:t>
            </a:r>
          </a:p>
        </p:txBody>
      </p:sp>
      <p:sp>
        <p:nvSpPr>
          <p:cNvPr id="13" name="Oval 12"/>
          <p:cNvSpPr/>
          <p:nvPr/>
        </p:nvSpPr>
        <p:spPr>
          <a:xfrm>
            <a:off x="6300000" y="49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6</a:t>
            </a:r>
          </a:p>
        </p:txBody>
      </p:sp>
      <p:sp>
        <p:nvSpPr>
          <p:cNvPr id="14" name="TextBox 13"/>
          <p:cNvSpPr txBox="1"/>
          <p:nvPr/>
        </p:nvSpPr>
        <p:spPr>
          <a:xfrm>
            <a:off x="6760000" y="4860000"/>
            <a:ext cx="4790000" cy="1350000"/>
          </a:xfrm>
          <a:prstGeom prst="rect">
            <a:avLst/>
          </a:prstGeom>
          <a:noFill/>
        </p:spPr>
        <p:txBody>
          <a:bodyPr wrap="square">
            <a:spAutoFit/>
          </a:bodyPr>
          <a:lstStyle/>
          <a:p>
            <a:r>
              <a:rPr sz="1400" b="1">
                <a:solidFill>
                  <a:srgbClr val="FFFFFF"/>
                </a:solidFill>
              </a:rPr>
              <a:t>Walking-type research</a:t>
            </a:r>
          </a:p>
          <a:p>
            <a:r>
              <a:rPr sz="1100">
                <a:solidFill>
                  <a:srgbClr val="C5CED8"/>
                </a:solidFill>
              </a:rPr>
              <a:t>Whether an individual's walking style shapes their pressure data &amp; tendencies across surfaces.</a:t>
            </a:r>
          </a:p>
        </p:txBody>
      </p:sp>
      <p:pic>
        <p:nvPicPr>
          <p:cNvPr id="15" name="Picture 14">
            <a:extLst>
              <a:ext uri="{FF2B5EF4-FFF2-40B4-BE49-F238E27FC236}">
                <a16:creationId xmlns:a16="http://schemas.microsoft.com/office/drawing/2014/main" id="{65B4830B-F1AA-B109-7B9D-610A2D09159A}"/>
              </a:ext>
            </a:extLst>
          </p:cNvPr>
          <p:cNvPicPr>
            <a:picLocks noChangeAspect="1"/>
          </p:cNvPicPr>
          <p:nvPr/>
        </p:nvPicPr>
        <p:blipFill>
          <a:blip r:embed="rId3"/>
          <a:stretch>
            <a:fillRect/>
          </a:stretch>
        </p:blipFill>
        <p:spPr>
          <a:xfrm>
            <a:off x="-705556" y="-1"/>
            <a:ext cx="7366001" cy="4148667"/>
          </a:xfrm>
          <a:prstGeom prst="rect">
            <a:avLst/>
          </a:prstGeom>
        </p:spPr>
      </p:pic>
      <p:pic>
        <p:nvPicPr>
          <p:cNvPr id="16" name="Picture 15">
            <a:extLst>
              <a:ext uri="{FF2B5EF4-FFF2-40B4-BE49-F238E27FC236}">
                <a16:creationId xmlns:a16="http://schemas.microsoft.com/office/drawing/2014/main" id="{636910E3-10DF-E63A-0544-60E175409352}"/>
              </a:ext>
            </a:extLst>
          </p:cNvPr>
          <p:cNvPicPr>
            <a:picLocks noChangeAspect="1"/>
          </p:cNvPicPr>
          <p:nvPr/>
        </p:nvPicPr>
        <p:blipFill>
          <a:blip r:embed="rId4"/>
          <a:srcRect l="20408" t="52963" r="34190" b="29238"/>
          <a:stretch>
            <a:fillRect/>
          </a:stretch>
        </p:blipFill>
        <p:spPr>
          <a:xfrm>
            <a:off x="1762833" y="3620839"/>
            <a:ext cx="2791592" cy="1219345"/>
          </a:xfrm>
          <a:prstGeom prst="rect">
            <a:avLst/>
          </a:prstGeom>
        </p:spPr>
      </p:pic>
      <p:pic>
        <p:nvPicPr>
          <p:cNvPr id="17" name="Picture 16">
            <a:extLst>
              <a:ext uri="{FF2B5EF4-FFF2-40B4-BE49-F238E27FC236}">
                <a16:creationId xmlns:a16="http://schemas.microsoft.com/office/drawing/2014/main" id="{2BE824C2-0E19-9429-4331-01006763814C}"/>
              </a:ext>
            </a:extLst>
          </p:cNvPr>
          <p:cNvPicPr>
            <a:picLocks noChangeAspect="1"/>
          </p:cNvPicPr>
          <p:nvPr/>
        </p:nvPicPr>
        <p:blipFill>
          <a:blip r:embed="rId5"/>
          <a:stretch>
            <a:fillRect/>
          </a:stretch>
        </p:blipFill>
        <p:spPr>
          <a:xfrm>
            <a:off x="2518128" y="5361517"/>
            <a:ext cx="1278468" cy="1271412"/>
          </a:xfrm>
          <a:prstGeom prst="rect">
            <a:avLst/>
          </a:prstGeom>
        </p:spPr>
      </p:pic>
      <p:pic>
        <p:nvPicPr>
          <p:cNvPr id="18" name="Picture 17">
            <a:extLst>
              <a:ext uri="{FF2B5EF4-FFF2-40B4-BE49-F238E27FC236}">
                <a16:creationId xmlns:a16="http://schemas.microsoft.com/office/drawing/2014/main" id="{5B250AC2-566D-A923-0D20-4F1BCE5D7135}"/>
              </a:ext>
            </a:extLst>
          </p:cNvPr>
          <p:cNvPicPr>
            <a:picLocks noChangeAspect="1"/>
          </p:cNvPicPr>
          <p:nvPr/>
        </p:nvPicPr>
        <p:blipFill>
          <a:blip r:embed="rId6"/>
          <a:stretch>
            <a:fillRect/>
          </a:stretch>
        </p:blipFill>
        <p:spPr>
          <a:xfrm>
            <a:off x="7545917" y="1600200"/>
            <a:ext cx="2970388" cy="1272824"/>
          </a:xfrm>
          <a:prstGeom prst="rect">
            <a:avLst/>
          </a:prstGeom>
        </p:spPr>
      </p:pic>
      <p:pic>
        <p:nvPicPr>
          <p:cNvPr id="20" name="Picture 19">
            <a:extLst>
              <a:ext uri="{FF2B5EF4-FFF2-40B4-BE49-F238E27FC236}">
                <a16:creationId xmlns:a16="http://schemas.microsoft.com/office/drawing/2014/main" id="{DD49790D-5F42-3F5B-EC4E-4310EC803A1E}"/>
              </a:ext>
            </a:extLst>
          </p:cNvPr>
          <p:cNvPicPr>
            <a:picLocks noChangeAspect="1"/>
          </p:cNvPicPr>
          <p:nvPr/>
        </p:nvPicPr>
        <p:blipFill>
          <a:blip r:embed="rId7"/>
          <a:stretch>
            <a:fillRect/>
          </a:stretch>
        </p:blipFill>
        <p:spPr>
          <a:xfrm>
            <a:off x="7386638" y="3531130"/>
            <a:ext cx="3542948" cy="1228019"/>
          </a:xfrm>
          <a:prstGeom prst="rect">
            <a:avLst/>
          </a:prstGeom>
        </p:spPr>
      </p:pic>
      <p:pic>
        <p:nvPicPr>
          <p:cNvPr id="21" name="Picture 20">
            <a:extLst>
              <a:ext uri="{FF2B5EF4-FFF2-40B4-BE49-F238E27FC236}">
                <a16:creationId xmlns:a16="http://schemas.microsoft.com/office/drawing/2014/main" id="{EA237FFB-DCC4-C2A6-96F4-18C466610E1B}"/>
              </a:ext>
            </a:extLst>
          </p:cNvPr>
          <p:cNvPicPr>
            <a:picLocks noChangeAspect="1"/>
          </p:cNvPicPr>
          <p:nvPr/>
        </p:nvPicPr>
        <p:blipFill>
          <a:blip r:embed="rId8"/>
          <a:srcRect l="726" t="33906" r="91" b="34343"/>
          <a:stretch>
            <a:fillRect/>
          </a:stretch>
        </p:blipFill>
        <p:spPr>
          <a:xfrm>
            <a:off x="7384520" y="5531085"/>
            <a:ext cx="3567056" cy="1066638"/>
          </a:xfrm>
          <a:prstGeom prst="rect">
            <a:avLst/>
          </a:prstGeom>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ck">
  <a:themeElements>
    <a:clrScheme name="Black">
      <a:dk1>
        <a:srgbClr val="000000"/>
      </a:dk1>
      <a:lt1>
        <a:srgbClr val="FFFFFF"/>
      </a:lt1>
      <a:dk2>
        <a:srgbClr val="53585F"/>
      </a:dk2>
      <a:lt2>
        <a:srgbClr val="DCDEE0"/>
      </a:lt2>
      <a:accent1>
        <a:srgbClr val="0065C1"/>
      </a:accent1>
      <a:accent2>
        <a:srgbClr val="00A6AC"/>
      </a:accent2>
      <a:accent3>
        <a:srgbClr val="308B16"/>
      </a:accent3>
      <a:accent4>
        <a:srgbClr val="BC8027"/>
      </a:accent4>
      <a:accent5>
        <a:srgbClr val="971817"/>
      </a:accent5>
      <a:accent6>
        <a:srgbClr val="5747C1"/>
      </a:accent6>
      <a:hlink>
        <a:srgbClr val="0000FF"/>
      </a:hlink>
      <a:folHlink>
        <a:srgbClr val="FF00FF"/>
      </a:folHlink>
    </a:clrScheme>
    <a:fontScheme name="Black">
      <a:majorFont>
        <a:latin typeface="Helvetica Light"/>
        <a:ea typeface="Helvetica Light"/>
        <a:cs typeface="Helvetica Light"/>
      </a:majorFont>
      <a:minorFont>
        <a:latin typeface="Helvetica Light"/>
        <a:ea typeface="Helvetica Light"/>
        <a:cs typeface="Helvetica Light"/>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23</Slides>
  <Notes>17</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Office Theme</vt:lpstr>
      <vt:lpstr>Black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307</cp:revision>
  <dcterms:created xsi:type="dcterms:W3CDTF">2026-09-01T19:47:03Z</dcterms:created>
  <dcterms:modified xsi:type="dcterms:W3CDTF">2026-09-22T17:22:26Z</dcterms:modified>
</cp:coreProperties>
</file>